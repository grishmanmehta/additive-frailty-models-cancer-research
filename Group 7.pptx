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10287000" cx="18288000"/>
  <p:notesSz cx="6858000" cy="9144000"/>
  <p:embeddedFontLst>
    <p:embeddedFont>
      <p:font typeface="Cambria Math"/>
      <p:regular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CambriaMath-regular.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482f313ee0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482f313ee0_0_2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482f313ee0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3482f313ee0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482f313ee0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3482f313ee0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482f313ee0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g3482f313ee0_0_1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482f313ee0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g3482f313ee0_0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4875d7930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g34875d79300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4875d7930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g34875d79300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4875d7930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g34875d79300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47e4d631a0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g347e4d631a0_0_3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47e4d631a0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g347e4d631a0_0_4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47e4d631a0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g347e4d631a0_0_5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47e4d631a0_0_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g347e4d631a0_0_6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4881830d11_6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g34881830d11_6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491731529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g34917315295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4881830d11_6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g34881830d11_6_1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4881830d11_6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g34881830d11_6_2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482f313e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g3482f313ee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10.png"/><Relationship Id="rId11" Type="http://schemas.openxmlformats.org/officeDocument/2006/relationships/image" Target="../media/image9.png"/><Relationship Id="rId10" Type="http://schemas.openxmlformats.org/officeDocument/2006/relationships/image" Target="../media/image1.png"/><Relationship Id="rId9"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13.png"/><Relationship Id="rId8"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5.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5.png"/><Relationship Id="rId4" Type="http://schemas.openxmlformats.org/officeDocument/2006/relationships/image" Target="../media/image69.png"/><Relationship Id="rId5" Type="http://schemas.openxmlformats.org/officeDocument/2006/relationships/image" Target="../media/image6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7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50.png"/><Relationship Id="rId5" Type="http://schemas.openxmlformats.org/officeDocument/2006/relationships/image" Target="../media/image55.png"/><Relationship Id="rId6"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29.png"/><Relationship Id="rId6" Type="http://schemas.openxmlformats.org/officeDocument/2006/relationships/image" Target="../media/image16.png"/><Relationship Id="rId7"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image" Target="../media/image3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30.png"/><Relationship Id="rId7"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41.png"/><Relationship Id="rId5"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26.png"/><Relationship Id="rId5" Type="http://schemas.openxmlformats.org/officeDocument/2006/relationships/image" Target="../media/image7.png"/><Relationship Id="rId6" Type="http://schemas.openxmlformats.org/officeDocument/2006/relationships/image" Target="../media/image24.png"/><Relationship Id="rId7"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27.png"/><Relationship Id="rId6" Type="http://schemas.openxmlformats.org/officeDocument/2006/relationships/image" Target="../media/image1.png"/><Relationship Id="rId7"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39.png"/><Relationship Id="rId5"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33.png"/><Relationship Id="rId6" Type="http://schemas.openxmlformats.org/officeDocument/2006/relationships/image" Target="../media/image4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6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35.png"/><Relationship Id="rId5" Type="http://schemas.openxmlformats.org/officeDocument/2006/relationships/image" Target="../media/image8.png"/><Relationship Id="rId6" Type="http://schemas.openxmlformats.org/officeDocument/2006/relationships/image" Target="../media/image53.png"/><Relationship Id="rId7" Type="http://schemas.openxmlformats.org/officeDocument/2006/relationships/image" Target="../media/image61.png"/><Relationship Id="rId8" Type="http://schemas.openxmlformats.org/officeDocument/2006/relationships/image" Target="../media/image71.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6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4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68.png"/><Relationship Id="rId5" Type="http://schemas.openxmlformats.org/officeDocument/2006/relationships/image" Target="../media/image7.png"/><Relationship Id="rId6" Type="http://schemas.openxmlformats.org/officeDocument/2006/relationships/image" Target="../media/image2.png"/><Relationship Id="rId7"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6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9.png"/><Relationship Id="rId4" Type="http://schemas.openxmlformats.org/officeDocument/2006/relationships/image" Target="../media/image56.png"/><Relationship Id="rId9" Type="http://schemas.openxmlformats.org/officeDocument/2006/relationships/image" Target="../media/image54.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5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0.png"/><Relationship Id="rId4" Type="http://schemas.openxmlformats.org/officeDocument/2006/relationships/image" Target="../media/image59.png"/><Relationship Id="rId5"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10.png"/><Relationship Id="rId11" Type="http://schemas.openxmlformats.org/officeDocument/2006/relationships/image" Target="../media/image9.png"/><Relationship Id="rId10" Type="http://schemas.openxmlformats.org/officeDocument/2006/relationships/image" Target="../media/image1.png"/><Relationship Id="rId9"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13.png"/><Relationship Id="rId8"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83" name="Shape 83"/>
        <p:cNvGrpSpPr/>
        <p:nvPr/>
      </p:nvGrpSpPr>
      <p:grpSpPr>
        <a:xfrm>
          <a:off x="0" y="0"/>
          <a:ext cx="0" cy="0"/>
          <a:chOff x="0" y="0"/>
          <a:chExt cx="0" cy="0"/>
        </a:xfrm>
      </p:grpSpPr>
      <p:sp>
        <p:nvSpPr>
          <p:cNvPr id="84" name="Google Shape;84;p13"/>
          <p:cNvSpPr/>
          <p:nvPr/>
        </p:nvSpPr>
        <p:spPr>
          <a:xfrm rot="-587529">
            <a:off x="9648103" y="1006302"/>
            <a:ext cx="9739568" cy="10198501"/>
          </a:xfrm>
          <a:custGeom>
            <a:rect b="b" l="l" r="r" t="t"/>
            <a:pathLst>
              <a:path extrusionOk="0" h="10202966" w="9743832">
                <a:moveTo>
                  <a:pt x="0" y="0"/>
                </a:moveTo>
                <a:lnTo>
                  <a:pt x="9743832" y="0"/>
                </a:lnTo>
                <a:lnTo>
                  <a:pt x="9743832" y="10202966"/>
                </a:lnTo>
                <a:lnTo>
                  <a:pt x="0" y="10202966"/>
                </a:lnTo>
                <a:lnTo>
                  <a:pt x="0" y="0"/>
                </a:lnTo>
                <a:close/>
              </a:path>
            </a:pathLst>
          </a:custGeom>
          <a:blipFill rotWithShape="1">
            <a:blip r:embed="rId3">
              <a:alphaModFix/>
            </a:blip>
            <a:stretch>
              <a:fillRect b="0" l="0" r="0" t="0"/>
            </a:stretch>
          </a:blipFill>
          <a:ln>
            <a:noFill/>
          </a:ln>
        </p:spPr>
      </p:sp>
      <p:sp>
        <p:nvSpPr>
          <p:cNvPr id="85" name="Google Shape;85;p13"/>
          <p:cNvSpPr/>
          <p:nvPr/>
        </p:nvSpPr>
        <p:spPr>
          <a:xfrm rot="5752895">
            <a:off x="-1304557" y="736465"/>
            <a:ext cx="9746420" cy="10205676"/>
          </a:xfrm>
          <a:custGeom>
            <a:rect b="b" l="l" r="r" t="t"/>
            <a:pathLst>
              <a:path extrusionOk="0" h="10202966" w="9743832">
                <a:moveTo>
                  <a:pt x="0" y="0"/>
                </a:moveTo>
                <a:lnTo>
                  <a:pt x="9743832" y="0"/>
                </a:lnTo>
                <a:lnTo>
                  <a:pt x="9743832" y="10202966"/>
                </a:lnTo>
                <a:lnTo>
                  <a:pt x="0" y="10202966"/>
                </a:lnTo>
                <a:lnTo>
                  <a:pt x="0" y="0"/>
                </a:lnTo>
                <a:close/>
              </a:path>
            </a:pathLst>
          </a:custGeom>
          <a:blipFill rotWithShape="1">
            <a:blip r:embed="rId3">
              <a:alphaModFix/>
            </a:blip>
            <a:stretch>
              <a:fillRect b="0" l="0" r="0" t="0"/>
            </a:stretch>
          </a:blipFill>
          <a:ln>
            <a:noFill/>
          </a:ln>
        </p:spPr>
      </p:sp>
      <p:sp>
        <p:nvSpPr>
          <p:cNvPr id="86" name="Google Shape;86;p13"/>
          <p:cNvSpPr/>
          <p:nvPr/>
        </p:nvSpPr>
        <p:spPr>
          <a:xfrm flipH="1">
            <a:off x="1844355" y="5705171"/>
            <a:ext cx="14599291" cy="9163657"/>
          </a:xfrm>
          <a:custGeom>
            <a:rect b="b" l="l" r="r" t="t"/>
            <a:pathLst>
              <a:path extrusionOk="0" h="9163657" w="14599291">
                <a:moveTo>
                  <a:pt x="14599290" y="0"/>
                </a:moveTo>
                <a:lnTo>
                  <a:pt x="0" y="0"/>
                </a:lnTo>
                <a:lnTo>
                  <a:pt x="0" y="9163658"/>
                </a:lnTo>
                <a:lnTo>
                  <a:pt x="14599290" y="9163658"/>
                </a:lnTo>
                <a:lnTo>
                  <a:pt x="14599290" y="0"/>
                </a:lnTo>
                <a:close/>
              </a:path>
            </a:pathLst>
          </a:custGeom>
          <a:blipFill rotWithShape="1">
            <a:blip r:embed="rId4">
              <a:alphaModFix/>
            </a:blip>
            <a:stretch>
              <a:fillRect b="0" l="0" r="0" t="0"/>
            </a:stretch>
          </a:blipFill>
          <a:ln>
            <a:noFill/>
          </a:ln>
        </p:spPr>
      </p:sp>
      <p:sp>
        <p:nvSpPr>
          <p:cNvPr id="87" name="Google Shape;87;p13"/>
          <p:cNvSpPr/>
          <p:nvPr/>
        </p:nvSpPr>
        <p:spPr>
          <a:xfrm>
            <a:off x="5514675" y="5705174"/>
            <a:ext cx="3828035" cy="5060314"/>
          </a:xfrm>
          <a:custGeom>
            <a:rect b="b" l="l" r="r" t="t"/>
            <a:pathLst>
              <a:path extrusionOk="0" h="5717869" w="4127261">
                <a:moveTo>
                  <a:pt x="0" y="0"/>
                </a:moveTo>
                <a:lnTo>
                  <a:pt x="4127262" y="0"/>
                </a:lnTo>
                <a:lnTo>
                  <a:pt x="4127262" y="5717869"/>
                </a:lnTo>
                <a:lnTo>
                  <a:pt x="0" y="5717869"/>
                </a:lnTo>
                <a:lnTo>
                  <a:pt x="0" y="0"/>
                </a:lnTo>
                <a:close/>
              </a:path>
            </a:pathLst>
          </a:custGeom>
          <a:blipFill rotWithShape="1">
            <a:blip r:embed="rId5">
              <a:alphaModFix/>
            </a:blip>
            <a:stretch>
              <a:fillRect b="0" l="0" r="0" t="0"/>
            </a:stretch>
          </a:blipFill>
          <a:ln>
            <a:noFill/>
          </a:ln>
        </p:spPr>
      </p:sp>
      <p:sp>
        <p:nvSpPr>
          <p:cNvPr id="88" name="Google Shape;88;p13"/>
          <p:cNvSpPr/>
          <p:nvPr/>
        </p:nvSpPr>
        <p:spPr>
          <a:xfrm>
            <a:off x="9144000" y="5461450"/>
            <a:ext cx="4113933" cy="5290211"/>
          </a:xfrm>
          <a:custGeom>
            <a:rect b="b" l="l" r="r" t="t"/>
            <a:pathLst>
              <a:path extrusionOk="0" h="6187381" w="4364916">
                <a:moveTo>
                  <a:pt x="0" y="0"/>
                </a:moveTo>
                <a:lnTo>
                  <a:pt x="4364916" y="0"/>
                </a:lnTo>
                <a:lnTo>
                  <a:pt x="4364916" y="6187381"/>
                </a:lnTo>
                <a:lnTo>
                  <a:pt x="0" y="6187381"/>
                </a:lnTo>
                <a:lnTo>
                  <a:pt x="0" y="0"/>
                </a:lnTo>
                <a:close/>
              </a:path>
            </a:pathLst>
          </a:custGeom>
          <a:blipFill rotWithShape="1">
            <a:blip r:embed="rId6">
              <a:alphaModFix/>
            </a:blip>
            <a:stretch>
              <a:fillRect b="0" l="0" r="0" t="0"/>
            </a:stretch>
          </a:blipFill>
          <a:ln>
            <a:noFill/>
          </a:ln>
        </p:spPr>
      </p:sp>
      <p:sp>
        <p:nvSpPr>
          <p:cNvPr id="89" name="Google Shape;89;p13"/>
          <p:cNvSpPr/>
          <p:nvPr/>
        </p:nvSpPr>
        <p:spPr>
          <a:xfrm>
            <a:off x="1487407" y="6174334"/>
            <a:ext cx="3531385" cy="3815463"/>
          </a:xfrm>
          <a:custGeom>
            <a:rect b="b" l="l" r="r" t="t"/>
            <a:pathLst>
              <a:path extrusionOk="0" h="3815463" w="3531385">
                <a:moveTo>
                  <a:pt x="0" y="0"/>
                </a:moveTo>
                <a:lnTo>
                  <a:pt x="3531386" y="0"/>
                </a:lnTo>
                <a:lnTo>
                  <a:pt x="3531386" y="3815463"/>
                </a:lnTo>
                <a:lnTo>
                  <a:pt x="0" y="3815463"/>
                </a:lnTo>
                <a:lnTo>
                  <a:pt x="0" y="0"/>
                </a:lnTo>
                <a:close/>
              </a:path>
            </a:pathLst>
          </a:custGeom>
          <a:blipFill rotWithShape="1">
            <a:blip r:embed="rId7">
              <a:alphaModFix/>
            </a:blip>
            <a:stretch>
              <a:fillRect b="0" l="0" r="0" t="0"/>
            </a:stretch>
          </a:blipFill>
          <a:ln>
            <a:noFill/>
          </a:ln>
        </p:spPr>
      </p:sp>
      <p:sp>
        <p:nvSpPr>
          <p:cNvPr id="90" name="Google Shape;90;p13"/>
          <p:cNvSpPr/>
          <p:nvPr/>
        </p:nvSpPr>
        <p:spPr>
          <a:xfrm flipH="1">
            <a:off x="12543402" y="6083768"/>
            <a:ext cx="3531385" cy="3815463"/>
          </a:xfrm>
          <a:custGeom>
            <a:rect b="b" l="l" r="r" t="t"/>
            <a:pathLst>
              <a:path extrusionOk="0" h="3815463" w="3531385">
                <a:moveTo>
                  <a:pt x="3531386" y="0"/>
                </a:moveTo>
                <a:lnTo>
                  <a:pt x="0" y="0"/>
                </a:lnTo>
                <a:lnTo>
                  <a:pt x="0" y="3815463"/>
                </a:lnTo>
                <a:lnTo>
                  <a:pt x="3531386" y="3815463"/>
                </a:lnTo>
                <a:lnTo>
                  <a:pt x="3531386" y="0"/>
                </a:lnTo>
                <a:close/>
              </a:path>
            </a:pathLst>
          </a:custGeom>
          <a:blipFill rotWithShape="1">
            <a:blip r:embed="rId7">
              <a:alphaModFix/>
            </a:blip>
            <a:stretch>
              <a:fillRect b="0" l="0" r="0" t="0"/>
            </a:stretch>
          </a:blipFill>
          <a:ln>
            <a:noFill/>
          </a:ln>
        </p:spPr>
      </p:sp>
      <p:sp>
        <p:nvSpPr>
          <p:cNvPr id="91" name="Google Shape;91;p13"/>
          <p:cNvSpPr/>
          <p:nvPr/>
        </p:nvSpPr>
        <p:spPr>
          <a:xfrm>
            <a:off x="191575" y="2546975"/>
            <a:ext cx="2522328" cy="2617535"/>
          </a:xfrm>
          <a:custGeom>
            <a:rect b="b" l="l" r="r" t="t"/>
            <a:pathLst>
              <a:path extrusionOk="0" h="3807323" w="3778768">
                <a:moveTo>
                  <a:pt x="0" y="0"/>
                </a:moveTo>
                <a:lnTo>
                  <a:pt x="3778768" y="0"/>
                </a:lnTo>
                <a:lnTo>
                  <a:pt x="3778768" y="3807323"/>
                </a:lnTo>
                <a:lnTo>
                  <a:pt x="0" y="3807323"/>
                </a:lnTo>
                <a:lnTo>
                  <a:pt x="0" y="0"/>
                </a:lnTo>
                <a:close/>
              </a:path>
            </a:pathLst>
          </a:custGeom>
          <a:blipFill rotWithShape="1">
            <a:blip r:embed="rId8">
              <a:alphaModFix/>
            </a:blip>
            <a:stretch>
              <a:fillRect b="0" l="0" r="0" t="0"/>
            </a:stretch>
          </a:blipFill>
          <a:ln>
            <a:noFill/>
          </a:ln>
        </p:spPr>
      </p:sp>
      <p:sp>
        <p:nvSpPr>
          <p:cNvPr id="92" name="Google Shape;92;p13"/>
          <p:cNvSpPr/>
          <p:nvPr/>
        </p:nvSpPr>
        <p:spPr>
          <a:xfrm>
            <a:off x="538390" y="606533"/>
            <a:ext cx="1828678" cy="1399770"/>
          </a:xfrm>
          <a:custGeom>
            <a:rect b="b" l="l" r="r" t="t"/>
            <a:pathLst>
              <a:path extrusionOk="0" h="1399770" w="1828678">
                <a:moveTo>
                  <a:pt x="0" y="0"/>
                </a:moveTo>
                <a:lnTo>
                  <a:pt x="1828678" y="0"/>
                </a:lnTo>
                <a:lnTo>
                  <a:pt x="1828678" y="1399770"/>
                </a:lnTo>
                <a:lnTo>
                  <a:pt x="0" y="1399770"/>
                </a:lnTo>
                <a:lnTo>
                  <a:pt x="0" y="0"/>
                </a:lnTo>
                <a:close/>
              </a:path>
            </a:pathLst>
          </a:custGeom>
          <a:blipFill rotWithShape="1">
            <a:blip r:embed="rId9">
              <a:alphaModFix/>
            </a:blip>
            <a:stretch>
              <a:fillRect b="0" l="0" r="0" t="0"/>
            </a:stretch>
          </a:blipFill>
          <a:ln>
            <a:noFill/>
          </a:ln>
        </p:spPr>
      </p:sp>
      <p:sp>
        <p:nvSpPr>
          <p:cNvPr id="93" name="Google Shape;93;p13"/>
          <p:cNvSpPr/>
          <p:nvPr/>
        </p:nvSpPr>
        <p:spPr>
          <a:xfrm>
            <a:off x="15412853" y="-367037"/>
            <a:ext cx="3692894" cy="2316452"/>
          </a:xfrm>
          <a:custGeom>
            <a:rect b="b" l="l" r="r" t="t"/>
            <a:pathLst>
              <a:path extrusionOk="0" h="2316452" w="3692894">
                <a:moveTo>
                  <a:pt x="0" y="0"/>
                </a:moveTo>
                <a:lnTo>
                  <a:pt x="3692894" y="0"/>
                </a:lnTo>
                <a:lnTo>
                  <a:pt x="3692894" y="2316451"/>
                </a:lnTo>
                <a:lnTo>
                  <a:pt x="0" y="2316451"/>
                </a:lnTo>
                <a:lnTo>
                  <a:pt x="0" y="0"/>
                </a:lnTo>
                <a:close/>
              </a:path>
            </a:pathLst>
          </a:custGeom>
          <a:blipFill rotWithShape="1">
            <a:blip r:embed="rId10">
              <a:alphaModFix/>
            </a:blip>
            <a:stretch>
              <a:fillRect b="0" l="0" r="0" t="0"/>
            </a:stretch>
          </a:blipFill>
          <a:ln>
            <a:noFill/>
          </a:ln>
        </p:spPr>
      </p:sp>
      <p:sp>
        <p:nvSpPr>
          <p:cNvPr id="94" name="Google Shape;94;p13"/>
          <p:cNvSpPr/>
          <p:nvPr/>
        </p:nvSpPr>
        <p:spPr>
          <a:xfrm flipH="1" rot="-1011006">
            <a:off x="15391269" y="2225479"/>
            <a:ext cx="2660957" cy="3492904"/>
          </a:xfrm>
          <a:custGeom>
            <a:rect b="b" l="l" r="r" t="t"/>
            <a:pathLst>
              <a:path extrusionOk="0" h="3491322" w="2659752">
                <a:moveTo>
                  <a:pt x="2659753" y="0"/>
                </a:moveTo>
                <a:lnTo>
                  <a:pt x="0" y="0"/>
                </a:lnTo>
                <a:lnTo>
                  <a:pt x="0" y="3491322"/>
                </a:lnTo>
                <a:lnTo>
                  <a:pt x="2659753" y="3491322"/>
                </a:lnTo>
                <a:lnTo>
                  <a:pt x="2659753" y="0"/>
                </a:lnTo>
                <a:close/>
              </a:path>
            </a:pathLst>
          </a:custGeom>
          <a:blipFill rotWithShape="1">
            <a:blip r:embed="rId11">
              <a:alphaModFix/>
            </a:blip>
            <a:stretch>
              <a:fillRect b="0" l="0" r="0" t="0"/>
            </a:stretch>
          </a:blipFill>
          <a:ln>
            <a:noFill/>
          </a:ln>
        </p:spPr>
      </p:sp>
      <p:sp>
        <p:nvSpPr>
          <p:cNvPr id="95" name="Google Shape;95;p13"/>
          <p:cNvSpPr txBox="1"/>
          <p:nvPr/>
        </p:nvSpPr>
        <p:spPr>
          <a:xfrm>
            <a:off x="2630550" y="606525"/>
            <a:ext cx="13026900" cy="20586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lang="en-US" sz="6500">
                <a:solidFill>
                  <a:srgbClr val="3B365F"/>
                </a:solidFill>
                <a:latin typeface="Times New Roman"/>
                <a:ea typeface="Times New Roman"/>
                <a:cs typeface="Times New Roman"/>
                <a:sym typeface="Times New Roman"/>
              </a:rPr>
              <a:t> </a:t>
            </a:r>
            <a:r>
              <a:rPr lang="en-US" sz="5900">
                <a:solidFill>
                  <a:srgbClr val="3B365F"/>
                </a:solidFill>
                <a:latin typeface="Times New Roman"/>
                <a:ea typeface="Times New Roman"/>
                <a:cs typeface="Times New Roman"/>
                <a:sym typeface="Times New Roman"/>
              </a:rPr>
              <a:t>Additive Frailty Models For Recurrent Events In Cancer Research</a:t>
            </a:r>
            <a:endParaRPr sz="800">
              <a:latin typeface="Times New Roman"/>
              <a:ea typeface="Times New Roman"/>
              <a:cs typeface="Times New Roman"/>
              <a:sym typeface="Times New Roman"/>
            </a:endParaRPr>
          </a:p>
        </p:txBody>
      </p:sp>
      <p:sp>
        <p:nvSpPr>
          <p:cNvPr id="96" name="Google Shape;96;p13"/>
          <p:cNvSpPr txBox="1"/>
          <p:nvPr/>
        </p:nvSpPr>
        <p:spPr>
          <a:xfrm>
            <a:off x="6392700" y="4268388"/>
            <a:ext cx="5502600" cy="446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i="1" lang="en-US" sz="2900">
                <a:solidFill>
                  <a:srgbClr val="3B365F"/>
                </a:solidFill>
                <a:latin typeface="Times New Roman"/>
                <a:ea typeface="Times New Roman"/>
                <a:cs typeface="Times New Roman"/>
                <a:sym typeface="Times New Roman"/>
              </a:rPr>
              <a:t>Mentored By: Mangesh Kutekar</a:t>
            </a:r>
            <a:endParaRPr i="1" sz="100">
              <a:latin typeface="Times New Roman"/>
              <a:ea typeface="Times New Roman"/>
              <a:cs typeface="Times New Roman"/>
              <a:sym typeface="Times New Roman"/>
            </a:endParaRPr>
          </a:p>
        </p:txBody>
      </p:sp>
      <p:sp>
        <p:nvSpPr>
          <p:cNvPr id="97" name="Google Shape;97;p13"/>
          <p:cNvSpPr txBox="1"/>
          <p:nvPr/>
        </p:nvSpPr>
        <p:spPr>
          <a:xfrm>
            <a:off x="3370175" y="3104613"/>
            <a:ext cx="2598900" cy="43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i="1" lang="en-US" sz="2800">
                <a:solidFill>
                  <a:srgbClr val="3B365F"/>
                </a:solidFill>
                <a:latin typeface="Times New Roman"/>
                <a:ea typeface="Times New Roman"/>
                <a:cs typeface="Times New Roman"/>
                <a:sym typeface="Times New Roman"/>
              </a:rPr>
              <a:t>Project By:</a:t>
            </a:r>
            <a:endParaRPr i="1" sz="2800">
              <a:solidFill>
                <a:srgbClr val="3B365F"/>
              </a:solidFill>
              <a:latin typeface="Times New Roman"/>
              <a:ea typeface="Times New Roman"/>
              <a:cs typeface="Times New Roman"/>
              <a:sym typeface="Times New Roman"/>
            </a:endParaRPr>
          </a:p>
        </p:txBody>
      </p:sp>
      <p:sp>
        <p:nvSpPr>
          <p:cNvPr id="98" name="Google Shape;98;p13"/>
          <p:cNvSpPr txBox="1"/>
          <p:nvPr/>
        </p:nvSpPr>
        <p:spPr>
          <a:xfrm>
            <a:off x="5379725" y="3104425"/>
            <a:ext cx="9721500" cy="886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i="1" lang="en-US" sz="2400">
                <a:solidFill>
                  <a:srgbClr val="3B365F"/>
                </a:solidFill>
                <a:latin typeface="Times New Roman"/>
                <a:ea typeface="Times New Roman"/>
                <a:cs typeface="Times New Roman"/>
                <a:sym typeface="Times New Roman"/>
              </a:rPr>
              <a:t>Mrunal Ghadigaonkar (A005) Sailee Shedge (A006) Grishma Mehta (A007)</a:t>
            </a:r>
            <a:endParaRPr i="1" sz="2400">
              <a:solidFill>
                <a:srgbClr val="3B365F"/>
              </a:solidFill>
              <a:latin typeface="Times New Roman"/>
              <a:ea typeface="Times New Roman"/>
              <a:cs typeface="Times New Roman"/>
              <a:sym typeface="Times New Roman"/>
            </a:endParaRPr>
          </a:p>
          <a:p>
            <a:pPr indent="0" lvl="0" marL="0" marR="0" rtl="0" algn="ctr">
              <a:lnSpc>
                <a:spcPct val="140000"/>
              </a:lnSpc>
              <a:spcBef>
                <a:spcPts val="0"/>
              </a:spcBef>
              <a:spcAft>
                <a:spcPts val="0"/>
              </a:spcAft>
              <a:buNone/>
            </a:pPr>
            <a:r>
              <a:rPr i="1" lang="en-US" sz="2400">
                <a:solidFill>
                  <a:srgbClr val="3B365F"/>
                </a:solidFill>
                <a:latin typeface="Times New Roman"/>
                <a:ea typeface="Times New Roman"/>
                <a:cs typeface="Times New Roman"/>
                <a:sym typeface="Times New Roman"/>
              </a:rPr>
              <a:t>Alisha Mali (A008) Prachit Phanse (A009)</a:t>
            </a:r>
            <a:endParaRPr i="1" sz="2400">
              <a:solidFill>
                <a:srgbClr val="3B365F"/>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102" name="Shape 102"/>
        <p:cNvGrpSpPr/>
        <p:nvPr/>
      </p:nvGrpSpPr>
      <p:grpSpPr>
        <a:xfrm>
          <a:off x="0" y="0"/>
          <a:ext cx="0" cy="0"/>
          <a:chOff x="0" y="0"/>
          <a:chExt cx="0" cy="0"/>
        </a:xfrm>
      </p:grpSpPr>
      <p:sp>
        <p:nvSpPr>
          <p:cNvPr id="103" name="Google Shape;103;p14"/>
          <p:cNvSpPr txBox="1"/>
          <p:nvPr/>
        </p:nvSpPr>
        <p:spPr>
          <a:xfrm>
            <a:off x="3551800" y="5301739"/>
            <a:ext cx="10723200" cy="130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t/>
            </a:r>
            <a:endParaRPr sz="850">
              <a:solidFill>
                <a:srgbClr val="EEF0FF"/>
              </a:solidFill>
              <a:highlight>
                <a:srgbClr val="101218"/>
              </a:highlight>
              <a:latin typeface="Times New Roman"/>
              <a:ea typeface="Times New Roman"/>
              <a:cs typeface="Times New Roman"/>
              <a:sym typeface="Times New Roman"/>
            </a:endParaRPr>
          </a:p>
        </p:txBody>
      </p:sp>
      <p:sp>
        <p:nvSpPr>
          <p:cNvPr id="104" name="Google Shape;104;p14"/>
          <p:cNvSpPr txBox="1"/>
          <p:nvPr/>
        </p:nvSpPr>
        <p:spPr>
          <a:xfrm>
            <a:off x="3472743" y="5086350"/>
            <a:ext cx="9500100" cy="215400"/>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t/>
            </a:r>
            <a:endParaRPr/>
          </a:p>
        </p:txBody>
      </p:sp>
      <p:pic>
        <p:nvPicPr>
          <p:cNvPr id="105" name="Google Shape;105;p14" title="the-perfect-storm-and-the-trees-fall-on-kfae9p1da7hvi8bz.webp"/>
          <p:cNvPicPr preferRelativeResize="0"/>
          <p:nvPr/>
        </p:nvPicPr>
        <p:blipFill rotWithShape="1">
          <a:blip r:embed="rId3">
            <a:alphaModFix/>
          </a:blip>
          <a:srcRect b="11902" l="0" r="0" t="0"/>
          <a:stretch/>
        </p:blipFill>
        <p:spPr>
          <a:xfrm>
            <a:off x="0" y="-41900"/>
            <a:ext cx="18288000" cy="10370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109" name="Shape 109"/>
        <p:cNvGrpSpPr/>
        <p:nvPr/>
      </p:nvGrpSpPr>
      <p:grpSpPr>
        <a:xfrm>
          <a:off x="0" y="0"/>
          <a:ext cx="0" cy="0"/>
          <a:chOff x="0" y="0"/>
          <a:chExt cx="0" cy="0"/>
        </a:xfrm>
      </p:grpSpPr>
      <p:sp>
        <p:nvSpPr>
          <p:cNvPr id="110" name="Google Shape;110;p15"/>
          <p:cNvSpPr/>
          <p:nvPr/>
        </p:nvSpPr>
        <p:spPr>
          <a:xfrm flipH="1" rot="2548091">
            <a:off x="-5198850" y="3249929"/>
            <a:ext cx="14085520" cy="8841175"/>
          </a:xfrm>
          <a:custGeom>
            <a:rect b="b" l="l" r="r" t="t"/>
            <a:pathLst>
              <a:path extrusionOk="0" h="8841175" w="14085520">
                <a:moveTo>
                  <a:pt x="14085520" y="0"/>
                </a:moveTo>
                <a:lnTo>
                  <a:pt x="0" y="0"/>
                </a:lnTo>
                <a:lnTo>
                  <a:pt x="0" y="8841174"/>
                </a:lnTo>
                <a:lnTo>
                  <a:pt x="14085520" y="8841174"/>
                </a:lnTo>
                <a:lnTo>
                  <a:pt x="14085520" y="0"/>
                </a:lnTo>
                <a:close/>
              </a:path>
            </a:pathLst>
          </a:custGeom>
          <a:blipFill rotWithShape="1">
            <a:blip r:embed="rId3">
              <a:alphaModFix/>
            </a:blip>
            <a:stretch>
              <a:fillRect b="0" l="0" r="0" t="0"/>
            </a:stretch>
          </a:blipFill>
          <a:ln>
            <a:noFill/>
          </a:ln>
        </p:spPr>
      </p:sp>
      <p:sp>
        <p:nvSpPr>
          <p:cNvPr id="111" name="Google Shape;111;p15"/>
          <p:cNvSpPr/>
          <p:nvPr/>
        </p:nvSpPr>
        <p:spPr>
          <a:xfrm flipH="1" rot="10385461">
            <a:off x="11770047" y="-793791"/>
            <a:ext cx="9743832" cy="10202966"/>
          </a:xfrm>
          <a:custGeom>
            <a:rect b="b" l="l" r="r" t="t"/>
            <a:pathLst>
              <a:path extrusionOk="0" h="10202966" w="9743832">
                <a:moveTo>
                  <a:pt x="9743832" y="0"/>
                </a:moveTo>
                <a:lnTo>
                  <a:pt x="0" y="0"/>
                </a:lnTo>
                <a:lnTo>
                  <a:pt x="0" y="10202966"/>
                </a:lnTo>
                <a:lnTo>
                  <a:pt x="9743832" y="10202966"/>
                </a:lnTo>
                <a:lnTo>
                  <a:pt x="9743832" y="0"/>
                </a:lnTo>
                <a:close/>
              </a:path>
            </a:pathLst>
          </a:custGeom>
          <a:blipFill rotWithShape="1">
            <a:blip r:embed="rId4">
              <a:alphaModFix/>
            </a:blip>
            <a:stretch>
              <a:fillRect b="0" l="0" r="0" t="0"/>
            </a:stretch>
          </a:blipFill>
          <a:ln>
            <a:noFill/>
          </a:ln>
        </p:spPr>
      </p:sp>
      <p:sp>
        <p:nvSpPr>
          <p:cNvPr id="112" name="Google Shape;112;p15"/>
          <p:cNvSpPr/>
          <p:nvPr/>
        </p:nvSpPr>
        <p:spPr>
          <a:xfrm flipH="1" rot="-1048943">
            <a:off x="9021970" y="569274"/>
            <a:ext cx="16946326" cy="10636840"/>
          </a:xfrm>
          <a:custGeom>
            <a:rect b="b" l="l" r="r" t="t"/>
            <a:pathLst>
              <a:path extrusionOk="0" h="10651463" w="16969622">
                <a:moveTo>
                  <a:pt x="16969622" y="0"/>
                </a:moveTo>
                <a:lnTo>
                  <a:pt x="0" y="0"/>
                </a:lnTo>
                <a:lnTo>
                  <a:pt x="0" y="10651463"/>
                </a:lnTo>
                <a:lnTo>
                  <a:pt x="16969622" y="10651463"/>
                </a:lnTo>
                <a:lnTo>
                  <a:pt x="16969622" y="0"/>
                </a:lnTo>
                <a:close/>
              </a:path>
            </a:pathLst>
          </a:custGeom>
          <a:blipFill rotWithShape="1">
            <a:blip r:embed="rId3">
              <a:alphaModFix/>
            </a:blip>
            <a:stretch>
              <a:fillRect b="0" l="0" r="0" t="0"/>
            </a:stretch>
          </a:blipFill>
          <a:ln>
            <a:noFill/>
          </a:ln>
        </p:spPr>
      </p:sp>
      <p:sp>
        <p:nvSpPr>
          <p:cNvPr id="113" name="Google Shape;113;p15"/>
          <p:cNvSpPr/>
          <p:nvPr/>
        </p:nvSpPr>
        <p:spPr>
          <a:xfrm flipH="1" rot="-4631281">
            <a:off x="12741800" y="-9582"/>
            <a:ext cx="3109888" cy="3234684"/>
          </a:xfrm>
          <a:custGeom>
            <a:rect b="b" l="l" r="r" t="t"/>
            <a:pathLst>
              <a:path extrusionOk="0" h="3807323" w="3778768">
                <a:moveTo>
                  <a:pt x="3778768" y="0"/>
                </a:moveTo>
                <a:lnTo>
                  <a:pt x="0" y="0"/>
                </a:lnTo>
                <a:lnTo>
                  <a:pt x="0" y="3807323"/>
                </a:lnTo>
                <a:lnTo>
                  <a:pt x="3778768" y="3807323"/>
                </a:lnTo>
                <a:lnTo>
                  <a:pt x="3778768" y="0"/>
                </a:lnTo>
                <a:close/>
              </a:path>
            </a:pathLst>
          </a:custGeom>
          <a:blipFill rotWithShape="1">
            <a:blip r:embed="rId5">
              <a:alphaModFix/>
            </a:blip>
            <a:stretch>
              <a:fillRect b="0" l="0" r="0" t="0"/>
            </a:stretch>
          </a:blipFill>
          <a:ln>
            <a:noFill/>
          </a:ln>
        </p:spPr>
      </p:sp>
      <p:sp>
        <p:nvSpPr>
          <p:cNvPr id="114" name="Google Shape;114;p15"/>
          <p:cNvSpPr/>
          <p:nvPr/>
        </p:nvSpPr>
        <p:spPr>
          <a:xfrm>
            <a:off x="552879" y="8887240"/>
            <a:ext cx="1828678" cy="1399770"/>
          </a:xfrm>
          <a:custGeom>
            <a:rect b="b" l="l" r="r" t="t"/>
            <a:pathLst>
              <a:path extrusionOk="0" h="1399770" w="1828678">
                <a:moveTo>
                  <a:pt x="0" y="0"/>
                </a:moveTo>
                <a:lnTo>
                  <a:pt x="1828677" y="0"/>
                </a:lnTo>
                <a:lnTo>
                  <a:pt x="1828677" y="1399770"/>
                </a:lnTo>
                <a:lnTo>
                  <a:pt x="0" y="1399770"/>
                </a:lnTo>
                <a:lnTo>
                  <a:pt x="0" y="0"/>
                </a:lnTo>
                <a:close/>
              </a:path>
            </a:pathLst>
          </a:custGeom>
          <a:blipFill rotWithShape="1">
            <a:blip r:embed="rId6">
              <a:alphaModFix/>
            </a:blip>
            <a:stretch>
              <a:fillRect b="0" l="0" r="0" t="0"/>
            </a:stretch>
          </a:blipFill>
          <a:ln>
            <a:noFill/>
          </a:ln>
        </p:spPr>
      </p:sp>
      <p:sp>
        <p:nvSpPr>
          <p:cNvPr id="115" name="Google Shape;115;p15"/>
          <p:cNvSpPr txBox="1"/>
          <p:nvPr/>
        </p:nvSpPr>
        <p:spPr>
          <a:xfrm>
            <a:off x="552875" y="529975"/>
            <a:ext cx="3759900" cy="100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6500">
                <a:solidFill>
                  <a:srgbClr val="3B365F"/>
                </a:solidFill>
                <a:latin typeface="Times New Roman"/>
                <a:ea typeface="Times New Roman"/>
                <a:cs typeface="Times New Roman"/>
                <a:sym typeface="Times New Roman"/>
              </a:rPr>
              <a:t> Objective</a:t>
            </a:r>
            <a:endParaRPr>
              <a:latin typeface="Times New Roman"/>
              <a:ea typeface="Times New Roman"/>
              <a:cs typeface="Times New Roman"/>
              <a:sym typeface="Times New Roman"/>
            </a:endParaRPr>
          </a:p>
        </p:txBody>
      </p:sp>
      <p:sp>
        <p:nvSpPr>
          <p:cNvPr id="116" name="Google Shape;116;p15"/>
          <p:cNvSpPr txBox="1"/>
          <p:nvPr/>
        </p:nvSpPr>
        <p:spPr>
          <a:xfrm>
            <a:off x="552875" y="2295875"/>
            <a:ext cx="7746600" cy="6413100"/>
          </a:xfrm>
          <a:prstGeom prst="rect">
            <a:avLst/>
          </a:prstGeom>
          <a:noFill/>
          <a:ln>
            <a:noFill/>
          </a:ln>
        </p:spPr>
        <p:txBody>
          <a:bodyPr anchorCtr="0" anchor="t" bIns="91425" lIns="91425" spcFirstLastPara="1" rIns="91425" wrap="square" tIns="91425">
            <a:spAutoFit/>
          </a:bodyPr>
          <a:lstStyle/>
          <a:p>
            <a:pPr indent="-380936" lvl="0" marL="457200" rtl="0" algn="l">
              <a:lnSpc>
                <a:spcPct val="140016"/>
              </a:lnSpc>
              <a:spcBef>
                <a:spcPts val="0"/>
              </a:spcBef>
              <a:spcAft>
                <a:spcPts val="0"/>
              </a:spcAft>
              <a:buClr>
                <a:srgbClr val="3B365F"/>
              </a:buClr>
              <a:buSzPts val="2399"/>
              <a:buFont typeface="Times New Roman"/>
              <a:buChar char="●"/>
            </a:pPr>
            <a:r>
              <a:rPr lang="en-US" sz="3599">
                <a:solidFill>
                  <a:srgbClr val="3B365F"/>
                </a:solidFill>
                <a:latin typeface="Times New Roman"/>
                <a:ea typeface="Times New Roman"/>
                <a:cs typeface="Times New Roman"/>
                <a:sym typeface="Times New Roman"/>
              </a:rPr>
              <a:t>To develop and validate a statistical model that captures individual susceptibility and recurrence patterns in cancer patients by integrating both observed and unobserved risk factors, enabling improved understanding of cancer recurrence.</a:t>
            </a:r>
            <a:endParaRPr sz="3599">
              <a:solidFill>
                <a:srgbClr val="3B365F"/>
              </a:solidFill>
              <a:latin typeface="Times New Roman"/>
              <a:ea typeface="Times New Roman"/>
              <a:cs typeface="Times New Roman"/>
              <a:sym typeface="Times New Roman"/>
            </a:endParaRPr>
          </a:p>
          <a:p>
            <a:pPr indent="0" lvl="0" marL="0" rtl="0" algn="l">
              <a:lnSpc>
                <a:spcPct val="140016"/>
              </a:lnSpc>
              <a:spcBef>
                <a:spcPts val="0"/>
              </a:spcBef>
              <a:spcAft>
                <a:spcPts val="0"/>
              </a:spcAft>
              <a:buNone/>
            </a:pPr>
            <a:r>
              <a:t/>
            </a:r>
            <a:endParaRPr sz="3099">
              <a:solidFill>
                <a:srgbClr val="3B365F"/>
              </a:solidFill>
              <a:latin typeface="Times New Roman"/>
              <a:ea typeface="Times New Roman"/>
              <a:cs typeface="Times New Roman"/>
              <a:sym typeface="Times New Roman"/>
            </a:endParaRPr>
          </a:p>
          <a:p>
            <a:pPr indent="0" lvl="0" marL="0" rtl="0" algn="l">
              <a:lnSpc>
                <a:spcPct val="140016"/>
              </a:lnSpc>
              <a:spcBef>
                <a:spcPts val="0"/>
              </a:spcBef>
              <a:spcAft>
                <a:spcPts val="0"/>
              </a:spcAft>
              <a:buNone/>
            </a:pPr>
            <a:r>
              <a:t/>
            </a:r>
            <a:endParaRPr sz="850">
              <a:solidFill>
                <a:srgbClr val="EEF0FF"/>
              </a:solidFill>
              <a:highlight>
                <a:srgbClr val="101218"/>
              </a:highlight>
              <a:latin typeface="Times New Roman"/>
              <a:ea typeface="Times New Roman"/>
              <a:cs typeface="Times New Roman"/>
              <a:sym typeface="Times New Roman"/>
            </a:endParaRPr>
          </a:p>
        </p:txBody>
      </p:sp>
      <p:sp>
        <p:nvSpPr>
          <p:cNvPr id="117" name="Google Shape;117;p15"/>
          <p:cNvSpPr txBox="1"/>
          <p:nvPr/>
        </p:nvSpPr>
        <p:spPr>
          <a:xfrm>
            <a:off x="10957950" y="3075225"/>
            <a:ext cx="6726000" cy="11853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lang="en-US" sz="6500">
                <a:solidFill>
                  <a:srgbClr val="3B365F"/>
                </a:solidFill>
                <a:latin typeface="Times New Roman"/>
                <a:ea typeface="Times New Roman"/>
                <a:cs typeface="Times New Roman"/>
                <a:sym typeface="Times New Roman"/>
              </a:rPr>
              <a:t>Research</a:t>
            </a:r>
            <a:r>
              <a:rPr lang="en-US" sz="6500">
                <a:solidFill>
                  <a:srgbClr val="3B365F"/>
                </a:solidFill>
                <a:latin typeface="Times New Roman"/>
                <a:ea typeface="Times New Roman"/>
                <a:cs typeface="Times New Roman"/>
                <a:sym typeface="Times New Roman"/>
              </a:rPr>
              <a:t> Objective</a:t>
            </a:r>
            <a:endParaRPr/>
          </a:p>
        </p:txBody>
      </p:sp>
      <p:sp>
        <p:nvSpPr>
          <p:cNvPr id="118" name="Google Shape;118;p15"/>
          <p:cNvSpPr txBox="1"/>
          <p:nvPr/>
        </p:nvSpPr>
        <p:spPr>
          <a:xfrm>
            <a:off x="11191750" y="4626450"/>
            <a:ext cx="6515100" cy="4958400"/>
          </a:xfrm>
          <a:prstGeom prst="rect">
            <a:avLst/>
          </a:prstGeom>
          <a:noFill/>
          <a:ln>
            <a:noFill/>
          </a:ln>
        </p:spPr>
        <p:txBody>
          <a:bodyPr anchorCtr="0" anchor="t" bIns="91425" lIns="91425" spcFirstLastPara="1" rIns="91425" wrap="square" tIns="91425">
            <a:spAutoFit/>
          </a:bodyPr>
          <a:lstStyle/>
          <a:p>
            <a:pPr indent="-380936" lvl="0" marL="457200" rtl="0" algn="l">
              <a:lnSpc>
                <a:spcPct val="140016"/>
              </a:lnSpc>
              <a:spcBef>
                <a:spcPts val="0"/>
              </a:spcBef>
              <a:spcAft>
                <a:spcPts val="0"/>
              </a:spcAft>
              <a:buClr>
                <a:srgbClr val="3B365F"/>
              </a:buClr>
              <a:buSzPts val="2399"/>
              <a:buFont typeface="Times New Roman"/>
              <a:buChar char="●"/>
            </a:pPr>
            <a:r>
              <a:rPr lang="en-US" sz="3299">
                <a:solidFill>
                  <a:srgbClr val="3B365F"/>
                </a:solidFill>
                <a:latin typeface="Times New Roman"/>
                <a:ea typeface="Times New Roman"/>
                <a:cs typeface="Times New Roman"/>
                <a:sym typeface="Times New Roman"/>
              </a:rPr>
              <a:t>To show Cox PH model is not appropriate.</a:t>
            </a:r>
            <a:endParaRPr sz="3299">
              <a:solidFill>
                <a:srgbClr val="3B365F"/>
              </a:solidFill>
              <a:latin typeface="Times New Roman"/>
              <a:ea typeface="Times New Roman"/>
              <a:cs typeface="Times New Roman"/>
              <a:sym typeface="Times New Roman"/>
            </a:endParaRPr>
          </a:p>
          <a:p>
            <a:pPr indent="-380936" lvl="0" marL="457200" rtl="0" algn="l">
              <a:lnSpc>
                <a:spcPct val="140016"/>
              </a:lnSpc>
              <a:spcBef>
                <a:spcPts val="0"/>
              </a:spcBef>
              <a:spcAft>
                <a:spcPts val="0"/>
              </a:spcAft>
              <a:buClr>
                <a:srgbClr val="3B365F"/>
              </a:buClr>
              <a:buSzPts val="2399"/>
              <a:buFont typeface="Times New Roman"/>
              <a:buChar char="●"/>
            </a:pPr>
            <a:r>
              <a:rPr lang="en-US" sz="3299">
                <a:solidFill>
                  <a:srgbClr val="3B365F"/>
                </a:solidFill>
                <a:latin typeface="Times New Roman"/>
                <a:ea typeface="Times New Roman"/>
                <a:cs typeface="Times New Roman"/>
                <a:sym typeface="Times New Roman"/>
              </a:rPr>
              <a:t>To identify which frailty distribution is appropriate.</a:t>
            </a:r>
            <a:endParaRPr sz="3299">
              <a:solidFill>
                <a:srgbClr val="3B365F"/>
              </a:solidFill>
              <a:latin typeface="Times New Roman"/>
              <a:ea typeface="Times New Roman"/>
              <a:cs typeface="Times New Roman"/>
              <a:sym typeface="Times New Roman"/>
            </a:endParaRPr>
          </a:p>
          <a:p>
            <a:pPr indent="-380936" lvl="0" marL="457200" rtl="0" algn="l">
              <a:lnSpc>
                <a:spcPct val="140016"/>
              </a:lnSpc>
              <a:spcBef>
                <a:spcPts val="0"/>
              </a:spcBef>
              <a:spcAft>
                <a:spcPts val="0"/>
              </a:spcAft>
              <a:buClr>
                <a:srgbClr val="3B365F"/>
              </a:buClr>
              <a:buSzPts val="2399"/>
              <a:buFont typeface="Times New Roman"/>
              <a:buChar char="●"/>
            </a:pPr>
            <a:r>
              <a:rPr lang="en-US" sz="3299">
                <a:solidFill>
                  <a:srgbClr val="3B365F"/>
                </a:solidFill>
                <a:latin typeface="Times New Roman"/>
                <a:ea typeface="Times New Roman"/>
                <a:cs typeface="Times New Roman"/>
                <a:sym typeface="Times New Roman"/>
              </a:rPr>
              <a:t>To i</a:t>
            </a:r>
            <a:r>
              <a:rPr lang="en-US" sz="3299">
                <a:solidFill>
                  <a:srgbClr val="3B365F"/>
                </a:solidFill>
                <a:latin typeface="Times New Roman"/>
                <a:ea typeface="Times New Roman"/>
                <a:cs typeface="Times New Roman"/>
                <a:sym typeface="Times New Roman"/>
              </a:rPr>
              <a:t>dentify the covariates which impact hazard rate.</a:t>
            </a:r>
            <a:endParaRPr sz="3299">
              <a:solidFill>
                <a:srgbClr val="3B365F"/>
              </a:solidFill>
              <a:latin typeface="Times New Roman"/>
              <a:ea typeface="Times New Roman"/>
              <a:cs typeface="Times New Roman"/>
              <a:sym typeface="Times New Roman"/>
            </a:endParaRPr>
          </a:p>
          <a:p>
            <a:pPr indent="-380936" lvl="0" marL="457200" rtl="0" algn="l">
              <a:lnSpc>
                <a:spcPct val="140016"/>
              </a:lnSpc>
              <a:spcBef>
                <a:spcPts val="0"/>
              </a:spcBef>
              <a:spcAft>
                <a:spcPts val="0"/>
              </a:spcAft>
              <a:buClr>
                <a:srgbClr val="3B365F"/>
              </a:buClr>
              <a:buSzPts val="2399"/>
              <a:buFont typeface="Times New Roman"/>
              <a:buChar char="●"/>
            </a:pPr>
            <a:r>
              <a:rPr lang="en-US" sz="3299">
                <a:solidFill>
                  <a:srgbClr val="3B365F"/>
                </a:solidFill>
                <a:latin typeface="Times New Roman"/>
                <a:ea typeface="Times New Roman"/>
                <a:cs typeface="Times New Roman"/>
                <a:sym typeface="Times New Roman"/>
              </a:rPr>
              <a:t>To calculate individual frailty</a:t>
            </a:r>
            <a:endParaRPr sz="3299">
              <a:solidFill>
                <a:srgbClr val="3B365F"/>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122" name="Shape 122"/>
        <p:cNvGrpSpPr/>
        <p:nvPr/>
      </p:nvGrpSpPr>
      <p:grpSpPr>
        <a:xfrm>
          <a:off x="0" y="0"/>
          <a:ext cx="0" cy="0"/>
          <a:chOff x="0" y="0"/>
          <a:chExt cx="0" cy="0"/>
        </a:xfrm>
      </p:grpSpPr>
      <p:sp>
        <p:nvSpPr>
          <p:cNvPr id="123" name="Google Shape;123;p16"/>
          <p:cNvSpPr txBox="1"/>
          <p:nvPr/>
        </p:nvSpPr>
        <p:spPr>
          <a:xfrm>
            <a:off x="3551800" y="5301739"/>
            <a:ext cx="10723200" cy="130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t/>
            </a:r>
            <a:endParaRPr sz="850">
              <a:solidFill>
                <a:srgbClr val="EEF0FF"/>
              </a:solidFill>
              <a:highlight>
                <a:srgbClr val="101218"/>
              </a:highlight>
              <a:latin typeface="Times New Roman"/>
              <a:ea typeface="Times New Roman"/>
              <a:cs typeface="Times New Roman"/>
              <a:sym typeface="Times New Roman"/>
            </a:endParaRPr>
          </a:p>
        </p:txBody>
      </p:sp>
      <p:sp>
        <p:nvSpPr>
          <p:cNvPr id="124" name="Google Shape;124;p16"/>
          <p:cNvSpPr txBox="1"/>
          <p:nvPr/>
        </p:nvSpPr>
        <p:spPr>
          <a:xfrm>
            <a:off x="2855505" y="895350"/>
            <a:ext cx="12576900" cy="215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t/>
            </a:r>
            <a:endParaRPr>
              <a:latin typeface="Times New Roman"/>
              <a:ea typeface="Times New Roman"/>
              <a:cs typeface="Times New Roman"/>
              <a:sym typeface="Times New Roman"/>
            </a:endParaRPr>
          </a:p>
        </p:txBody>
      </p:sp>
      <p:sp>
        <p:nvSpPr>
          <p:cNvPr id="125" name="Google Shape;125;p16"/>
          <p:cNvSpPr txBox="1"/>
          <p:nvPr/>
        </p:nvSpPr>
        <p:spPr>
          <a:xfrm>
            <a:off x="6176800" y="110250"/>
            <a:ext cx="5473200" cy="1000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6500">
                <a:solidFill>
                  <a:srgbClr val="3B365F"/>
                </a:solidFill>
                <a:latin typeface="Times New Roman"/>
                <a:ea typeface="Times New Roman"/>
                <a:cs typeface="Times New Roman"/>
                <a:sym typeface="Times New Roman"/>
              </a:rPr>
              <a:t> Research Paper</a:t>
            </a:r>
            <a:endParaRPr>
              <a:latin typeface="Times New Roman"/>
              <a:ea typeface="Times New Roman"/>
              <a:cs typeface="Times New Roman"/>
              <a:sym typeface="Times New Roman"/>
            </a:endParaRPr>
          </a:p>
        </p:txBody>
      </p:sp>
      <p:pic>
        <p:nvPicPr>
          <p:cNvPr id="126" name="Google Shape;126;p16"/>
          <p:cNvPicPr preferRelativeResize="0"/>
          <p:nvPr/>
        </p:nvPicPr>
        <p:blipFill>
          <a:blip r:embed="rId3">
            <a:alphaModFix/>
          </a:blip>
          <a:stretch>
            <a:fillRect/>
          </a:stretch>
        </p:blipFill>
        <p:spPr>
          <a:xfrm>
            <a:off x="590825" y="1225050"/>
            <a:ext cx="7153034" cy="8871448"/>
          </a:xfrm>
          <a:prstGeom prst="rect">
            <a:avLst/>
          </a:prstGeom>
          <a:noFill/>
          <a:ln>
            <a:noFill/>
          </a:ln>
        </p:spPr>
      </p:pic>
      <p:pic>
        <p:nvPicPr>
          <p:cNvPr id="127" name="Google Shape;127;p16"/>
          <p:cNvPicPr preferRelativeResize="0"/>
          <p:nvPr/>
        </p:nvPicPr>
        <p:blipFill>
          <a:blip r:embed="rId4">
            <a:alphaModFix/>
          </a:blip>
          <a:stretch>
            <a:fillRect/>
          </a:stretch>
        </p:blipFill>
        <p:spPr>
          <a:xfrm>
            <a:off x="9241975" y="1225050"/>
            <a:ext cx="8286577" cy="5698275"/>
          </a:xfrm>
          <a:prstGeom prst="rect">
            <a:avLst/>
          </a:prstGeom>
          <a:noFill/>
          <a:ln>
            <a:noFill/>
          </a:ln>
        </p:spPr>
      </p:pic>
      <p:pic>
        <p:nvPicPr>
          <p:cNvPr id="128" name="Google Shape;128;p16"/>
          <p:cNvPicPr preferRelativeResize="0"/>
          <p:nvPr/>
        </p:nvPicPr>
        <p:blipFill>
          <a:blip r:embed="rId5">
            <a:alphaModFix/>
          </a:blip>
          <a:stretch>
            <a:fillRect/>
          </a:stretch>
        </p:blipFill>
        <p:spPr>
          <a:xfrm>
            <a:off x="9241975" y="6906270"/>
            <a:ext cx="8286577" cy="319023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132" name="Shape 132"/>
        <p:cNvGrpSpPr/>
        <p:nvPr/>
      </p:nvGrpSpPr>
      <p:grpSpPr>
        <a:xfrm>
          <a:off x="0" y="0"/>
          <a:ext cx="0" cy="0"/>
          <a:chOff x="0" y="0"/>
          <a:chExt cx="0" cy="0"/>
        </a:xfrm>
      </p:grpSpPr>
      <p:sp>
        <p:nvSpPr>
          <p:cNvPr id="133" name="Google Shape;133;p17"/>
          <p:cNvSpPr/>
          <p:nvPr/>
        </p:nvSpPr>
        <p:spPr>
          <a:xfrm flipH="1" rot="7310710">
            <a:off x="-4305605" y="-3580848"/>
            <a:ext cx="13348028" cy="7930798"/>
          </a:xfrm>
          <a:custGeom>
            <a:rect b="b" l="l" r="r" t="t"/>
            <a:pathLst>
              <a:path extrusionOk="0" h="8841175" w="14085520">
                <a:moveTo>
                  <a:pt x="14085520" y="0"/>
                </a:moveTo>
                <a:lnTo>
                  <a:pt x="0" y="0"/>
                </a:lnTo>
                <a:lnTo>
                  <a:pt x="0" y="8841174"/>
                </a:lnTo>
                <a:lnTo>
                  <a:pt x="14085520" y="8841174"/>
                </a:lnTo>
                <a:lnTo>
                  <a:pt x="14085520" y="0"/>
                </a:lnTo>
                <a:close/>
              </a:path>
            </a:pathLst>
          </a:custGeom>
          <a:blipFill rotWithShape="1">
            <a:blip r:embed="rId3">
              <a:alphaModFix/>
            </a:blip>
            <a:stretch>
              <a:fillRect b="0" l="0" r="0" t="0"/>
            </a:stretch>
          </a:blipFill>
          <a:ln>
            <a:noFill/>
          </a:ln>
        </p:spPr>
      </p:sp>
      <p:sp>
        <p:nvSpPr>
          <p:cNvPr id="134" name="Google Shape;134;p17"/>
          <p:cNvSpPr/>
          <p:nvPr/>
        </p:nvSpPr>
        <p:spPr>
          <a:xfrm flipH="1" rot="-3592541">
            <a:off x="10092086" y="3734971"/>
            <a:ext cx="13190847" cy="7733944"/>
          </a:xfrm>
          <a:custGeom>
            <a:rect b="b" l="l" r="r" t="t"/>
            <a:pathLst>
              <a:path extrusionOk="0" h="8841175" w="14085520">
                <a:moveTo>
                  <a:pt x="14085520" y="0"/>
                </a:moveTo>
                <a:lnTo>
                  <a:pt x="0" y="0"/>
                </a:lnTo>
                <a:lnTo>
                  <a:pt x="0" y="8841174"/>
                </a:lnTo>
                <a:lnTo>
                  <a:pt x="14085520" y="8841174"/>
                </a:lnTo>
                <a:lnTo>
                  <a:pt x="14085520" y="0"/>
                </a:lnTo>
                <a:close/>
              </a:path>
            </a:pathLst>
          </a:custGeom>
          <a:blipFill rotWithShape="1">
            <a:blip r:embed="rId3">
              <a:alphaModFix/>
            </a:blip>
            <a:stretch>
              <a:fillRect b="0" l="0" r="0" t="0"/>
            </a:stretch>
          </a:blipFill>
          <a:ln>
            <a:noFill/>
          </a:ln>
        </p:spPr>
      </p:sp>
      <p:pic>
        <p:nvPicPr>
          <p:cNvPr id="135" name="Google Shape;135;p17" title="colorectal cancer analysis flowchart - visual selection.png"/>
          <p:cNvPicPr preferRelativeResize="0"/>
          <p:nvPr/>
        </p:nvPicPr>
        <p:blipFill rotWithShape="1">
          <a:blip r:embed="rId4">
            <a:alphaModFix/>
          </a:blip>
          <a:srcRect b="4609" l="0" r="1584" t="10022"/>
          <a:stretch/>
        </p:blipFill>
        <p:spPr>
          <a:xfrm>
            <a:off x="1746050" y="193375"/>
            <a:ext cx="14795899" cy="9900251"/>
          </a:xfrm>
          <a:prstGeom prst="rect">
            <a:avLst/>
          </a:prstGeom>
          <a:noFill/>
          <a:ln>
            <a:noFill/>
          </a:ln>
        </p:spPr>
      </p:pic>
      <p:sp>
        <p:nvSpPr>
          <p:cNvPr id="136" name="Google Shape;136;p17"/>
          <p:cNvSpPr txBox="1"/>
          <p:nvPr/>
        </p:nvSpPr>
        <p:spPr>
          <a:xfrm>
            <a:off x="6731100" y="438450"/>
            <a:ext cx="4825800" cy="1000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6500">
                <a:solidFill>
                  <a:srgbClr val="3B365F"/>
                </a:solidFill>
                <a:latin typeface="Times New Roman"/>
                <a:ea typeface="Times New Roman"/>
                <a:cs typeface="Times New Roman"/>
                <a:sym typeface="Times New Roman"/>
              </a:rPr>
              <a:t> Outline</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140" name="Shape 140"/>
        <p:cNvGrpSpPr/>
        <p:nvPr/>
      </p:nvGrpSpPr>
      <p:grpSpPr>
        <a:xfrm>
          <a:off x="0" y="0"/>
          <a:ext cx="0" cy="0"/>
          <a:chOff x="0" y="0"/>
          <a:chExt cx="0" cy="0"/>
        </a:xfrm>
      </p:grpSpPr>
      <p:sp>
        <p:nvSpPr>
          <p:cNvPr id="141" name="Google Shape;141;p18"/>
          <p:cNvSpPr txBox="1"/>
          <p:nvPr/>
        </p:nvSpPr>
        <p:spPr>
          <a:xfrm>
            <a:off x="6557400" y="378075"/>
            <a:ext cx="5173200" cy="846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5500">
                <a:solidFill>
                  <a:srgbClr val="3B365F"/>
                </a:solidFill>
                <a:latin typeface="Times New Roman"/>
                <a:ea typeface="Times New Roman"/>
                <a:cs typeface="Times New Roman"/>
                <a:sym typeface="Times New Roman"/>
              </a:rPr>
              <a:t>Dataset</a:t>
            </a:r>
            <a:endParaRPr>
              <a:latin typeface="Times New Roman"/>
              <a:ea typeface="Times New Roman"/>
              <a:cs typeface="Times New Roman"/>
              <a:sym typeface="Times New Roman"/>
            </a:endParaRPr>
          </a:p>
        </p:txBody>
      </p:sp>
      <p:pic>
        <p:nvPicPr>
          <p:cNvPr id="142" name="Google Shape;142;p18"/>
          <p:cNvPicPr preferRelativeResize="0"/>
          <p:nvPr/>
        </p:nvPicPr>
        <p:blipFill>
          <a:blip r:embed="rId3">
            <a:alphaModFix/>
          </a:blip>
          <a:stretch>
            <a:fillRect/>
          </a:stretch>
        </p:blipFill>
        <p:spPr>
          <a:xfrm>
            <a:off x="294288" y="1787628"/>
            <a:ext cx="12107774" cy="6711737"/>
          </a:xfrm>
          <a:prstGeom prst="rect">
            <a:avLst/>
          </a:prstGeom>
          <a:noFill/>
          <a:ln cap="flat" cmpd="sng" w="28575">
            <a:solidFill>
              <a:schemeClr val="dk2"/>
            </a:solidFill>
            <a:prstDash val="solid"/>
            <a:round/>
            <a:headEnd len="sm" w="sm" type="none"/>
            <a:tailEnd len="sm" w="sm" type="none"/>
          </a:ln>
        </p:spPr>
      </p:pic>
      <p:sp>
        <p:nvSpPr>
          <p:cNvPr id="143" name="Google Shape;143;p18"/>
          <p:cNvSpPr txBox="1"/>
          <p:nvPr/>
        </p:nvSpPr>
        <p:spPr>
          <a:xfrm>
            <a:off x="12599525" y="1557850"/>
            <a:ext cx="5600100" cy="7755900"/>
          </a:xfrm>
          <a:prstGeom prst="rect">
            <a:avLst/>
          </a:prstGeom>
          <a:noFill/>
          <a:ln>
            <a:noFill/>
          </a:ln>
        </p:spPr>
        <p:txBody>
          <a:bodyPr anchorCtr="0" anchor="t" bIns="91425" lIns="91425" spcFirstLastPara="1" rIns="91425" wrap="square" tIns="91425">
            <a:spAutoFit/>
          </a:bodyPr>
          <a:lstStyle/>
          <a:p>
            <a:pPr indent="-380936" lvl="0" marL="457200" rtl="0" algn="l">
              <a:lnSpc>
                <a:spcPct val="140016"/>
              </a:lnSpc>
              <a:spcBef>
                <a:spcPts val="0"/>
              </a:spcBef>
              <a:spcAft>
                <a:spcPts val="0"/>
              </a:spcAft>
              <a:buClr>
                <a:srgbClr val="3B365F"/>
              </a:buClr>
              <a:buSzPts val="2399"/>
              <a:buFont typeface="Times New Roman"/>
              <a:buChar char="●"/>
            </a:pPr>
            <a:r>
              <a:rPr lang="en-US" sz="2999">
                <a:solidFill>
                  <a:srgbClr val="3B365F"/>
                </a:solidFill>
                <a:latin typeface="Times New Roman"/>
                <a:ea typeface="Times New Roman"/>
                <a:cs typeface="Times New Roman"/>
                <a:sym typeface="Times New Roman"/>
              </a:rPr>
              <a:t>ENUM-Serial number of event</a:t>
            </a:r>
            <a:endParaRPr sz="2999">
              <a:solidFill>
                <a:srgbClr val="3B365F"/>
              </a:solidFill>
              <a:latin typeface="Times New Roman"/>
              <a:ea typeface="Times New Roman"/>
              <a:cs typeface="Times New Roman"/>
              <a:sym typeface="Times New Roman"/>
            </a:endParaRPr>
          </a:p>
          <a:p>
            <a:pPr indent="-380936" lvl="0" marL="457200" rtl="0" algn="l">
              <a:lnSpc>
                <a:spcPct val="140016"/>
              </a:lnSpc>
              <a:spcBef>
                <a:spcPts val="0"/>
              </a:spcBef>
              <a:spcAft>
                <a:spcPts val="0"/>
              </a:spcAft>
              <a:buClr>
                <a:srgbClr val="3B365F"/>
              </a:buClr>
              <a:buSzPts val="2399"/>
              <a:buFont typeface="Times New Roman"/>
              <a:buChar char="●"/>
            </a:pPr>
            <a:r>
              <a:rPr lang="en-US" sz="2999">
                <a:solidFill>
                  <a:srgbClr val="3B365F"/>
                </a:solidFill>
                <a:latin typeface="Times New Roman"/>
                <a:ea typeface="Times New Roman"/>
                <a:cs typeface="Times New Roman"/>
                <a:sym typeface="Times New Roman"/>
              </a:rPr>
              <a:t>T.START-Beginning of study</a:t>
            </a:r>
            <a:endParaRPr sz="2999">
              <a:solidFill>
                <a:srgbClr val="3B365F"/>
              </a:solidFill>
              <a:latin typeface="Times New Roman"/>
              <a:ea typeface="Times New Roman"/>
              <a:cs typeface="Times New Roman"/>
              <a:sym typeface="Times New Roman"/>
            </a:endParaRPr>
          </a:p>
          <a:p>
            <a:pPr indent="-380936" lvl="0" marL="457200" rtl="0" algn="l">
              <a:lnSpc>
                <a:spcPct val="140016"/>
              </a:lnSpc>
              <a:spcBef>
                <a:spcPts val="0"/>
              </a:spcBef>
              <a:spcAft>
                <a:spcPts val="0"/>
              </a:spcAft>
              <a:buClr>
                <a:srgbClr val="3B365F"/>
              </a:buClr>
              <a:buSzPts val="2399"/>
              <a:buFont typeface="Times New Roman"/>
              <a:buChar char="●"/>
            </a:pPr>
            <a:r>
              <a:rPr lang="en-US" sz="2999">
                <a:solidFill>
                  <a:srgbClr val="3B365F"/>
                </a:solidFill>
                <a:latin typeface="Times New Roman"/>
                <a:ea typeface="Times New Roman"/>
                <a:cs typeface="Times New Roman"/>
                <a:sym typeface="Times New Roman"/>
              </a:rPr>
              <a:t>T.STOP-End of study (after event)</a:t>
            </a:r>
            <a:endParaRPr sz="2999">
              <a:solidFill>
                <a:srgbClr val="3B365F"/>
              </a:solidFill>
              <a:latin typeface="Times New Roman"/>
              <a:ea typeface="Times New Roman"/>
              <a:cs typeface="Times New Roman"/>
              <a:sym typeface="Times New Roman"/>
            </a:endParaRPr>
          </a:p>
          <a:p>
            <a:pPr indent="-380936" lvl="0" marL="457200" rtl="0" algn="l">
              <a:lnSpc>
                <a:spcPct val="140016"/>
              </a:lnSpc>
              <a:spcBef>
                <a:spcPts val="0"/>
              </a:spcBef>
              <a:spcAft>
                <a:spcPts val="0"/>
              </a:spcAft>
              <a:buClr>
                <a:srgbClr val="3B365F"/>
              </a:buClr>
              <a:buSzPts val="2399"/>
              <a:buFont typeface="Times New Roman"/>
              <a:buChar char="●"/>
            </a:pPr>
            <a:r>
              <a:rPr lang="en-US" sz="2999">
                <a:solidFill>
                  <a:srgbClr val="3B365F"/>
                </a:solidFill>
                <a:latin typeface="Times New Roman"/>
                <a:ea typeface="Times New Roman"/>
                <a:cs typeface="Times New Roman"/>
                <a:sym typeface="Times New Roman"/>
              </a:rPr>
              <a:t>TIME-Time taken for event</a:t>
            </a:r>
            <a:r>
              <a:rPr lang="en-US" sz="2999">
                <a:solidFill>
                  <a:srgbClr val="3B365F"/>
                </a:solidFill>
                <a:latin typeface="Times New Roman"/>
                <a:ea typeface="Times New Roman"/>
                <a:cs typeface="Times New Roman"/>
                <a:sym typeface="Times New Roman"/>
              </a:rPr>
              <a:t> </a:t>
            </a:r>
            <a:r>
              <a:rPr lang="en-US" sz="2999">
                <a:solidFill>
                  <a:srgbClr val="3B365F"/>
                </a:solidFill>
                <a:latin typeface="Times New Roman"/>
                <a:ea typeface="Times New Roman"/>
                <a:cs typeface="Times New Roman"/>
                <a:sym typeface="Times New Roman"/>
              </a:rPr>
              <a:t>occurrence</a:t>
            </a:r>
            <a:endParaRPr sz="2999">
              <a:solidFill>
                <a:srgbClr val="3B365F"/>
              </a:solidFill>
              <a:latin typeface="Times New Roman"/>
              <a:ea typeface="Times New Roman"/>
              <a:cs typeface="Times New Roman"/>
              <a:sym typeface="Times New Roman"/>
            </a:endParaRPr>
          </a:p>
          <a:p>
            <a:pPr indent="-380936" lvl="0" marL="457200" rtl="0" algn="l">
              <a:lnSpc>
                <a:spcPct val="140016"/>
              </a:lnSpc>
              <a:spcBef>
                <a:spcPts val="0"/>
              </a:spcBef>
              <a:spcAft>
                <a:spcPts val="0"/>
              </a:spcAft>
              <a:buClr>
                <a:srgbClr val="3B365F"/>
              </a:buClr>
              <a:buSzPts val="2399"/>
              <a:buFont typeface="Times New Roman"/>
              <a:buChar char="●"/>
            </a:pPr>
            <a:r>
              <a:rPr lang="en-US" sz="2999">
                <a:solidFill>
                  <a:srgbClr val="3B365F"/>
                </a:solidFill>
                <a:latin typeface="Times New Roman"/>
                <a:ea typeface="Times New Roman"/>
                <a:cs typeface="Times New Roman"/>
                <a:sym typeface="Times New Roman"/>
              </a:rPr>
              <a:t>EVENT-Indicator for event</a:t>
            </a:r>
            <a:endParaRPr sz="2999">
              <a:solidFill>
                <a:srgbClr val="3B365F"/>
              </a:solidFill>
              <a:latin typeface="Times New Roman"/>
              <a:ea typeface="Times New Roman"/>
              <a:cs typeface="Times New Roman"/>
              <a:sym typeface="Times New Roman"/>
            </a:endParaRPr>
          </a:p>
          <a:p>
            <a:pPr indent="-380936" lvl="0" marL="457200" rtl="0" algn="l">
              <a:lnSpc>
                <a:spcPct val="140016"/>
              </a:lnSpc>
              <a:spcBef>
                <a:spcPts val="0"/>
              </a:spcBef>
              <a:spcAft>
                <a:spcPts val="0"/>
              </a:spcAft>
              <a:buClr>
                <a:srgbClr val="3B365F"/>
              </a:buClr>
              <a:buSzPts val="2399"/>
              <a:buFont typeface="Times New Roman"/>
              <a:buChar char="●"/>
            </a:pPr>
            <a:r>
              <a:rPr lang="en-US" sz="2999">
                <a:solidFill>
                  <a:srgbClr val="3B365F"/>
                </a:solidFill>
                <a:latin typeface="Times New Roman"/>
                <a:ea typeface="Times New Roman"/>
                <a:cs typeface="Times New Roman"/>
                <a:sym typeface="Times New Roman"/>
              </a:rPr>
              <a:t>CHEMO-Chemotherapy status</a:t>
            </a:r>
            <a:endParaRPr sz="2999">
              <a:solidFill>
                <a:srgbClr val="3B365F"/>
              </a:solidFill>
              <a:latin typeface="Times New Roman"/>
              <a:ea typeface="Times New Roman"/>
              <a:cs typeface="Times New Roman"/>
              <a:sym typeface="Times New Roman"/>
            </a:endParaRPr>
          </a:p>
          <a:p>
            <a:pPr indent="-380936" lvl="0" marL="457200" rtl="0" algn="l">
              <a:lnSpc>
                <a:spcPct val="140016"/>
              </a:lnSpc>
              <a:spcBef>
                <a:spcPts val="0"/>
              </a:spcBef>
              <a:spcAft>
                <a:spcPts val="0"/>
              </a:spcAft>
              <a:buClr>
                <a:srgbClr val="3B365F"/>
              </a:buClr>
              <a:buSzPts val="2399"/>
              <a:buFont typeface="Times New Roman"/>
              <a:buChar char="●"/>
            </a:pPr>
            <a:r>
              <a:rPr lang="en-US" sz="2999">
                <a:solidFill>
                  <a:srgbClr val="3B365F"/>
                </a:solidFill>
                <a:latin typeface="Times New Roman"/>
                <a:ea typeface="Times New Roman"/>
                <a:cs typeface="Times New Roman"/>
                <a:sym typeface="Times New Roman"/>
              </a:rPr>
              <a:t>SEX-Gender of patient</a:t>
            </a:r>
            <a:endParaRPr sz="2999">
              <a:solidFill>
                <a:srgbClr val="3B365F"/>
              </a:solidFill>
              <a:latin typeface="Times New Roman"/>
              <a:ea typeface="Times New Roman"/>
              <a:cs typeface="Times New Roman"/>
              <a:sym typeface="Times New Roman"/>
            </a:endParaRPr>
          </a:p>
          <a:p>
            <a:pPr indent="-380936" lvl="0" marL="457200" rtl="0" algn="l">
              <a:lnSpc>
                <a:spcPct val="140016"/>
              </a:lnSpc>
              <a:spcBef>
                <a:spcPts val="0"/>
              </a:spcBef>
              <a:spcAft>
                <a:spcPts val="0"/>
              </a:spcAft>
              <a:buClr>
                <a:srgbClr val="3B365F"/>
              </a:buClr>
              <a:buSzPts val="2399"/>
              <a:buFont typeface="Times New Roman"/>
              <a:buChar char="●"/>
            </a:pPr>
            <a:r>
              <a:rPr lang="en-US" sz="2999">
                <a:solidFill>
                  <a:srgbClr val="3B365F"/>
                </a:solidFill>
                <a:latin typeface="Times New Roman"/>
                <a:ea typeface="Times New Roman"/>
                <a:cs typeface="Times New Roman"/>
                <a:sym typeface="Times New Roman"/>
              </a:rPr>
              <a:t>Dukes-Cancer stage</a:t>
            </a:r>
            <a:endParaRPr sz="2999">
              <a:solidFill>
                <a:srgbClr val="3B365F"/>
              </a:solidFill>
              <a:latin typeface="Times New Roman"/>
              <a:ea typeface="Times New Roman"/>
              <a:cs typeface="Times New Roman"/>
              <a:sym typeface="Times New Roman"/>
            </a:endParaRPr>
          </a:p>
          <a:p>
            <a:pPr indent="-380936" lvl="0" marL="457200" rtl="0" algn="l">
              <a:lnSpc>
                <a:spcPct val="140016"/>
              </a:lnSpc>
              <a:spcBef>
                <a:spcPts val="0"/>
              </a:spcBef>
              <a:spcAft>
                <a:spcPts val="0"/>
              </a:spcAft>
              <a:buClr>
                <a:srgbClr val="3B365F"/>
              </a:buClr>
              <a:buSzPts val="2399"/>
              <a:buFont typeface="Times New Roman"/>
              <a:buChar char="●"/>
            </a:pPr>
            <a:r>
              <a:rPr lang="en-US" sz="2999">
                <a:solidFill>
                  <a:srgbClr val="3B365F"/>
                </a:solidFill>
                <a:latin typeface="Times New Roman"/>
                <a:ea typeface="Times New Roman"/>
                <a:cs typeface="Times New Roman"/>
                <a:sym typeface="Times New Roman"/>
              </a:rPr>
              <a:t>Charlson-Cancer grade</a:t>
            </a:r>
            <a:endParaRPr sz="2999">
              <a:solidFill>
                <a:srgbClr val="3B365F"/>
              </a:solidFill>
              <a:latin typeface="Times New Roman"/>
              <a:ea typeface="Times New Roman"/>
              <a:cs typeface="Times New Roman"/>
              <a:sym typeface="Times New Roman"/>
            </a:endParaRPr>
          </a:p>
          <a:p>
            <a:pPr indent="-380936" lvl="0" marL="457200" rtl="0" algn="l">
              <a:lnSpc>
                <a:spcPct val="140016"/>
              </a:lnSpc>
              <a:spcBef>
                <a:spcPts val="0"/>
              </a:spcBef>
              <a:spcAft>
                <a:spcPts val="0"/>
              </a:spcAft>
              <a:buClr>
                <a:srgbClr val="3B365F"/>
              </a:buClr>
              <a:buSzPts val="2399"/>
              <a:buFont typeface="Times New Roman"/>
              <a:buChar char="●"/>
            </a:pPr>
            <a:r>
              <a:rPr lang="en-US" sz="2999">
                <a:solidFill>
                  <a:srgbClr val="3B365F"/>
                </a:solidFill>
                <a:latin typeface="Times New Roman"/>
                <a:ea typeface="Times New Roman"/>
                <a:cs typeface="Times New Roman"/>
                <a:sym typeface="Times New Roman"/>
              </a:rPr>
              <a:t>Death-Indicator for death</a:t>
            </a:r>
            <a:endParaRPr sz="2999">
              <a:solidFill>
                <a:srgbClr val="3B365F"/>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147" name="Shape 147"/>
        <p:cNvGrpSpPr/>
        <p:nvPr/>
      </p:nvGrpSpPr>
      <p:grpSpPr>
        <a:xfrm>
          <a:off x="0" y="0"/>
          <a:ext cx="0" cy="0"/>
          <a:chOff x="0" y="0"/>
          <a:chExt cx="0" cy="0"/>
        </a:xfrm>
      </p:grpSpPr>
      <p:sp>
        <p:nvSpPr>
          <p:cNvPr id="148" name="Google Shape;148;p19"/>
          <p:cNvSpPr/>
          <p:nvPr/>
        </p:nvSpPr>
        <p:spPr>
          <a:xfrm flipH="1" rot="257349">
            <a:off x="-1988257" y="8087072"/>
            <a:ext cx="8055479" cy="3867153"/>
          </a:xfrm>
          <a:custGeom>
            <a:rect b="b" l="l" r="r" t="t"/>
            <a:pathLst>
              <a:path extrusionOk="0" h="10084176" w="16065837">
                <a:moveTo>
                  <a:pt x="16065837" y="0"/>
                </a:moveTo>
                <a:lnTo>
                  <a:pt x="0" y="0"/>
                </a:lnTo>
                <a:lnTo>
                  <a:pt x="0" y="10084176"/>
                </a:lnTo>
                <a:lnTo>
                  <a:pt x="16065837" y="10084176"/>
                </a:lnTo>
                <a:lnTo>
                  <a:pt x="16065837" y="0"/>
                </a:lnTo>
                <a:close/>
              </a:path>
            </a:pathLst>
          </a:custGeom>
          <a:blipFill rotWithShape="1">
            <a:blip r:embed="rId3">
              <a:alphaModFix/>
            </a:blip>
            <a:stretch>
              <a:fillRect b="0" l="0" r="0" t="0"/>
            </a:stretch>
          </a:blipFill>
          <a:ln>
            <a:noFill/>
          </a:ln>
        </p:spPr>
      </p:sp>
      <p:sp>
        <p:nvSpPr>
          <p:cNvPr id="149" name="Google Shape;149;p19"/>
          <p:cNvSpPr txBox="1"/>
          <p:nvPr/>
        </p:nvSpPr>
        <p:spPr>
          <a:xfrm>
            <a:off x="3551800" y="5301739"/>
            <a:ext cx="10723200" cy="130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t/>
            </a:r>
            <a:endParaRPr sz="850">
              <a:solidFill>
                <a:srgbClr val="EEF0FF"/>
              </a:solidFill>
              <a:highlight>
                <a:srgbClr val="101218"/>
              </a:highlight>
              <a:latin typeface="Times New Roman"/>
              <a:ea typeface="Times New Roman"/>
              <a:cs typeface="Times New Roman"/>
              <a:sym typeface="Times New Roman"/>
            </a:endParaRPr>
          </a:p>
        </p:txBody>
      </p:sp>
      <p:sp>
        <p:nvSpPr>
          <p:cNvPr id="150" name="Google Shape;150;p19"/>
          <p:cNvSpPr txBox="1"/>
          <p:nvPr/>
        </p:nvSpPr>
        <p:spPr>
          <a:xfrm>
            <a:off x="3472743" y="5086350"/>
            <a:ext cx="9500100" cy="215400"/>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t/>
            </a:r>
            <a:endParaRPr/>
          </a:p>
        </p:txBody>
      </p:sp>
      <p:sp>
        <p:nvSpPr>
          <p:cNvPr id="151" name="Google Shape;151;p19"/>
          <p:cNvSpPr txBox="1"/>
          <p:nvPr/>
        </p:nvSpPr>
        <p:spPr>
          <a:xfrm>
            <a:off x="2855505" y="895350"/>
            <a:ext cx="12576900" cy="215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t/>
            </a:r>
            <a:endParaRPr>
              <a:latin typeface="Times New Roman"/>
              <a:ea typeface="Times New Roman"/>
              <a:cs typeface="Times New Roman"/>
              <a:sym typeface="Times New Roman"/>
            </a:endParaRPr>
          </a:p>
        </p:txBody>
      </p:sp>
      <p:sp>
        <p:nvSpPr>
          <p:cNvPr id="152" name="Google Shape;152;p19"/>
          <p:cNvSpPr txBox="1"/>
          <p:nvPr/>
        </p:nvSpPr>
        <p:spPr>
          <a:xfrm>
            <a:off x="9580000" y="653975"/>
            <a:ext cx="7653300" cy="88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pic>
        <p:nvPicPr>
          <p:cNvPr id="153" name="Google Shape;153;p19"/>
          <p:cNvPicPr preferRelativeResize="0"/>
          <p:nvPr/>
        </p:nvPicPr>
        <p:blipFill rotWithShape="1">
          <a:blip r:embed="rId4">
            <a:alphaModFix/>
          </a:blip>
          <a:srcRect b="0" l="1611" r="1329" t="0"/>
          <a:stretch/>
        </p:blipFill>
        <p:spPr>
          <a:xfrm>
            <a:off x="833125" y="1591250"/>
            <a:ext cx="6132249" cy="6563026"/>
          </a:xfrm>
          <a:prstGeom prst="rect">
            <a:avLst/>
          </a:prstGeom>
          <a:noFill/>
          <a:ln cap="flat" cmpd="sng" w="28575">
            <a:solidFill>
              <a:schemeClr val="dk1"/>
            </a:solidFill>
            <a:prstDash val="solid"/>
            <a:round/>
            <a:headEnd len="sm" w="sm" type="none"/>
            <a:tailEnd len="sm" w="sm" type="none"/>
          </a:ln>
        </p:spPr>
      </p:pic>
      <p:pic>
        <p:nvPicPr>
          <p:cNvPr id="154" name="Google Shape;154;p19"/>
          <p:cNvPicPr preferRelativeResize="0"/>
          <p:nvPr/>
        </p:nvPicPr>
        <p:blipFill rotWithShape="1">
          <a:blip r:embed="rId5">
            <a:alphaModFix/>
          </a:blip>
          <a:srcRect b="0" l="0" r="3400" t="0"/>
          <a:stretch/>
        </p:blipFill>
        <p:spPr>
          <a:xfrm>
            <a:off x="11424125" y="1595400"/>
            <a:ext cx="6132249" cy="6594418"/>
          </a:xfrm>
          <a:prstGeom prst="rect">
            <a:avLst/>
          </a:prstGeom>
          <a:noFill/>
          <a:ln cap="flat" cmpd="sng" w="28575">
            <a:solidFill>
              <a:srgbClr val="000000"/>
            </a:solidFill>
            <a:prstDash val="solid"/>
            <a:round/>
            <a:headEnd len="sm" w="sm" type="none"/>
            <a:tailEnd len="sm" w="sm" type="none"/>
          </a:ln>
        </p:spPr>
      </p:pic>
      <p:sp>
        <p:nvSpPr>
          <p:cNvPr id="155" name="Google Shape;155;p19"/>
          <p:cNvSpPr txBox="1"/>
          <p:nvPr/>
        </p:nvSpPr>
        <p:spPr>
          <a:xfrm>
            <a:off x="2462650" y="502800"/>
            <a:ext cx="13362600" cy="1000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6500">
                <a:solidFill>
                  <a:srgbClr val="3B365F"/>
                </a:solidFill>
                <a:latin typeface="Times New Roman"/>
                <a:ea typeface="Times New Roman"/>
                <a:cs typeface="Times New Roman"/>
                <a:sym typeface="Times New Roman"/>
              </a:rPr>
              <a:t> </a:t>
            </a:r>
            <a:r>
              <a:rPr lang="en-US" sz="6000">
                <a:solidFill>
                  <a:srgbClr val="3B365F"/>
                </a:solidFill>
                <a:latin typeface="Times New Roman"/>
                <a:ea typeface="Times New Roman"/>
                <a:cs typeface="Times New Roman"/>
                <a:sym typeface="Times New Roman"/>
              </a:rPr>
              <a:t>Hazard Function</a:t>
            </a:r>
            <a:endParaRPr sz="900">
              <a:latin typeface="Times New Roman"/>
              <a:ea typeface="Times New Roman"/>
              <a:cs typeface="Times New Roman"/>
              <a:sym typeface="Times New Roman"/>
            </a:endParaRPr>
          </a:p>
        </p:txBody>
      </p:sp>
      <p:pic>
        <p:nvPicPr>
          <p:cNvPr id="156" name="Google Shape;156;p19" title="Screenshot 2025-04-05 at 6.01.49 PM.png"/>
          <p:cNvPicPr preferRelativeResize="0"/>
          <p:nvPr/>
        </p:nvPicPr>
        <p:blipFill>
          <a:blip r:embed="rId6">
            <a:alphaModFix/>
          </a:blip>
          <a:stretch>
            <a:fillRect/>
          </a:stretch>
        </p:blipFill>
        <p:spPr>
          <a:xfrm>
            <a:off x="6027076" y="8634812"/>
            <a:ext cx="6233850" cy="1111313"/>
          </a:xfrm>
          <a:prstGeom prst="rect">
            <a:avLst/>
          </a:prstGeom>
          <a:noFill/>
          <a:ln cap="flat" cmpd="sng" w="9525">
            <a:solidFill>
              <a:schemeClr val="dk1"/>
            </a:solidFill>
            <a:prstDash val="solid"/>
            <a:round/>
            <a:headEnd len="sm" w="sm" type="none"/>
            <a:tailEnd len="sm" w="sm" type="none"/>
          </a:ln>
        </p:spPr>
      </p:pic>
      <p:sp>
        <p:nvSpPr>
          <p:cNvPr id="157" name="Google Shape;157;p19"/>
          <p:cNvSpPr txBox="1"/>
          <p:nvPr/>
        </p:nvSpPr>
        <p:spPr>
          <a:xfrm>
            <a:off x="7124650" y="3710400"/>
            <a:ext cx="4038600" cy="2866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4900">
                <a:solidFill>
                  <a:srgbClr val="3B365F"/>
                </a:solidFill>
                <a:latin typeface="Times New Roman"/>
                <a:ea typeface="Times New Roman"/>
                <a:cs typeface="Times New Roman"/>
                <a:sym typeface="Times New Roman"/>
              </a:rPr>
              <a:t>Instantaneous risk of event occurrence</a:t>
            </a:r>
            <a:endParaRPr sz="100">
              <a:latin typeface="Times New Roman"/>
              <a:ea typeface="Times New Roman"/>
              <a:cs typeface="Times New Roman"/>
              <a:sym typeface="Times New Roman"/>
            </a:endParaRPr>
          </a:p>
        </p:txBody>
      </p:sp>
      <p:sp>
        <p:nvSpPr>
          <p:cNvPr id="158" name="Google Shape;158;p19"/>
          <p:cNvSpPr/>
          <p:nvPr/>
        </p:nvSpPr>
        <p:spPr>
          <a:xfrm flipH="1" rot="-904847">
            <a:off x="13569949" y="8908962"/>
            <a:ext cx="6946733" cy="3248236"/>
          </a:xfrm>
          <a:custGeom>
            <a:rect b="b" l="l" r="r" t="t"/>
            <a:pathLst>
              <a:path extrusionOk="0" h="10084176" w="16065837">
                <a:moveTo>
                  <a:pt x="16065837" y="0"/>
                </a:moveTo>
                <a:lnTo>
                  <a:pt x="0" y="0"/>
                </a:lnTo>
                <a:lnTo>
                  <a:pt x="0" y="10084176"/>
                </a:lnTo>
                <a:lnTo>
                  <a:pt x="16065837" y="10084176"/>
                </a:lnTo>
                <a:lnTo>
                  <a:pt x="16065837" y="0"/>
                </a:lnTo>
                <a:close/>
              </a:path>
            </a:pathLst>
          </a:custGeom>
          <a:blipFill rotWithShape="1">
            <a:blip r:embed="rId3">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3"/>
                                        </p:tgtEl>
                                        <p:attrNameLst>
                                          <p:attrName>style.visibility</p:attrName>
                                        </p:attrNameLst>
                                      </p:cBhvr>
                                      <p:to>
                                        <p:strVal val="visible"/>
                                      </p:to>
                                    </p:set>
                                    <p:anim calcmode="lin" valueType="num">
                                      <p:cBhvr additive="base">
                                        <p:cTn dur="1000"/>
                                        <p:tgtEl>
                                          <p:spTgt spid="15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1000"/>
                                        <p:tgtEl>
                                          <p:spTgt spid="15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162" name="Shape 162"/>
        <p:cNvGrpSpPr/>
        <p:nvPr/>
      </p:nvGrpSpPr>
      <p:grpSpPr>
        <a:xfrm>
          <a:off x="0" y="0"/>
          <a:ext cx="0" cy="0"/>
          <a:chOff x="0" y="0"/>
          <a:chExt cx="0" cy="0"/>
        </a:xfrm>
      </p:grpSpPr>
      <p:sp>
        <p:nvSpPr>
          <p:cNvPr id="163" name="Google Shape;163;p20"/>
          <p:cNvSpPr/>
          <p:nvPr/>
        </p:nvSpPr>
        <p:spPr>
          <a:xfrm rot="-587575">
            <a:off x="11502990" y="1119059"/>
            <a:ext cx="9022717" cy="9162702"/>
          </a:xfrm>
          <a:custGeom>
            <a:rect b="b" l="l" r="r" t="t"/>
            <a:pathLst>
              <a:path extrusionOk="0" h="10202966" w="9743832">
                <a:moveTo>
                  <a:pt x="0" y="0"/>
                </a:moveTo>
                <a:lnTo>
                  <a:pt x="9743832" y="0"/>
                </a:lnTo>
                <a:lnTo>
                  <a:pt x="9743832" y="10202965"/>
                </a:lnTo>
                <a:lnTo>
                  <a:pt x="0" y="10202965"/>
                </a:lnTo>
                <a:lnTo>
                  <a:pt x="0" y="0"/>
                </a:lnTo>
                <a:close/>
              </a:path>
            </a:pathLst>
          </a:custGeom>
          <a:blipFill rotWithShape="1">
            <a:blip r:embed="rId3">
              <a:alphaModFix/>
            </a:blip>
            <a:stretch>
              <a:fillRect b="0" l="0" r="0" t="0"/>
            </a:stretch>
          </a:blipFill>
          <a:ln>
            <a:noFill/>
          </a:ln>
        </p:spPr>
      </p:sp>
      <p:sp>
        <p:nvSpPr>
          <p:cNvPr id="164" name="Google Shape;164;p20"/>
          <p:cNvSpPr/>
          <p:nvPr/>
        </p:nvSpPr>
        <p:spPr>
          <a:xfrm flipH="1" rot="2290977">
            <a:off x="-2081369" y="-146376"/>
            <a:ext cx="9142115" cy="9445393"/>
          </a:xfrm>
          <a:custGeom>
            <a:rect b="b" l="l" r="r" t="t"/>
            <a:pathLst>
              <a:path extrusionOk="0" h="10202966" w="9743832">
                <a:moveTo>
                  <a:pt x="9743833" y="0"/>
                </a:moveTo>
                <a:lnTo>
                  <a:pt x="0" y="0"/>
                </a:lnTo>
                <a:lnTo>
                  <a:pt x="0" y="10202965"/>
                </a:lnTo>
                <a:lnTo>
                  <a:pt x="9743833" y="10202965"/>
                </a:lnTo>
                <a:lnTo>
                  <a:pt x="9743833" y="0"/>
                </a:lnTo>
                <a:close/>
              </a:path>
            </a:pathLst>
          </a:custGeom>
          <a:blipFill rotWithShape="1">
            <a:blip r:embed="rId3">
              <a:alphaModFix/>
            </a:blip>
            <a:stretch>
              <a:fillRect b="0" l="0" r="0" t="0"/>
            </a:stretch>
          </a:blipFill>
          <a:ln>
            <a:noFill/>
          </a:ln>
        </p:spPr>
      </p:sp>
      <p:sp>
        <p:nvSpPr>
          <p:cNvPr id="165" name="Google Shape;165;p20"/>
          <p:cNvSpPr/>
          <p:nvPr/>
        </p:nvSpPr>
        <p:spPr>
          <a:xfrm flipH="1" rot="-439219">
            <a:off x="2935753" y="2793461"/>
            <a:ext cx="12403348" cy="7785312"/>
          </a:xfrm>
          <a:custGeom>
            <a:rect b="b" l="l" r="r" t="t"/>
            <a:pathLst>
              <a:path extrusionOk="0" h="7780208" w="12395216">
                <a:moveTo>
                  <a:pt x="12395216" y="0"/>
                </a:moveTo>
                <a:lnTo>
                  <a:pt x="0" y="0"/>
                </a:lnTo>
                <a:lnTo>
                  <a:pt x="0" y="7780208"/>
                </a:lnTo>
                <a:lnTo>
                  <a:pt x="12395216" y="7780208"/>
                </a:lnTo>
                <a:lnTo>
                  <a:pt x="12395216" y="0"/>
                </a:lnTo>
                <a:close/>
              </a:path>
            </a:pathLst>
          </a:custGeom>
          <a:blipFill rotWithShape="1">
            <a:blip r:embed="rId4">
              <a:alphaModFix/>
            </a:blip>
            <a:stretch>
              <a:fillRect b="0" l="0" r="0" t="0"/>
            </a:stretch>
          </a:blipFill>
          <a:ln>
            <a:noFill/>
          </a:ln>
        </p:spPr>
      </p:sp>
      <p:sp>
        <p:nvSpPr>
          <p:cNvPr id="166" name="Google Shape;166;p20"/>
          <p:cNvSpPr/>
          <p:nvPr/>
        </p:nvSpPr>
        <p:spPr>
          <a:xfrm flipH="1">
            <a:off x="13732019" y="4207014"/>
            <a:ext cx="4113256" cy="6538413"/>
          </a:xfrm>
          <a:custGeom>
            <a:rect b="b" l="l" r="r" t="t"/>
            <a:pathLst>
              <a:path extrusionOk="0" h="6538413" w="4113256">
                <a:moveTo>
                  <a:pt x="4113256" y="0"/>
                </a:moveTo>
                <a:lnTo>
                  <a:pt x="0" y="0"/>
                </a:lnTo>
                <a:lnTo>
                  <a:pt x="0" y="6538413"/>
                </a:lnTo>
                <a:lnTo>
                  <a:pt x="4113256" y="6538413"/>
                </a:lnTo>
                <a:lnTo>
                  <a:pt x="4113256" y="0"/>
                </a:lnTo>
                <a:close/>
              </a:path>
            </a:pathLst>
          </a:custGeom>
          <a:blipFill rotWithShape="1">
            <a:blip r:embed="rId5">
              <a:alphaModFix/>
            </a:blip>
            <a:stretch>
              <a:fillRect b="0" l="0" r="0" t="0"/>
            </a:stretch>
          </a:blipFill>
          <a:ln>
            <a:noFill/>
          </a:ln>
        </p:spPr>
      </p:sp>
      <p:sp>
        <p:nvSpPr>
          <p:cNvPr id="167" name="Google Shape;167;p20"/>
          <p:cNvSpPr/>
          <p:nvPr/>
        </p:nvSpPr>
        <p:spPr>
          <a:xfrm>
            <a:off x="820399" y="2005164"/>
            <a:ext cx="3357908" cy="8281836"/>
          </a:xfrm>
          <a:custGeom>
            <a:rect b="b" l="l" r="r" t="t"/>
            <a:pathLst>
              <a:path extrusionOk="0" h="8281836" w="3357908">
                <a:moveTo>
                  <a:pt x="0" y="0"/>
                </a:moveTo>
                <a:lnTo>
                  <a:pt x="3357908" y="0"/>
                </a:lnTo>
                <a:lnTo>
                  <a:pt x="3357908" y="8281836"/>
                </a:lnTo>
                <a:lnTo>
                  <a:pt x="0" y="8281836"/>
                </a:lnTo>
                <a:lnTo>
                  <a:pt x="0" y="0"/>
                </a:lnTo>
                <a:close/>
              </a:path>
            </a:pathLst>
          </a:custGeom>
          <a:blipFill rotWithShape="1">
            <a:blip r:embed="rId6">
              <a:alphaModFix/>
            </a:blip>
            <a:stretch>
              <a:fillRect b="0" l="0" r="0" t="0"/>
            </a:stretch>
          </a:blipFill>
          <a:ln>
            <a:noFill/>
          </a:ln>
        </p:spPr>
      </p:sp>
      <p:sp>
        <p:nvSpPr>
          <p:cNvPr id="168" name="Google Shape;168;p20"/>
          <p:cNvSpPr/>
          <p:nvPr/>
        </p:nvSpPr>
        <p:spPr>
          <a:xfrm flipH="1">
            <a:off x="14908788" y="2448585"/>
            <a:ext cx="2936487" cy="1841978"/>
          </a:xfrm>
          <a:custGeom>
            <a:rect b="b" l="l" r="r" t="t"/>
            <a:pathLst>
              <a:path extrusionOk="0" h="1841978" w="2936487">
                <a:moveTo>
                  <a:pt x="2936487" y="0"/>
                </a:moveTo>
                <a:lnTo>
                  <a:pt x="0" y="0"/>
                </a:lnTo>
                <a:lnTo>
                  <a:pt x="0" y="1841979"/>
                </a:lnTo>
                <a:lnTo>
                  <a:pt x="2936487" y="1841979"/>
                </a:lnTo>
                <a:lnTo>
                  <a:pt x="2936487" y="0"/>
                </a:lnTo>
                <a:close/>
              </a:path>
            </a:pathLst>
          </a:custGeom>
          <a:blipFill rotWithShape="1">
            <a:blip r:embed="rId7">
              <a:alphaModFix/>
            </a:blip>
            <a:stretch>
              <a:fillRect b="0" l="0" r="0" t="0"/>
            </a:stretch>
          </a:blipFill>
          <a:ln>
            <a:noFill/>
          </a:ln>
        </p:spPr>
      </p:sp>
      <p:sp>
        <p:nvSpPr>
          <p:cNvPr id="169" name="Google Shape;169;p20"/>
          <p:cNvSpPr txBox="1"/>
          <p:nvPr/>
        </p:nvSpPr>
        <p:spPr>
          <a:xfrm>
            <a:off x="3527705" y="748350"/>
            <a:ext cx="11232600" cy="1000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6500">
                <a:solidFill>
                  <a:srgbClr val="3B365F"/>
                </a:solidFill>
                <a:latin typeface="Times New Roman"/>
                <a:ea typeface="Times New Roman"/>
                <a:cs typeface="Times New Roman"/>
                <a:sym typeface="Times New Roman"/>
              </a:rPr>
              <a:t>Cox Proportional Hazard Model</a:t>
            </a:r>
            <a:endParaRPr>
              <a:latin typeface="Times New Roman"/>
              <a:ea typeface="Times New Roman"/>
              <a:cs typeface="Times New Roman"/>
              <a:sym typeface="Times New Roman"/>
            </a:endParaRPr>
          </a:p>
        </p:txBody>
      </p:sp>
      <p:sp>
        <p:nvSpPr>
          <p:cNvPr id="170" name="Google Shape;170;p20"/>
          <p:cNvSpPr txBox="1"/>
          <p:nvPr/>
        </p:nvSpPr>
        <p:spPr>
          <a:xfrm>
            <a:off x="3869875" y="4457700"/>
            <a:ext cx="9927900" cy="5337000"/>
          </a:xfrm>
          <a:prstGeom prst="rect">
            <a:avLst/>
          </a:prstGeom>
          <a:noFill/>
          <a:ln>
            <a:noFill/>
          </a:ln>
        </p:spPr>
        <p:txBody>
          <a:bodyPr anchorCtr="0" anchor="t" bIns="91425" lIns="91425" spcFirstLastPara="1" rIns="91425" wrap="square" tIns="91425">
            <a:spAutoFit/>
          </a:bodyPr>
          <a:lstStyle/>
          <a:p>
            <a:pPr indent="-380936" lvl="0" marL="457200" rtl="0" algn="l">
              <a:lnSpc>
                <a:spcPct val="140016"/>
              </a:lnSpc>
              <a:spcBef>
                <a:spcPts val="0"/>
              </a:spcBef>
              <a:spcAft>
                <a:spcPts val="0"/>
              </a:spcAft>
              <a:buClr>
                <a:srgbClr val="3B365F"/>
              </a:buClr>
              <a:buSzPts val="2399"/>
              <a:buFont typeface="Times New Roman"/>
              <a:buChar char="●"/>
            </a:pPr>
            <a:r>
              <a:rPr lang="en-US" sz="3099">
                <a:solidFill>
                  <a:srgbClr val="3B365F"/>
                </a:solidFill>
                <a:latin typeface="Times New Roman"/>
                <a:ea typeface="Times New Roman"/>
                <a:cs typeface="Times New Roman"/>
                <a:sym typeface="Times New Roman"/>
              </a:rPr>
              <a:t>Semi parametric.</a:t>
            </a:r>
            <a:endParaRPr sz="3099">
              <a:solidFill>
                <a:srgbClr val="3B365F"/>
              </a:solidFill>
              <a:latin typeface="Times New Roman"/>
              <a:ea typeface="Times New Roman"/>
              <a:cs typeface="Times New Roman"/>
              <a:sym typeface="Times New Roman"/>
            </a:endParaRPr>
          </a:p>
          <a:p>
            <a:pPr indent="-380936" lvl="0" marL="457200" rtl="0" algn="l">
              <a:lnSpc>
                <a:spcPct val="140016"/>
              </a:lnSpc>
              <a:spcBef>
                <a:spcPts val="0"/>
              </a:spcBef>
              <a:spcAft>
                <a:spcPts val="0"/>
              </a:spcAft>
              <a:buClr>
                <a:srgbClr val="3B365F"/>
              </a:buClr>
              <a:buSzPts val="2399"/>
              <a:buFont typeface="Times New Roman"/>
              <a:buChar char="●"/>
            </a:pPr>
            <a:r>
              <a:rPr lang="en-US" sz="3099">
                <a:solidFill>
                  <a:srgbClr val="3B365F"/>
                </a:solidFill>
                <a:latin typeface="Times New Roman"/>
                <a:ea typeface="Times New Roman"/>
                <a:cs typeface="Times New Roman"/>
                <a:sym typeface="Times New Roman"/>
              </a:rPr>
              <a:t>Used to model the hazard function h(t) given covariates h₀(t) is the baseline hazard.</a:t>
            </a:r>
            <a:endParaRPr sz="3099">
              <a:solidFill>
                <a:srgbClr val="3B365F"/>
              </a:solidFill>
              <a:latin typeface="Times New Roman"/>
              <a:ea typeface="Times New Roman"/>
              <a:cs typeface="Times New Roman"/>
              <a:sym typeface="Times New Roman"/>
            </a:endParaRPr>
          </a:p>
          <a:p>
            <a:pPr indent="-380936" lvl="0" marL="457200" rtl="0" algn="l">
              <a:lnSpc>
                <a:spcPct val="140016"/>
              </a:lnSpc>
              <a:spcBef>
                <a:spcPts val="0"/>
              </a:spcBef>
              <a:spcAft>
                <a:spcPts val="0"/>
              </a:spcAft>
              <a:buClr>
                <a:srgbClr val="3B365F"/>
              </a:buClr>
              <a:buSzPts val="2399"/>
              <a:buFont typeface="Times New Roman"/>
              <a:buChar char="●"/>
            </a:pPr>
            <a:r>
              <a:rPr lang="en-US" sz="3099">
                <a:solidFill>
                  <a:srgbClr val="3B365F"/>
                </a:solidFill>
                <a:latin typeface="Times New Roman"/>
                <a:ea typeface="Times New Roman"/>
                <a:cs typeface="Times New Roman"/>
                <a:sym typeface="Times New Roman"/>
              </a:rPr>
              <a:t>exp(ꞵ₀+β₁X₁+</a:t>
            </a:r>
            <a:r>
              <a:rPr lang="en-US" sz="3099">
                <a:solidFill>
                  <a:srgbClr val="3B365F"/>
                </a:solidFill>
                <a:latin typeface="Times New Roman"/>
                <a:ea typeface="Times New Roman"/>
                <a:cs typeface="Times New Roman"/>
                <a:sym typeface="Times New Roman"/>
              </a:rPr>
              <a:t>β₂X₂+β₃X₃+β₄X₄</a:t>
            </a:r>
            <a:r>
              <a:rPr lang="en-US" sz="3099">
                <a:solidFill>
                  <a:srgbClr val="3B365F"/>
                </a:solidFill>
                <a:latin typeface="Times New Roman"/>
                <a:ea typeface="Times New Roman"/>
                <a:cs typeface="Times New Roman"/>
                <a:sym typeface="Times New Roman"/>
              </a:rPr>
              <a:t>) is the covariate term.</a:t>
            </a:r>
            <a:endParaRPr sz="3099">
              <a:solidFill>
                <a:srgbClr val="3B365F"/>
              </a:solidFill>
              <a:latin typeface="Times New Roman"/>
              <a:ea typeface="Times New Roman"/>
              <a:cs typeface="Times New Roman"/>
              <a:sym typeface="Times New Roman"/>
            </a:endParaRPr>
          </a:p>
          <a:p>
            <a:pPr indent="-380936" lvl="0" marL="457200" rtl="0" algn="l">
              <a:lnSpc>
                <a:spcPct val="140016"/>
              </a:lnSpc>
              <a:spcBef>
                <a:spcPts val="0"/>
              </a:spcBef>
              <a:spcAft>
                <a:spcPts val="0"/>
              </a:spcAft>
              <a:buClr>
                <a:srgbClr val="3B365F"/>
              </a:buClr>
              <a:buSzPts val="2399"/>
              <a:buFont typeface="Times New Roman"/>
              <a:buChar char="●"/>
            </a:pPr>
            <a:r>
              <a:rPr lang="en-US" sz="3099">
                <a:solidFill>
                  <a:srgbClr val="3B365F"/>
                </a:solidFill>
                <a:latin typeface="Times New Roman"/>
                <a:ea typeface="Times New Roman"/>
                <a:cs typeface="Times New Roman"/>
                <a:sym typeface="Times New Roman"/>
              </a:rPr>
              <a:t>The Cox PH estimate of hazard function is:</a:t>
            </a:r>
            <a:endParaRPr sz="3099">
              <a:solidFill>
                <a:srgbClr val="3B365F"/>
              </a:solidFill>
              <a:latin typeface="Times New Roman"/>
              <a:ea typeface="Times New Roman"/>
              <a:cs typeface="Times New Roman"/>
              <a:sym typeface="Times New Roman"/>
            </a:endParaRPr>
          </a:p>
          <a:p>
            <a:pPr indent="0" lvl="0" marL="0" rtl="0" algn="ctr">
              <a:lnSpc>
                <a:spcPct val="140016"/>
              </a:lnSpc>
              <a:spcBef>
                <a:spcPts val="0"/>
              </a:spcBef>
              <a:spcAft>
                <a:spcPts val="0"/>
              </a:spcAft>
              <a:buNone/>
            </a:pPr>
            <a:r>
              <a:rPr lang="en-US" sz="3099">
                <a:solidFill>
                  <a:srgbClr val="3B365F"/>
                </a:solidFill>
                <a:latin typeface="Times New Roman"/>
                <a:ea typeface="Times New Roman"/>
                <a:cs typeface="Times New Roman"/>
                <a:sym typeface="Times New Roman"/>
              </a:rPr>
              <a:t>h(t)=</a:t>
            </a:r>
            <a:r>
              <a:rPr lang="en-US" sz="3099">
                <a:solidFill>
                  <a:srgbClr val="3B365F"/>
                </a:solidFill>
                <a:latin typeface="Times New Roman"/>
                <a:ea typeface="Times New Roman"/>
                <a:cs typeface="Times New Roman"/>
                <a:sym typeface="Times New Roman"/>
              </a:rPr>
              <a:t>h₀(t)exp(ꞵ₀+β₁X₁+β₂X₂+β₃X₃+β₄X₄)</a:t>
            </a:r>
            <a:endParaRPr sz="3099">
              <a:solidFill>
                <a:srgbClr val="3B365F"/>
              </a:solidFill>
              <a:latin typeface="Times New Roman"/>
              <a:ea typeface="Times New Roman"/>
              <a:cs typeface="Times New Roman"/>
              <a:sym typeface="Times New Roman"/>
            </a:endParaRPr>
          </a:p>
          <a:p>
            <a:pPr indent="0" lvl="0" marL="0" rtl="0" algn="l">
              <a:lnSpc>
                <a:spcPct val="140016"/>
              </a:lnSpc>
              <a:spcBef>
                <a:spcPts val="0"/>
              </a:spcBef>
              <a:spcAft>
                <a:spcPts val="0"/>
              </a:spcAft>
              <a:buNone/>
            </a:pPr>
            <a:r>
              <a:t/>
            </a:r>
            <a:endParaRPr sz="3099">
              <a:solidFill>
                <a:srgbClr val="3B365F"/>
              </a:solidFill>
              <a:latin typeface="Times New Roman"/>
              <a:ea typeface="Times New Roman"/>
              <a:cs typeface="Times New Roman"/>
              <a:sym typeface="Times New Roman"/>
            </a:endParaRPr>
          </a:p>
          <a:p>
            <a:pPr indent="0" lvl="0" marL="0" rtl="0" algn="l">
              <a:lnSpc>
                <a:spcPct val="140016"/>
              </a:lnSpc>
              <a:spcBef>
                <a:spcPts val="0"/>
              </a:spcBef>
              <a:spcAft>
                <a:spcPts val="0"/>
              </a:spcAft>
              <a:buNone/>
            </a:pPr>
            <a:r>
              <a:t/>
            </a:r>
            <a:endParaRPr sz="3099">
              <a:solidFill>
                <a:srgbClr val="3B365F"/>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174" name="Shape 174"/>
        <p:cNvGrpSpPr/>
        <p:nvPr/>
      </p:nvGrpSpPr>
      <p:grpSpPr>
        <a:xfrm>
          <a:off x="0" y="0"/>
          <a:ext cx="0" cy="0"/>
          <a:chOff x="0" y="0"/>
          <a:chExt cx="0" cy="0"/>
        </a:xfrm>
      </p:grpSpPr>
      <p:sp>
        <p:nvSpPr>
          <p:cNvPr id="175" name="Google Shape;175;p21"/>
          <p:cNvSpPr/>
          <p:nvPr/>
        </p:nvSpPr>
        <p:spPr>
          <a:xfrm rot="3548969">
            <a:off x="-3470623" y="3598563"/>
            <a:ext cx="8455547" cy="9392030"/>
          </a:xfrm>
          <a:custGeom>
            <a:rect b="b" l="l" r="r" t="t"/>
            <a:pathLst>
              <a:path extrusionOk="0" h="10202966" w="9743832">
                <a:moveTo>
                  <a:pt x="0" y="0"/>
                </a:moveTo>
                <a:lnTo>
                  <a:pt x="9743832" y="0"/>
                </a:lnTo>
                <a:lnTo>
                  <a:pt x="9743832" y="10202966"/>
                </a:lnTo>
                <a:lnTo>
                  <a:pt x="0" y="10202966"/>
                </a:lnTo>
                <a:lnTo>
                  <a:pt x="0" y="0"/>
                </a:lnTo>
                <a:close/>
              </a:path>
            </a:pathLst>
          </a:custGeom>
          <a:blipFill rotWithShape="1">
            <a:blip r:embed="rId3">
              <a:alphaModFix/>
            </a:blip>
            <a:stretch>
              <a:fillRect b="0" l="0" r="0" t="0"/>
            </a:stretch>
          </a:blipFill>
          <a:ln>
            <a:noFill/>
          </a:ln>
        </p:spPr>
      </p:sp>
      <p:sp>
        <p:nvSpPr>
          <p:cNvPr id="176" name="Google Shape;176;p21"/>
          <p:cNvSpPr/>
          <p:nvPr/>
        </p:nvSpPr>
        <p:spPr>
          <a:xfrm flipH="1">
            <a:off x="15053429" y="5348509"/>
            <a:ext cx="2973321" cy="4767715"/>
          </a:xfrm>
          <a:custGeom>
            <a:rect b="b" l="l" r="r" t="t"/>
            <a:pathLst>
              <a:path extrusionOk="0" h="4767715" w="2973321">
                <a:moveTo>
                  <a:pt x="2973321" y="0"/>
                </a:moveTo>
                <a:lnTo>
                  <a:pt x="0" y="0"/>
                </a:lnTo>
                <a:lnTo>
                  <a:pt x="0" y="4767715"/>
                </a:lnTo>
                <a:lnTo>
                  <a:pt x="2973321" y="4767715"/>
                </a:lnTo>
                <a:lnTo>
                  <a:pt x="2973321" y="0"/>
                </a:lnTo>
                <a:close/>
              </a:path>
            </a:pathLst>
          </a:custGeom>
          <a:blipFill rotWithShape="1">
            <a:blip r:embed="rId4">
              <a:alphaModFix/>
            </a:blip>
            <a:stretch>
              <a:fillRect b="0" l="0" r="0" t="0"/>
            </a:stretch>
          </a:blipFill>
          <a:ln>
            <a:noFill/>
          </a:ln>
        </p:spPr>
      </p:sp>
      <p:sp>
        <p:nvSpPr>
          <p:cNvPr id="177" name="Google Shape;177;p21"/>
          <p:cNvSpPr/>
          <p:nvPr/>
        </p:nvSpPr>
        <p:spPr>
          <a:xfrm rot="3898295">
            <a:off x="1797726" y="665869"/>
            <a:ext cx="594733" cy="2905995"/>
          </a:xfrm>
          <a:custGeom>
            <a:rect b="b" l="l" r="r" t="t"/>
            <a:pathLst>
              <a:path extrusionOk="0" h="3872230" w="792480">
                <a:moveTo>
                  <a:pt x="267970" y="81280"/>
                </a:moveTo>
                <a:cubicBezTo>
                  <a:pt x="240030" y="612140"/>
                  <a:pt x="190500" y="855980"/>
                  <a:pt x="177800" y="993140"/>
                </a:cubicBezTo>
                <a:cubicBezTo>
                  <a:pt x="170180" y="1075690"/>
                  <a:pt x="172720" y="1104900"/>
                  <a:pt x="170180" y="1191260"/>
                </a:cubicBezTo>
                <a:cubicBezTo>
                  <a:pt x="163830" y="1353820"/>
                  <a:pt x="152400" y="1731010"/>
                  <a:pt x="152400" y="1897380"/>
                </a:cubicBezTo>
                <a:cubicBezTo>
                  <a:pt x="152400" y="1988820"/>
                  <a:pt x="151130" y="2037080"/>
                  <a:pt x="156210" y="2108200"/>
                </a:cubicBezTo>
                <a:cubicBezTo>
                  <a:pt x="161290" y="2181860"/>
                  <a:pt x="173990" y="2264410"/>
                  <a:pt x="184150" y="2332990"/>
                </a:cubicBezTo>
                <a:cubicBezTo>
                  <a:pt x="193040" y="2390140"/>
                  <a:pt x="200660" y="2435860"/>
                  <a:pt x="213360" y="2491740"/>
                </a:cubicBezTo>
                <a:cubicBezTo>
                  <a:pt x="228600" y="2556510"/>
                  <a:pt x="248920" y="2617470"/>
                  <a:pt x="274320" y="2694940"/>
                </a:cubicBezTo>
                <a:cubicBezTo>
                  <a:pt x="311150" y="2805430"/>
                  <a:pt x="364490" y="2961640"/>
                  <a:pt x="419100" y="3088640"/>
                </a:cubicBezTo>
                <a:cubicBezTo>
                  <a:pt x="471170" y="3213100"/>
                  <a:pt x="534670" y="3337560"/>
                  <a:pt x="596900" y="3448050"/>
                </a:cubicBezTo>
                <a:cubicBezTo>
                  <a:pt x="652780" y="3550920"/>
                  <a:pt x="746760" y="3675380"/>
                  <a:pt x="773430" y="3733800"/>
                </a:cubicBezTo>
                <a:cubicBezTo>
                  <a:pt x="784860" y="3756660"/>
                  <a:pt x="792480" y="3768090"/>
                  <a:pt x="789940" y="3787140"/>
                </a:cubicBezTo>
                <a:cubicBezTo>
                  <a:pt x="787400" y="3808730"/>
                  <a:pt x="767080" y="3844290"/>
                  <a:pt x="749300" y="3858260"/>
                </a:cubicBezTo>
                <a:cubicBezTo>
                  <a:pt x="734060" y="3869690"/>
                  <a:pt x="712470" y="3872230"/>
                  <a:pt x="695960" y="3870960"/>
                </a:cubicBezTo>
                <a:cubicBezTo>
                  <a:pt x="678180" y="3869690"/>
                  <a:pt x="656590" y="3863340"/>
                  <a:pt x="643890" y="3849370"/>
                </a:cubicBezTo>
                <a:cubicBezTo>
                  <a:pt x="628650" y="3832860"/>
                  <a:pt x="612140" y="3796030"/>
                  <a:pt x="615950" y="3771900"/>
                </a:cubicBezTo>
                <a:cubicBezTo>
                  <a:pt x="619760" y="3747770"/>
                  <a:pt x="642620" y="3716020"/>
                  <a:pt x="664210" y="3705860"/>
                </a:cubicBezTo>
                <a:cubicBezTo>
                  <a:pt x="685800" y="3695700"/>
                  <a:pt x="725170" y="3698240"/>
                  <a:pt x="745490" y="3708400"/>
                </a:cubicBezTo>
                <a:cubicBezTo>
                  <a:pt x="763270" y="3716020"/>
                  <a:pt x="775970" y="3733800"/>
                  <a:pt x="783590" y="3750310"/>
                </a:cubicBezTo>
                <a:cubicBezTo>
                  <a:pt x="789940" y="3765550"/>
                  <a:pt x="791210" y="3788410"/>
                  <a:pt x="787400" y="3804920"/>
                </a:cubicBezTo>
                <a:cubicBezTo>
                  <a:pt x="783590" y="3822700"/>
                  <a:pt x="770890" y="3841750"/>
                  <a:pt x="756920" y="3851910"/>
                </a:cubicBezTo>
                <a:cubicBezTo>
                  <a:pt x="742950" y="3863340"/>
                  <a:pt x="722630" y="3870960"/>
                  <a:pt x="704850" y="3870960"/>
                </a:cubicBezTo>
                <a:cubicBezTo>
                  <a:pt x="687070" y="3872230"/>
                  <a:pt x="670560" y="3868420"/>
                  <a:pt x="651510" y="3855720"/>
                </a:cubicBezTo>
                <a:cubicBezTo>
                  <a:pt x="615950" y="3827780"/>
                  <a:pt x="575310" y="3745230"/>
                  <a:pt x="537210" y="3681730"/>
                </a:cubicBezTo>
                <a:cubicBezTo>
                  <a:pt x="491490" y="3606800"/>
                  <a:pt x="443230" y="3522980"/>
                  <a:pt x="400050" y="3434080"/>
                </a:cubicBezTo>
                <a:cubicBezTo>
                  <a:pt x="353060" y="3335020"/>
                  <a:pt x="304800" y="3221990"/>
                  <a:pt x="265430" y="3116580"/>
                </a:cubicBezTo>
                <a:cubicBezTo>
                  <a:pt x="226060" y="3014980"/>
                  <a:pt x="195580" y="2913380"/>
                  <a:pt x="165100" y="2813050"/>
                </a:cubicBezTo>
                <a:cubicBezTo>
                  <a:pt x="134620" y="2713990"/>
                  <a:pt x="106680" y="2623820"/>
                  <a:pt x="82550" y="2517140"/>
                </a:cubicBezTo>
                <a:cubicBezTo>
                  <a:pt x="54610" y="2393950"/>
                  <a:pt x="26670" y="2228850"/>
                  <a:pt x="13970" y="2113280"/>
                </a:cubicBezTo>
                <a:cubicBezTo>
                  <a:pt x="5080" y="2029460"/>
                  <a:pt x="3810" y="1991360"/>
                  <a:pt x="2540" y="1892300"/>
                </a:cubicBezTo>
                <a:cubicBezTo>
                  <a:pt x="0" y="1690370"/>
                  <a:pt x="0" y="1248410"/>
                  <a:pt x="21590" y="971550"/>
                </a:cubicBezTo>
                <a:cubicBezTo>
                  <a:pt x="40640" y="740410"/>
                  <a:pt x="99060" y="508000"/>
                  <a:pt x="110490" y="340360"/>
                </a:cubicBezTo>
                <a:cubicBezTo>
                  <a:pt x="118110" y="228600"/>
                  <a:pt x="93980" y="114300"/>
                  <a:pt x="109220" y="62230"/>
                </a:cubicBezTo>
                <a:cubicBezTo>
                  <a:pt x="116840" y="38100"/>
                  <a:pt x="127000" y="25400"/>
                  <a:pt x="142240" y="15240"/>
                </a:cubicBezTo>
                <a:cubicBezTo>
                  <a:pt x="156210" y="5080"/>
                  <a:pt x="179070" y="0"/>
                  <a:pt x="196850" y="1270"/>
                </a:cubicBezTo>
                <a:cubicBezTo>
                  <a:pt x="214630" y="3810"/>
                  <a:pt x="236220" y="15240"/>
                  <a:pt x="247650" y="27940"/>
                </a:cubicBezTo>
                <a:cubicBezTo>
                  <a:pt x="259080" y="41910"/>
                  <a:pt x="267970" y="81280"/>
                  <a:pt x="267970" y="8128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1"/>
          <p:cNvSpPr/>
          <p:nvPr/>
        </p:nvSpPr>
        <p:spPr>
          <a:xfrm>
            <a:off x="2036445" y="4550092"/>
            <a:ext cx="120967" cy="125730"/>
          </a:xfrm>
          <a:custGeom>
            <a:rect b="b" l="l" r="r" t="t"/>
            <a:pathLst>
              <a:path extrusionOk="0" h="167640" w="161290">
                <a:moveTo>
                  <a:pt x="161290" y="57150"/>
                </a:moveTo>
                <a:cubicBezTo>
                  <a:pt x="140970" y="146050"/>
                  <a:pt x="128270" y="152400"/>
                  <a:pt x="116840" y="157480"/>
                </a:cubicBezTo>
                <a:cubicBezTo>
                  <a:pt x="105410" y="162560"/>
                  <a:pt x="92710" y="167640"/>
                  <a:pt x="77470" y="165100"/>
                </a:cubicBezTo>
                <a:cubicBezTo>
                  <a:pt x="58420" y="161290"/>
                  <a:pt x="24130" y="140970"/>
                  <a:pt x="12700" y="124460"/>
                </a:cubicBezTo>
                <a:cubicBezTo>
                  <a:pt x="3810" y="114300"/>
                  <a:pt x="0" y="101600"/>
                  <a:pt x="1270" y="87630"/>
                </a:cubicBezTo>
                <a:cubicBezTo>
                  <a:pt x="1270" y="67310"/>
                  <a:pt x="13970" y="31750"/>
                  <a:pt x="31750" y="17780"/>
                </a:cubicBezTo>
                <a:cubicBezTo>
                  <a:pt x="49530" y="3810"/>
                  <a:pt x="87630" y="0"/>
                  <a:pt x="107950" y="3810"/>
                </a:cubicBezTo>
                <a:cubicBezTo>
                  <a:pt x="121920" y="6350"/>
                  <a:pt x="140970" y="24130"/>
                  <a:pt x="140970" y="2413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1"/>
          <p:cNvSpPr/>
          <p:nvPr/>
        </p:nvSpPr>
        <p:spPr>
          <a:xfrm rot="1798898">
            <a:off x="15053258" y="2393156"/>
            <a:ext cx="2112865" cy="964465"/>
          </a:xfrm>
          <a:custGeom>
            <a:rect b="b" l="l" r="r" t="t"/>
            <a:pathLst>
              <a:path extrusionOk="0" h="1285240" w="2815590">
                <a:moveTo>
                  <a:pt x="90170" y="0"/>
                </a:moveTo>
                <a:cubicBezTo>
                  <a:pt x="666750" y="77470"/>
                  <a:pt x="990600" y="139700"/>
                  <a:pt x="1184910" y="186690"/>
                </a:cubicBezTo>
                <a:cubicBezTo>
                  <a:pt x="1319530" y="219710"/>
                  <a:pt x="1417320" y="252730"/>
                  <a:pt x="1522730" y="287020"/>
                </a:cubicBezTo>
                <a:cubicBezTo>
                  <a:pt x="1619250" y="318770"/>
                  <a:pt x="1715770" y="353060"/>
                  <a:pt x="1795780" y="386080"/>
                </a:cubicBezTo>
                <a:cubicBezTo>
                  <a:pt x="1863090" y="412750"/>
                  <a:pt x="1925320" y="441960"/>
                  <a:pt x="1976120" y="467360"/>
                </a:cubicBezTo>
                <a:cubicBezTo>
                  <a:pt x="2014220" y="487680"/>
                  <a:pt x="2033270" y="494030"/>
                  <a:pt x="2075180" y="521970"/>
                </a:cubicBezTo>
                <a:cubicBezTo>
                  <a:pt x="2160270" y="579120"/>
                  <a:pt x="2352040" y="731520"/>
                  <a:pt x="2440940" y="810260"/>
                </a:cubicBezTo>
                <a:cubicBezTo>
                  <a:pt x="2495550" y="858520"/>
                  <a:pt x="2518410" y="891540"/>
                  <a:pt x="2566670" y="937260"/>
                </a:cubicBezTo>
                <a:cubicBezTo>
                  <a:pt x="2627630" y="993140"/>
                  <a:pt x="2744470" y="1073150"/>
                  <a:pt x="2782570" y="1117600"/>
                </a:cubicBezTo>
                <a:cubicBezTo>
                  <a:pt x="2799080" y="1139190"/>
                  <a:pt x="2807970" y="1151890"/>
                  <a:pt x="2811780" y="1169670"/>
                </a:cubicBezTo>
                <a:cubicBezTo>
                  <a:pt x="2815590" y="1188720"/>
                  <a:pt x="2813050" y="1212850"/>
                  <a:pt x="2804160" y="1229360"/>
                </a:cubicBezTo>
                <a:cubicBezTo>
                  <a:pt x="2795270" y="1245870"/>
                  <a:pt x="2778760" y="1263650"/>
                  <a:pt x="2762250" y="1271270"/>
                </a:cubicBezTo>
                <a:cubicBezTo>
                  <a:pt x="2744470" y="1280160"/>
                  <a:pt x="2721610" y="1283970"/>
                  <a:pt x="2702560" y="1280160"/>
                </a:cubicBezTo>
                <a:cubicBezTo>
                  <a:pt x="2683510" y="1276350"/>
                  <a:pt x="2661920" y="1262380"/>
                  <a:pt x="2650490" y="1250950"/>
                </a:cubicBezTo>
                <a:cubicBezTo>
                  <a:pt x="2641600" y="1243330"/>
                  <a:pt x="2637790" y="1235710"/>
                  <a:pt x="2633980" y="1225550"/>
                </a:cubicBezTo>
                <a:cubicBezTo>
                  <a:pt x="2628900" y="1210310"/>
                  <a:pt x="2625090" y="1183640"/>
                  <a:pt x="2628900" y="1165860"/>
                </a:cubicBezTo>
                <a:cubicBezTo>
                  <a:pt x="2633980" y="1146810"/>
                  <a:pt x="2649220" y="1126490"/>
                  <a:pt x="2660650" y="1115060"/>
                </a:cubicBezTo>
                <a:cubicBezTo>
                  <a:pt x="2669540" y="1107440"/>
                  <a:pt x="2678430" y="1103630"/>
                  <a:pt x="2687320" y="1099820"/>
                </a:cubicBezTo>
                <a:cubicBezTo>
                  <a:pt x="2696210" y="1096010"/>
                  <a:pt x="2705100" y="1093470"/>
                  <a:pt x="2716530" y="1094740"/>
                </a:cubicBezTo>
                <a:cubicBezTo>
                  <a:pt x="2733040" y="1094740"/>
                  <a:pt x="2758440" y="1101090"/>
                  <a:pt x="2774950" y="1111250"/>
                </a:cubicBezTo>
                <a:cubicBezTo>
                  <a:pt x="2790190" y="1122680"/>
                  <a:pt x="2804160" y="1141730"/>
                  <a:pt x="2809240" y="1160780"/>
                </a:cubicBezTo>
                <a:cubicBezTo>
                  <a:pt x="2815590" y="1178560"/>
                  <a:pt x="2811780" y="1203960"/>
                  <a:pt x="2807970" y="1220470"/>
                </a:cubicBezTo>
                <a:cubicBezTo>
                  <a:pt x="2805430" y="1230630"/>
                  <a:pt x="2801620" y="1238250"/>
                  <a:pt x="2792730" y="1245870"/>
                </a:cubicBezTo>
                <a:cubicBezTo>
                  <a:pt x="2782570" y="1258570"/>
                  <a:pt x="2760980" y="1273810"/>
                  <a:pt x="2743200" y="1278890"/>
                </a:cubicBezTo>
                <a:cubicBezTo>
                  <a:pt x="2724150" y="1283970"/>
                  <a:pt x="2710180" y="1285240"/>
                  <a:pt x="2683510" y="1273810"/>
                </a:cubicBezTo>
                <a:cubicBezTo>
                  <a:pt x="2583180" y="1231900"/>
                  <a:pt x="2192020" y="836930"/>
                  <a:pt x="2078990" y="744220"/>
                </a:cubicBezTo>
                <a:cubicBezTo>
                  <a:pt x="2035810" y="708660"/>
                  <a:pt x="2020570" y="695960"/>
                  <a:pt x="1987550" y="674370"/>
                </a:cubicBezTo>
                <a:cubicBezTo>
                  <a:pt x="1948180" y="650240"/>
                  <a:pt x="1911350" y="631190"/>
                  <a:pt x="1858010" y="604520"/>
                </a:cubicBezTo>
                <a:cubicBezTo>
                  <a:pt x="1772920" y="562610"/>
                  <a:pt x="1638300" y="501650"/>
                  <a:pt x="1524000" y="458470"/>
                </a:cubicBezTo>
                <a:cubicBezTo>
                  <a:pt x="1408430" y="414020"/>
                  <a:pt x="1297940" y="378460"/>
                  <a:pt x="1165860" y="341630"/>
                </a:cubicBezTo>
                <a:cubicBezTo>
                  <a:pt x="1010920" y="299720"/>
                  <a:pt x="830580" y="257810"/>
                  <a:pt x="651510" y="226060"/>
                </a:cubicBezTo>
                <a:cubicBezTo>
                  <a:pt x="459740" y="191770"/>
                  <a:pt x="132080" y="187960"/>
                  <a:pt x="50800" y="149860"/>
                </a:cubicBezTo>
                <a:cubicBezTo>
                  <a:pt x="26670" y="138430"/>
                  <a:pt x="17780" y="128270"/>
                  <a:pt x="10160" y="113030"/>
                </a:cubicBezTo>
                <a:cubicBezTo>
                  <a:pt x="2540" y="97790"/>
                  <a:pt x="0" y="73660"/>
                  <a:pt x="3810" y="57150"/>
                </a:cubicBezTo>
                <a:cubicBezTo>
                  <a:pt x="8890" y="40640"/>
                  <a:pt x="21590" y="21590"/>
                  <a:pt x="35560" y="12700"/>
                </a:cubicBezTo>
                <a:cubicBezTo>
                  <a:pt x="50800" y="2540"/>
                  <a:pt x="90170" y="0"/>
                  <a:pt x="90170" y="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1"/>
          <p:cNvSpPr/>
          <p:nvPr/>
        </p:nvSpPr>
        <p:spPr>
          <a:xfrm>
            <a:off x="8919210" y="1929765"/>
            <a:ext cx="120968" cy="125730"/>
          </a:xfrm>
          <a:custGeom>
            <a:rect b="b" l="l" r="r" t="t"/>
            <a:pathLst>
              <a:path extrusionOk="0" h="167640" w="161290">
                <a:moveTo>
                  <a:pt x="161290" y="58420"/>
                </a:moveTo>
                <a:cubicBezTo>
                  <a:pt x="158750" y="116840"/>
                  <a:pt x="133350" y="147320"/>
                  <a:pt x="116840" y="157480"/>
                </a:cubicBezTo>
                <a:cubicBezTo>
                  <a:pt x="104140" y="165100"/>
                  <a:pt x="91440" y="167640"/>
                  <a:pt x="77470" y="165100"/>
                </a:cubicBezTo>
                <a:cubicBezTo>
                  <a:pt x="58420" y="161290"/>
                  <a:pt x="24130" y="144780"/>
                  <a:pt x="12700" y="125730"/>
                </a:cubicBezTo>
                <a:cubicBezTo>
                  <a:pt x="0" y="105410"/>
                  <a:pt x="1270" y="67310"/>
                  <a:pt x="7620" y="48260"/>
                </a:cubicBezTo>
                <a:cubicBezTo>
                  <a:pt x="11430" y="34290"/>
                  <a:pt x="20320" y="25400"/>
                  <a:pt x="31750" y="17780"/>
                </a:cubicBezTo>
                <a:cubicBezTo>
                  <a:pt x="49530" y="7620"/>
                  <a:pt x="87630" y="0"/>
                  <a:pt x="107950" y="3810"/>
                </a:cubicBezTo>
                <a:cubicBezTo>
                  <a:pt x="121920" y="6350"/>
                  <a:pt x="140970" y="24130"/>
                  <a:pt x="140970" y="2413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1"/>
          <p:cNvSpPr/>
          <p:nvPr/>
        </p:nvSpPr>
        <p:spPr>
          <a:xfrm>
            <a:off x="12553951" y="8183949"/>
            <a:ext cx="3501688" cy="1589519"/>
          </a:xfrm>
          <a:custGeom>
            <a:rect b="b" l="l" r="r" t="t"/>
            <a:pathLst>
              <a:path extrusionOk="0" h="2473960" w="5580380">
                <a:moveTo>
                  <a:pt x="5580380" y="96520"/>
                </a:moveTo>
                <a:cubicBezTo>
                  <a:pt x="5561330" y="207010"/>
                  <a:pt x="5543550" y="257810"/>
                  <a:pt x="5525770" y="295910"/>
                </a:cubicBezTo>
                <a:cubicBezTo>
                  <a:pt x="5510530" y="331470"/>
                  <a:pt x="5499100" y="359410"/>
                  <a:pt x="5473700" y="394970"/>
                </a:cubicBezTo>
                <a:cubicBezTo>
                  <a:pt x="5436870" y="449580"/>
                  <a:pt x="5367020" y="521970"/>
                  <a:pt x="5307330" y="580390"/>
                </a:cubicBezTo>
                <a:cubicBezTo>
                  <a:pt x="5245100" y="638810"/>
                  <a:pt x="5179060" y="698500"/>
                  <a:pt x="5110480" y="748030"/>
                </a:cubicBezTo>
                <a:cubicBezTo>
                  <a:pt x="5043170" y="796290"/>
                  <a:pt x="4954270" y="834390"/>
                  <a:pt x="4900930" y="873760"/>
                </a:cubicBezTo>
                <a:cubicBezTo>
                  <a:pt x="4861560" y="902970"/>
                  <a:pt x="4851400" y="927100"/>
                  <a:pt x="4808220" y="956310"/>
                </a:cubicBezTo>
                <a:cubicBezTo>
                  <a:pt x="4728210" y="1010920"/>
                  <a:pt x="4563110" y="1083310"/>
                  <a:pt x="4436110" y="1141730"/>
                </a:cubicBezTo>
                <a:cubicBezTo>
                  <a:pt x="4306570" y="1202690"/>
                  <a:pt x="4184650" y="1254760"/>
                  <a:pt x="4036060" y="1315720"/>
                </a:cubicBezTo>
                <a:cubicBezTo>
                  <a:pt x="3853180" y="1390650"/>
                  <a:pt x="3582670" y="1503680"/>
                  <a:pt x="3422650" y="1554480"/>
                </a:cubicBezTo>
                <a:cubicBezTo>
                  <a:pt x="3323590" y="1586230"/>
                  <a:pt x="3266440" y="1590040"/>
                  <a:pt x="3177540" y="1615440"/>
                </a:cubicBezTo>
                <a:cubicBezTo>
                  <a:pt x="3069590" y="1647190"/>
                  <a:pt x="2952750" y="1694180"/>
                  <a:pt x="2819400" y="1733550"/>
                </a:cubicBezTo>
                <a:cubicBezTo>
                  <a:pt x="2656840" y="1781810"/>
                  <a:pt x="2487930" y="1816100"/>
                  <a:pt x="2269490" y="1878330"/>
                </a:cubicBezTo>
                <a:cubicBezTo>
                  <a:pt x="1943100" y="1969770"/>
                  <a:pt x="1376680" y="2153920"/>
                  <a:pt x="1055370" y="2244090"/>
                </a:cubicBezTo>
                <a:cubicBezTo>
                  <a:pt x="844550" y="2303780"/>
                  <a:pt x="662940" y="2355850"/>
                  <a:pt x="529590" y="2382520"/>
                </a:cubicBezTo>
                <a:cubicBezTo>
                  <a:pt x="448310" y="2399030"/>
                  <a:pt x="400050" y="2396490"/>
                  <a:pt x="332740" y="2409190"/>
                </a:cubicBezTo>
                <a:cubicBezTo>
                  <a:pt x="259080" y="2424430"/>
                  <a:pt x="161290" y="2467610"/>
                  <a:pt x="106680" y="2468880"/>
                </a:cubicBezTo>
                <a:cubicBezTo>
                  <a:pt x="74930" y="2468880"/>
                  <a:pt x="48260" y="2465070"/>
                  <a:pt x="30480" y="2449830"/>
                </a:cubicBezTo>
                <a:cubicBezTo>
                  <a:pt x="13970" y="2434590"/>
                  <a:pt x="0" y="2399030"/>
                  <a:pt x="3810" y="2377440"/>
                </a:cubicBezTo>
                <a:cubicBezTo>
                  <a:pt x="6350" y="2354580"/>
                  <a:pt x="27940" y="2324100"/>
                  <a:pt x="48260" y="2312670"/>
                </a:cubicBezTo>
                <a:cubicBezTo>
                  <a:pt x="69850" y="2302510"/>
                  <a:pt x="106680" y="2306320"/>
                  <a:pt x="127000" y="2315210"/>
                </a:cubicBezTo>
                <a:cubicBezTo>
                  <a:pt x="143510" y="2322830"/>
                  <a:pt x="156210" y="2339340"/>
                  <a:pt x="162560" y="2354580"/>
                </a:cubicBezTo>
                <a:cubicBezTo>
                  <a:pt x="168910" y="2369820"/>
                  <a:pt x="172720" y="2390140"/>
                  <a:pt x="167640" y="2407920"/>
                </a:cubicBezTo>
                <a:cubicBezTo>
                  <a:pt x="160020" y="2428240"/>
                  <a:pt x="137160" y="2457450"/>
                  <a:pt x="115570" y="2466340"/>
                </a:cubicBezTo>
                <a:cubicBezTo>
                  <a:pt x="93980" y="2473960"/>
                  <a:pt x="55880" y="2466340"/>
                  <a:pt x="38100" y="2456180"/>
                </a:cubicBezTo>
                <a:cubicBezTo>
                  <a:pt x="22860" y="2446020"/>
                  <a:pt x="11430" y="2428240"/>
                  <a:pt x="6350" y="2413000"/>
                </a:cubicBezTo>
                <a:cubicBezTo>
                  <a:pt x="1270" y="2396490"/>
                  <a:pt x="0" y="2376170"/>
                  <a:pt x="7620" y="2359660"/>
                </a:cubicBezTo>
                <a:cubicBezTo>
                  <a:pt x="16510" y="2339340"/>
                  <a:pt x="36830" y="2321560"/>
                  <a:pt x="66040" y="2307590"/>
                </a:cubicBezTo>
                <a:cubicBezTo>
                  <a:pt x="116840" y="2279650"/>
                  <a:pt x="234950" y="2263140"/>
                  <a:pt x="309880" y="2249170"/>
                </a:cubicBezTo>
                <a:cubicBezTo>
                  <a:pt x="372110" y="2237740"/>
                  <a:pt x="408940" y="2240280"/>
                  <a:pt x="483870" y="2225040"/>
                </a:cubicBezTo>
                <a:cubicBezTo>
                  <a:pt x="624840" y="2197100"/>
                  <a:pt x="909320" y="2118360"/>
                  <a:pt x="1093470" y="2063750"/>
                </a:cubicBezTo>
                <a:cubicBezTo>
                  <a:pt x="1247140" y="2016760"/>
                  <a:pt x="1336040" y="1977390"/>
                  <a:pt x="1513840" y="1922780"/>
                </a:cubicBezTo>
                <a:cubicBezTo>
                  <a:pt x="1819910" y="1830070"/>
                  <a:pt x="2473960" y="1668780"/>
                  <a:pt x="2764790" y="1577340"/>
                </a:cubicBezTo>
                <a:cubicBezTo>
                  <a:pt x="2922270" y="1529080"/>
                  <a:pt x="3020060" y="1483360"/>
                  <a:pt x="3126740" y="1451610"/>
                </a:cubicBezTo>
                <a:cubicBezTo>
                  <a:pt x="3210560" y="1426210"/>
                  <a:pt x="3261360" y="1422400"/>
                  <a:pt x="3352800" y="1393190"/>
                </a:cubicBezTo>
                <a:cubicBezTo>
                  <a:pt x="3506470" y="1343660"/>
                  <a:pt x="3755390" y="1242060"/>
                  <a:pt x="3953510" y="1158240"/>
                </a:cubicBezTo>
                <a:cubicBezTo>
                  <a:pt x="4151630" y="1074420"/>
                  <a:pt x="4392930" y="963930"/>
                  <a:pt x="4540250" y="890270"/>
                </a:cubicBezTo>
                <a:cubicBezTo>
                  <a:pt x="4631690" y="844550"/>
                  <a:pt x="4682490" y="820420"/>
                  <a:pt x="4758690" y="773430"/>
                </a:cubicBezTo>
                <a:cubicBezTo>
                  <a:pt x="4852670" y="715010"/>
                  <a:pt x="4975860" y="623570"/>
                  <a:pt x="5059680" y="560070"/>
                </a:cubicBezTo>
                <a:cubicBezTo>
                  <a:pt x="5120640" y="511810"/>
                  <a:pt x="5167630" y="476250"/>
                  <a:pt x="5215890" y="429260"/>
                </a:cubicBezTo>
                <a:cubicBezTo>
                  <a:pt x="5264150" y="381000"/>
                  <a:pt x="5317490" y="326390"/>
                  <a:pt x="5349240" y="274320"/>
                </a:cubicBezTo>
                <a:cubicBezTo>
                  <a:pt x="5375910" y="232410"/>
                  <a:pt x="5391150" y="187960"/>
                  <a:pt x="5402580" y="148590"/>
                </a:cubicBezTo>
                <a:cubicBezTo>
                  <a:pt x="5411470" y="115570"/>
                  <a:pt x="5405120" y="80010"/>
                  <a:pt x="5416550" y="54610"/>
                </a:cubicBezTo>
                <a:cubicBezTo>
                  <a:pt x="5425440" y="35560"/>
                  <a:pt x="5441950" y="19050"/>
                  <a:pt x="5455920" y="10160"/>
                </a:cubicBezTo>
                <a:cubicBezTo>
                  <a:pt x="5468620" y="2540"/>
                  <a:pt x="5481320" y="0"/>
                  <a:pt x="5495290" y="0"/>
                </a:cubicBezTo>
                <a:cubicBezTo>
                  <a:pt x="5513070" y="1270"/>
                  <a:pt x="5538470" y="11430"/>
                  <a:pt x="5552440" y="21590"/>
                </a:cubicBezTo>
                <a:cubicBezTo>
                  <a:pt x="5563870" y="30480"/>
                  <a:pt x="5570220" y="43180"/>
                  <a:pt x="5575300" y="55880"/>
                </a:cubicBezTo>
                <a:cubicBezTo>
                  <a:pt x="5580380" y="67310"/>
                  <a:pt x="5580380" y="96520"/>
                  <a:pt x="5580380" y="9652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1"/>
          <p:cNvSpPr/>
          <p:nvPr/>
        </p:nvSpPr>
        <p:spPr>
          <a:xfrm>
            <a:off x="3812858" y="9778365"/>
            <a:ext cx="120015" cy="124777"/>
          </a:xfrm>
          <a:custGeom>
            <a:rect b="b" l="l" r="r" t="t"/>
            <a:pathLst>
              <a:path extrusionOk="0" h="166370" w="160020">
                <a:moveTo>
                  <a:pt x="160020" y="58420"/>
                </a:moveTo>
                <a:cubicBezTo>
                  <a:pt x="156210" y="116840"/>
                  <a:pt x="135890" y="148590"/>
                  <a:pt x="115570" y="157480"/>
                </a:cubicBezTo>
                <a:cubicBezTo>
                  <a:pt x="93980" y="166370"/>
                  <a:pt x="57150" y="161290"/>
                  <a:pt x="38100" y="153670"/>
                </a:cubicBezTo>
                <a:cubicBezTo>
                  <a:pt x="25400" y="147320"/>
                  <a:pt x="16510" y="138430"/>
                  <a:pt x="10160" y="125730"/>
                </a:cubicBezTo>
                <a:cubicBezTo>
                  <a:pt x="2540" y="106680"/>
                  <a:pt x="0" y="67310"/>
                  <a:pt x="6350" y="48260"/>
                </a:cubicBezTo>
                <a:cubicBezTo>
                  <a:pt x="10160" y="34290"/>
                  <a:pt x="17780" y="25400"/>
                  <a:pt x="30480" y="17780"/>
                </a:cubicBezTo>
                <a:cubicBezTo>
                  <a:pt x="46990" y="7620"/>
                  <a:pt x="86360" y="0"/>
                  <a:pt x="105410" y="3810"/>
                </a:cubicBezTo>
                <a:cubicBezTo>
                  <a:pt x="119380" y="6350"/>
                  <a:pt x="139700" y="24130"/>
                  <a:pt x="139700" y="2413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1"/>
          <p:cNvSpPr/>
          <p:nvPr/>
        </p:nvSpPr>
        <p:spPr>
          <a:xfrm rot="-5824661">
            <a:off x="578445" y="7247552"/>
            <a:ext cx="1085940" cy="969623"/>
          </a:xfrm>
          <a:custGeom>
            <a:rect b="b" l="l" r="r" t="t"/>
            <a:pathLst>
              <a:path extrusionOk="0" h="1291590" w="1446530">
                <a:moveTo>
                  <a:pt x="1360170" y="189230"/>
                </a:moveTo>
                <a:cubicBezTo>
                  <a:pt x="908050" y="203200"/>
                  <a:pt x="891540" y="218440"/>
                  <a:pt x="853440" y="246380"/>
                </a:cubicBezTo>
                <a:cubicBezTo>
                  <a:pt x="789940" y="290830"/>
                  <a:pt x="697230" y="393700"/>
                  <a:pt x="629920" y="450850"/>
                </a:cubicBezTo>
                <a:cubicBezTo>
                  <a:pt x="575310" y="496570"/>
                  <a:pt x="528320" y="525780"/>
                  <a:pt x="480060" y="566420"/>
                </a:cubicBezTo>
                <a:cubicBezTo>
                  <a:pt x="431800" y="608330"/>
                  <a:pt x="375920" y="659130"/>
                  <a:pt x="340360" y="699770"/>
                </a:cubicBezTo>
                <a:cubicBezTo>
                  <a:pt x="313690" y="730250"/>
                  <a:pt x="297180" y="753110"/>
                  <a:pt x="279400" y="783590"/>
                </a:cubicBezTo>
                <a:cubicBezTo>
                  <a:pt x="260350" y="812800"/>
                  <a:pt x="241300" y="847090"/>
                  <a:pt x="229870" y="880110"/>
                </a:cubicBezTo>
                <a:cubicBezTo>
                  <a:pt x="219710" y="908050"/>
                  <a:pt x="215900" y="930910"/>
                  <a:pt x="212090" y="966470"/>
                </a:cubicBezTo>
                <a:cubicBezTo>
                  <a:pt x="205740" y="1018540"/>
                  <a:pt x="223520" y="1107440"/>
                  <a:pt x="210820" y="1162050"/>
                </a:cubicBezTo>
                <a:cubicBezTo>
                  <a:pt x="199390" y="1205230"/>
                  <a:pt x="177800" y="1250950"/>
                  <a:pt x="153670" y="1272540"/>
                </a:cubicBezTo>
                <a:cubicBezTo>
                  <a:pt x="137160" y="1286510"/>
                  <a:pt x="115570" y="1291590"/>
                  <a:pt x="96520" y="1291590"/>
                </a:cubicBezTo>
                <a:cubicBezTo>
                  <a:pt x="77470" y="1291590"/>
                  <a:pt x="53340" y="1280160"/>
                  <a:pt x="39370" y="1271270"/>
                </a:cubicBezTo>
                <a:cubicBezTo>
                  <a:pt x="29210" y="1264920"/>
                  <a:pt x="24130" y="1259840"/>
                  <a:pt x="17780" y="1249680"/>
                </a:cubicBezTo>
                <a:cubicBezTo>
                  <a:pt x="10160" y="1235710"/>
                  <a:pt x="1270" y="1210310"/>
                  <a:pt x="2540" y="1191260"/>
                </a:cubicBezTo>
                <a:cubicBezTo>
                  <a:pt x="3810" y="1172210"/>
                  <a:pt x="12700" y="1149350"/>
                  <a:pt x="25400" y="1135380"/>
                </a:cubicBezTo>
                <a:cubicBezTo>
                  <a:pt x="36830" y="1120140"/>
                  <a:pt x="58420" y="1108710"/>
                  <a:pt x="76200" y="1103630"/>
                </a:cubicBezTo>
                <a:cubicBezTo>
                  <a:pt x="95250" y="1099820"/>
                  <a:pt x="119380" y="1102360"/>
                  <a:pt x="137160" y="1111250"/>
                </a:cubicBezTo>
                <a:cubicBezTo>
                  <a:pt x="153670" y="1118870"/>
                  <a:pt x="171450" y="1139190"/>
                  <a:pt x="180340" y="1151890"/>
                </a:cubicBezTo>
                <a:cubicBezTo>
                  <a:pt x="186690" y="1162050"/>
                  <a:pt x="189230" y="1169670"/>
                  <a:pt x="190500" y="1181100"/>
                </a:cubicBezTo>
                <a:cubicBezTo>
                  <a:pt x="191770" y="1197610"/>
                  <a:pt x="189230" y="1224280"/>
                  <a:pt x="180340" y="1240790"/>
                </a:cubicBezTo>
                <a:cubicBezTo>
                  <a:pt x="171450" y="1257300"/>
                  <a:pt x="149860" y="1275080"/>
                  <a:pt x="135890" y="1282700"/>
                </a:cubicBezTo>
                <a:cubicBezTo>
                  <a:pt x="125730" y="1287780"/>
                  <a:pt x="118110" y="1290320"/>
                  <a:pt x="106680" y="1290320"/>
                </a:cubicBezTo>
                <a:cubicBezTo>
                  <a:pt x="90170" y="1291590"/>
                  <a:pt x="63500" y="1287780"/>
                  <a:pt x="48260" y="1277620"/>
                </a:cubicBezTo>
                <a:cubicBezTo>
                  <a:pt x="31750" y="1267460"/>
                  <a:pt x="15240" y="1249680"/>
                  <a:pt x="8890" y="1231900"/>
                </a:cubicBezTo>
                <a:cubicBezTo>
                  <a:pt x="1270" y="1214120"/>
                  <a:pt x="0" y="1188720"/>
                  <a:pt x="5080" y="1170940"/>
                </a:cubicBezTo>
                <a:cubicBezTo>
                  <a:pt x="11430" y="1153160"/>
                  <a:pt x="38100" y="1120140"/>
                  <a:pt x="39370" y="1121410"/>
                </a:cubicBezTo>
                <a:cubicBezTo>
                  <a:pt x="40640" y="1121410"/>
                  <a:pt x="25400" y="1163320"/>
                  <a:pt x="21590" y="1162050"/>
                </a:cubicBezTo>
                <a:cubicBezTo>
                  <a:pt x="12700" y="1160780"/>
                  <a:pt x="17780" y="1013460"/>
                  <a:pt x="24130" y="960120"/>
                </a:cubicBezTo>
                <a:cubicBezTo>
                  <a:pt x="29210" y="924560"/>
                  <a:pt x="35560" y="901700"/>
                  <a:pt x="45720" y="871220"/>
                </a:cubicBezTo>
                <a:cubicBezTo>
                  <a:pt x="57150" y="838200"/>
                  <a:pt x="71120" y="802640"/>
                  <a:pt x="88900" y="767080"/>
                </a:cubicBezTo>
                <a:cubicBezTo>
                  <a:pt x="107950" y="727710"/>
                  <a:pt x="132080" y="688340"/>
                  <a:pt x="161290" y="646430"/>
                </a:cubicBezTo>
                <a:cubicBezTo>
                  <a:pt x="198120" y="595630"/>
                  <a:pt x="242570" y="535940"/>
                  <a:pt x="297180" y="483870"/>
                </a:cubicBezTo>
                <a:cubicBezTo>
                  <a:pt x="359410" y="424180"/>
                  <a:pt x="452120" y="374650"/>
                  <a:pt x="524510" y="313690"/>
                </a:cubicBezTo>
                <a:cubicBezTo>
                  <a:pt x="598170" y="251460"/>
                  <a:pt x="674370" y="160020"/>
                  <a:pt x="735330" y="115570"/>
                </a:cubicBezTo>
                <a:cubicBezTo>
                  <a:pt x="774700" y="86360"/>
                  <a:pt x="805180" y="71120"/>
                  <a:pt x="843280" y="54610"/>
                </a:cubicBezTo>
                <a:cubicBezTo>
                  <a:pt x="878840" y="39370"/>
                  <a:pt x="904240" y="26670"/>
                  <a:pt x="955040" y="19050"/>
                </a:cubicBezTo>
                <a:cubicBezTo>
                  <a:pt x="1054100" y="5080"/>
                  <a:pt x="1333500" y="0"/>
                  <a:pt x="1399540" y="30480"/>
                </a:cubicBezTo>
                <a:cubicBezTo>
                  <a:pt x="1423670" y="41910"/>
                  <a:pt x="1432560" y="59690"/>
                  <a:pt x="1438910" y="74930"/>
                </a:cubicBezTo>
                <a:cubicBezTo>
                  <a:pt x="1445260" y="87630"/>
                  <a:pt x="1446530" y="101600"/>
                  <a:pt x="1443990" y="115570"/>
                </a:cubicBezTo>
                <a:cubicBezTo>
                  <a:pt x="1441450" y="132080"/>
                  <a:pt x="1430020" y="156210"/>
                  <a:pt x="1416050" y="168910"/>
                </a:cubicBezTo>
                <a:cubicBezTo>
                  <a:pt x="1402080" y="180340"/>
                  <a:pt x="1360170" y="189230"/>
                  <a:pt x="1360170" y="18923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1"/>
          <p:cNvSpPr/>
          <p:nvPr/>
        </p:nvSpPr>
        <p:spPr>
          <a:xfrm>
            <a:off x="453391" y="6284595"/>
            <a:ext cx="120015" cy="124778"/>
          </a:xfrm>
          <a:custGeom>
            <a:rect b="b" l="l" r="r" t="t"/>
            <a:pathLst>
              <a:path extrusionOk="0" h="166370" w="160020">
                <a:moveTo>
                  <a:pt x="160020" y="57150"/>
                </a:moveTo>
                <a:cubicBezTo>
                  <a:pt x="156210" y="115570"/>
                  <a:pt x="135890" y="147320"/>
                  <a:pt x="115570" y="157480"/>
                </a:cubicBezTo>
                <a:cubicBezTo>
                  <a:pt x="93980" y="166370"/>
                  <a:pt x="57150" y="160020"/>
                  <a:pt x="38100" y="152400"/>
                </a:cubicBezTo>
                <a:cubicBezTo>
                  <a:pt x="25400" y="146050"/>
                  <a:pt x="16510" y="137160"/>
                  <a:pt x="10160" y="124460"/>
                </a:cubicBezTo>
                <a:cubicBezTo>
                  <a:pt x="2540" y="106680"/>
                  <a:pt x="0" y="67310"/>
                  <a:pt x="6350" y="48260"/>
                </a:cubicBezTo>
                <a:cubicBezTo>
                  <a:pt x="10160" y="34290"/>
                  <a:pt x="20320" y="24130"/>
                  <a:pt x="30480" y="16510"/>
                </a:cubicBezTo>
                <a:cubicBezTo>
                  <a:pt x="40640" y="8890"/>
                  <a:pt x="52070" y="1270"/>
                  <a:pt x="66040" y="0"/>
                </a:cubicBezTo>
                <a:cubicBezTo>
                  <a:pt x="86360" y="0"/>
                  <a:pt x="139700" y="22860"/>
                  <a:pt x="139700" y="2286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1"/>
          <p:cNvSpPr txBox="1"/>
          <p:nvPr/>
        </p:nvSpPr>
        <p:spPr>
          <a:xfrm>
            <a:off x="3917850" y="801975"/>
            <a:ext cx="10452300" cy="846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5500">
                <a:solidFill>
                  <a:srgbClr val="3B365F"/>
                </a:solidFill>
                <a:latin typeface="Times New Roman"/>
                <a:ea typeface="Times New Roman"/>
                <a:cs typeface="Times New Roman"/>
                <a:sym typeface="Times New Roman"/>
              </a:rPr>
              <a:t>Cox Model Obtained From Our Data</a:t>
            </a:r>
            <a:endParaRPr sz="400">
              <a:latin typeface="Times New Roman"/>
              <a:ea typeface="Times New Roman"/>
              <a:cs typeface="Times New Roman"/>
              <a:sym typeface="Times New Roman"/>
            </a:endParaRPr>
          </a:p>
        </p:txBody>
      </p:sp>
      <p:sp>
        <p:nvSpPr>
          <p:cNvPr id="186" name="Google Shape;186;p21"/>
          <p:cNvSpPr txBox="1"/>
          <p:nvPr/>
        </p:nvSpPr>
        <p:spPr>
          <a:xfrm>
            <a:off x="5355200" y="6594825"/>
            <a:ext cx="7731300" cy="1736100"/>
          </a:xfrm>
          <a:prstGeom prst="rect">
            <a:avLst/>
          </a:prstGeom>
          <a:noFill/>
          <a:ln>
            <a:noFill/>
          </a:ln>
        </p:spPr>
        <p:txBody>
          <a:bodyPr anchorCtr="0" anchor="t" bIns="91425" lIns="91425" spcFirstLastPara="1" rIns="91425" wrap="square" tIns="91425">
            <a:spAutoFit/>
          </a:bodyPr>
          <a:lstStyle/>
          <a:p>
            <a:pPr indent="-380936" lvl="0" marL="457200" rtl="0" algn="ctr">
              <a:lnSpc>
                <a:spcPct val="140016"/>
              </a:lnSpc>
              <a:spcBef>
                <a:spcPts val="0"/>
              </a:spcBef>
              <a:spcAft>
                <a:spcPts val="0"/>
              </a:spcAft>
              <a:buClr>
                <a:srgbClr val="3B365F"/>
              </a:buClr>
              <a:buSzPts val="2399"/>
              <a:buFont typeface="Times New Roman"/>
              <a:buChar char="●"/>
            </a:pPr>
            <a:r>
              <a:rPr lang="en-US" sz="3099">
                <a:solidFill>
                  <a:srgbClr val="3B365F"/>
                </a:solidFill>
                <a:latin typeface="Times New Roman"/>
                <a:ea typeface="Times New Roman"/>
                <a:cs typeface="Times New Roman"/>
                <a:sym typeface="Times New Roman"/>
              </a:rPr>
              <a:t>All the </a:t>
            </a:r>
            <a:r>
              <a:rPr lang="en-US" sz="3099">
                <a:solidFill>
                  <a:srgbClr val="3B365F"/>
                </a:solidFill>
                <a:latin typeface="Times New Roman"/>
                <a:ea typeface="Times New Roman"/>
                <a:cs typeface="Times New Roman"/>
                <a:sym typeface="Times New Roman"/>
              </a:rPr>
              <a:t>coefficients</a:t>
            </a:r>
            <a:r>
              <a:rPr lang="en-US" sz="3099">
                <a:solidFill>
                  <a:srgbClr val="3B365F"/>
                </a:solidFill>
                <a:latin typeface="Times New Roman"/>
                <a:ea typeface="Times New Roman"/>
                <a:cs typeface="Times New Roman"/>
                <a:sym typeface="Times New Roman"/>
              </a:rPr>
              <a:t> </a:t>
            </a:r>
            <a:r>
              <a:rPr lang="en-US" sz="3099">
                <a:solidFill>
                  <a:srgbClr val="3B365F"/>
                </a:solidFill>
                <a:latin typeface="Times New Roman"/>
                <a:ea typeface="Times New Roman"/>
                <a:cs typeface="Times New Roman"/>
                <a:sym typeface="Times New Roman"/>
              </a:rPr>
              <a:t>obtained</a:t>
            </a:r>
            <a:r>
              <a:rPr lang="en-US" sz="3099">
                <a:solidFill>
                  <a:srgbClr val="3B365F"/>
                </a:solidFill>
                <a:latin typeface="Times New Roman"/>
                <a:ea typeface="Times New Roman"/>
                <a:cs typeface="Times New Roman"/>
                <a:sym typeface="Times New Roman"/>
              </a:rPr>
              <a:t> are significant.</a:t>
            </a:r>
            <a:endParaRPr sz="3099">
              <a:solidFill>
                <a:srgbClr val="3B365F"/>
              </a:solidFill>
              <a:latin typeface="Times New Roman"/>
              <a:ea typeface="Times New Roman"/>
              <a:cs typeface="Times New Roman"/>
              <a:sym typeface="Times New Roman"/>
            </a:endParaRPr>
          </a:p>
          <a:p>
            <a:pPr indent="-380936" lvl="0" marL="457200" rtl="0" algn="ctr">
              <a:lnSpc>
                <a:spcPct val="140016"/>
              </a:lnSpc>
              <a:spcBef>
                <a:spcPts val="0"/>
              </a:spcBef>
              <a:spcAft>
                <a:spcPts val="0"/>
              </a:spcAft>
              <a:buClr>
                <a:srgbClr val="3B365F"/>
              </a:buClr>
              <a:buSzPts val="2399"/>
              <a:buFont typeface="Times New Roman"/>
              <a:buChar char="●"/>
            </a:pPr>
            <a:r>
              <a:rPr lang="en-US" sz="3099">
                <a:solidFill>
                  <a:srgbClr val="3B365F"/>
                </a:solidFill>
                <a:latin typeface="Times New Roman"/>
                <a:ea typeface="Times New Roman"/>
                <a:cs typeface="Times New Roman"/>
                <a:sym typeface="Times New Roman"/>
              </a:rPr>
              <a:t>Model is a good fit to data.</a:t>
            </a:r>
            <a:endParaRPr sz="3099">
              <a:solidFill>
                <a:srgbClr val="3B365F"/>
              </a:solidFill>
              <a:latin typeface="Times New Roman"/>
              <a:ea typeface="Times New Roman"/>
              <a:cs typeface="Times New Roman"/>
              <a:sym typeface="Times New Roman"/>
            </a:endParaRPr>
          </a:p>
          <a:p>
            <a:pPr indent="0" lvl="0" marL="0" rtl="0" algn="l">
              <a:lnSpc>
                <a:spcPct val="140016"/>
              </a:lnSpc>
              <a:spcBef>
                <a:spcPts val="0"/>
              </a:spcBef>
              <a:spcAft>
                <a:spcPts val="0"/>
              </a:spcAft>
              <a:buNone/>
            </a:pPr>
            <a:r>
              <a:t/>
            </a:r>
            <a:endParaRPr/>
          </a:p>
        </p:txBody>
      </p:sp>
      <p:sp>
        <p:nvSpPr>
          <p:cNvPr id="187" name="Google Shape;187;p21"/>
          <p:cNvSpPr txBox="1"/>
          <p:nvPr/>
        </p:nvSpPr>
        <p:spPr>
          <a:xfrm>
            <a:off x="4838700" y="8183950"/>
            <a:ext cx="8610600" cy="754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i="1" lang="en-US" sz="4900">
                <a:solidFill>
                  <a:srgbClr val="3B365F"/>
                </a:solidFill>
                <a:latin typeface="Times New Roman"/>
                <a:ea typeface="Times New Roman"/>
                <a:cs typeface="Times New Roman"/>
                <a:sym typeface="Times New Roman"/>
              </a:rPr>
              <a:t>But is it an “appropriate” fit ?</a:t>
            </a:r>
            <a:endParaRPr i="1" sz="100">
              <a:latin typeface="Times New Roman"/>
              <a:ea typeface="Times New Roman"/>
              <a:cs typeface="Times New Roman"/>
              <a:sym typeface="Times New Roman"/>
            </a:endParaRPr>
          </a:p>
        </p:txBody>
      </p:sp>
      <p:pic>
        <p:nvPicPr>
          <p:cNvPr id="188" name="Google Shape;188;p21"/>
          <p:cNvPicPr preferRelativeResize="0"/>
          <p:nvPr/>
        </p:nvPicPr>
        <p:blipFill>
          <a:blip r:embed="rId5">
            <a:alphaModFix/>
          </a:blip>
          <a:stretch>
            <a:fillRect/>
          </a:stretch>
        </p:blipFill>
        <p:spPr>
          <a:xfrm>
            <a:off x="3509137" y="2816000"/>
            <a:ext cx="11269749" cy="3593905"/>
          </a:xfrm>
          <a:prstGeom prst="rect">
            <a:avLst/>
          </a:prstGeom>
          <a:noFill/>
          <a:ln>
            <a:noFill/>
          </a:ln>
        </p:spPr>
      </p:pic>
      <p:sp>
        <p:nvSpPr>
          <p:cNvPr id="189" name="Google Shape;189;p21"/>
          <p:cNvSpPr/>
          <p:nvPr/>
        </p:nvSpPr>
        <p:spPr>
          <a:xfrm rot="10386361">
            <a:off x="-3027707" y="-855274"/>
            <a:ext cx="9741183" cy="10200192"/>
          </a:xfrm>
          <a:custGeom>
            <a:rect b="b" l="l" r="r" t="t"/>
            <a:pathLst>
              <a:path extrusionOk="0" h="10202966" w="9743832">
                <a:moveTo>
                  <a:pt x="0" y="0"/>
                </a:moveTo>
                <a:lnTo>
                  <a:pt x="9743832" y="0"/>
                </a:lnTo>
                <a:lnTo>
                  <a:pt x="9743832" y="10202966"/>
                </a:lnTo>
                <a:lnTo>
                  <a:pt x="0" y="10202966"/>
                </a:lnTo>
                <a:lnTo>
                  <a:pt x="0" y="0"/>
                </a:lnTo>
                <a:close/>
              </a:path>
            </a:pathLst>
          </a:custGeom>
          <a:blipFill rotWithShape="1">
            <a:blip r:embed="rId3">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7"/>
                                        </p:tgtEl>
                                        <p:attrNameLst>
                                          <p:attrName>style.visibility</p:attrName>
                                        </p:attrNameLst>
                                      </p:cBhvr>
                                      <p:to>
                                        <p:strVal val="visible"/>
                                      </p:to>
                                    </p:set>
                                    <p:anim calcmode="lin" valueType="num">
                                      <p:cBhvr additive="base">
                                        <p:cTn dur="1000"/>
                                        <p:tgtEl>
                                          <p:spTgt spid="18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193" name="Shape 193"/>
        <p:cNvGrpSpPr/>
        <p:nvPr/>
      </p:nvGrpSpPr>
      <p:grpSpPr>
        <a:xfrm>
          <a:off x="0" y="0"/>
          <a:ext cx="0" cy="0"/>
          <a:chOff x="0" y="0"/>
          <a:chExt cx="0" cy="0"/>
        </a:xfrm>
      </p:grpSpPr>
      <p:sp>
        <p:nvSpPr>
          <p:cNvPr id="194" name="Google Shape;194;p22"/>
          <p:cNvSpPr/>
          <p:nvPr/>
        </p:nvSpPr>
        <p:spPr>
          <a:xfrm>
            <a:off x="7380410" y="2958525"/>
            <a:ext cx="3527088" cy="4095749"/>
          </a:xfrm>
          <a:custGeom>
            <a:rect b="b" l="l" r="r" t="t"/>
            <a:pathLst>
              <a:path extrusionOk="0" h="6912656" w="6686423">
                <a:moveTo>
                  <a:pt x="0" y="0"/>
                </a:moveTo>
                <a:lnTo>
                  <a:pt x="6686424" y="0"/>
                </a:lnTo>
                <a:lnTo>
                  <a:pt x="6686424" y="6912656"/>
                </a:lnTo>
                <a:lnTo>
                  <a:pt x="0" y="6912656"/>
                </a:lnTo>
                <a:lnTo>
                  <a:pt x="0" y="0"/>
                </a:lnTo>
                <a:close/>
              </a:path>
            </a:pathLst>
          </a:custGeom>
          <a:blipFill rotWithShape="1">
            <a:blip r:embed="rId3">
              <a:alphaModFix/>
            </a:blip>
            <a:stretch>
              <a:fillRect b="0" l="0" r="0" t="0"/>
            </a:stretch>
          </a:blipFill>
          <a:ln>
            <a:noFill/>
          </a:ln>
        </p:spPr>
      </p:sp>
      <p:sp>
        <p:nvSpPr>
          <p:cNvPr id="195" name="Google Shape;195;p22"/>
          <p:cNvSpPr txBox="1"/>
          <p:nvPr/>
        </p:nvSpPr>
        <p:spPr>
          <a:xfrm>
            <a:off x="2347975" y="453500"/>
            <a:ext cx="13641900" cy="1000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6500">
                <a:solidFill>
                  <a:srgbClr val="3B365F"/>
                </a:solidFill>
                <a:latin typeface="Times New Roman"/>
                <a:ea typeface="Times New Roman"/>
                <a:cs typeface="Times New Roman"/>
                <a:sym typeface="Times New Roman"/>
              </a:rPr>
              <a:t>Assumptions Of Proportional Hazards</a:t>
            </a:r>
            <a:endParaRPr>
              <a:latin typeface="Times New Roman"/>
              <a:ea typeface="Times New Roman"/>
              <a:cs typeface="Times New Roman"/>
              <a:sym typeface="Times New Roman"/>
            </a:endParaRPr>
          </a:p>
        </p:txBody>
      </p:sp>
      <p:sp>
        <p:nvSpPr>
          <p:cNvPr id="196" name="Google Shape;196;p22"/>
          <p:cNvSpPr/>
          <p:nvPr/>
        </p:nvSpPr>
        <p:spPr>
          <a:xfrm>
            <a:off x="397403" y="2372647"/>
            <a:ext cx="5321400" cy="5137200"/>
          </a:xfrm>
          <a:prstGeom prst="ellipse">
            <a:avLst/>
          </a:prstGeom>
          <a:no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97" name="Google Shape;197;p22"/>
          <p:cNvSpPr txBox="1"/>
          <p:nvPr/>
        </p:nvSpPr>
        <p:spPr>
          <a:xfrm>
            <a:off x="1504550" y="3574950"/>
            <a:ext cx="3107100" cy="2862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2700" u="none" cap="none" strike="noStrike">
                <a:solidFill>
                  <a:srgbClr val="000000"/>
                </a:solidFill>
                <a:latin typeface="Times New Roman"/>
                <a:ea typeface="Times New Roman"/>
                <a:cs typeface="Times New Roman"/>
                <a:sym typeface="Times New Roman"/>
              </a:rPr>
              <a:t>Patient 1:</a:t>
            </a:r>
            <a:endParaRPr sz="2700">
              <a:latin typeface="Times New Roman"/>
              <a:ea typeface="Times New Roman"/>
              <a:cs typeface="Times New Roman"/>
              <a:sym typeface="Times New Roman"/>
            </a:endParaRPr>
          </a:p>
          <a:p>
            <a:pPr indent="0" lvl="0" marL="0" marR="0" rtl="0" algn="ctr">
              <a:spcBef>
                <a:spcPts val="0"/>
              </a:spcBef>
              <a:spcAft>
                <a:spcPts val="0"/>
              </a:spcAft>
              <a:buNone/>
            </a:pPr>
            <a:r>
              <a:t/>
            </a:r>
            <a:endParaRPr i="0" sz="2700" u="none" cap="none" strike="noStrike">
              <a:solidFill>
                <a:srgbClr val="000000"/>
              </a:solidFill>
              <a:latin typeface="Times New Roman"/>
              <a:ea typeface="Times New Roman"/>
              <a:cs typeface="Times New Roman"/>
              <a:sym typeface="Times New Roman"/>
            </a:endParaRPr>
          </a:p>
          <a:p>
            <a:pPr indent="0" lvl="0" marL="0" marR="0" rtl="0" algn="ctr">
              <a:spcBef>
                <a:spcPts val="0"/>
              </a:spcBef>
              <a:spcAft>
                <a:spcPts val="0"/>
              </a:spcAft>
              <a:buNone/>
            </a:pPr>
            <a:r>
              <a:rPr i="0" lang="en-US" sz="2700" u="none" cap="none" strike="noStrike">
                <a:solidFill>
                  <a:srgbClr val="000000"/>
                </a:solidFill>
                <a:latin typeface="Times New Roman"/>
                <a:ea typeface="Times New Roman"/>
                <a:cs typeface="Times New Roman"/>
                <a:sym typeface="Times New Roman"/>
              </a:rPr>
              <a:t>Sex: Female</a:t>
            </a:r>
            <a:endParaRPr sz="2700">
              <a:latin typeface="Times New Roman"/>
              <a:ea typeface="Times New Roman"/>
              <a:cs typeface="Times New Roman"/>
              <a:sym typeface="Times New Roman"/>
            </a:endParaRPr>
          </a:p>
          <a:p>
            <a:pPr indent="0" lvl="0" marL="0" marR="0" rtl="0" algn="ctr">
              <a:spcBef>
                <a:spcPts val="0"/>
              </a:spcBef>
              <a:spcAft>
                <a:spcPts val="0"/>
              </a:spcAft>
              <a:buNone/>
            </a:pPr>
            <a:r>
              <a:rPr i="0" lang="en-US" sz="2700" u="none" cap="none" strike="noStrike">
                <a:solidFill>
                  <a:srgbClr val="000000"/>
                </a:solidFill>
                <a:latin typeface="Times New Roman"/>
                <a:ea typeface="Times New Roman"/>
                <a:cs typeface="Times New Roman"/>
                <a:sym typeface="Times New Roman"/>
              </a:rPr>
              <a:t>Chemo: Treated</a:t>
            </a:r>
            <a:endParaRPr sz="2700">
              <a:latin typeface="Times New Roman"/>
              <a:ea typeface="Times New Roman"/>
              <a:cs typeface="Times New Roman"/>
              <a:sym typeface="Times New Roman"/>
            </a:endParaRPr>
          </a:p>
          <a:p>
            <a:pPr indent="0" lvl="0" marL="0" marR="0" rtl="0" algn="ctr">
              <a:spcBef>
                <a:spcPts val="0"/>
              </a:spcBef>
              <a:spcAft>
                <a:spcPts val="0"/>
              </a:spcAft>
              <a:buNone/>
            </a:pPr>
            <a:r>
              <a:rPr i="0" lang="en-US" sz="2700" u="none" cap="none" strike="noStrike">
                <a:solidFill>
                  <a:srgbClr val="000000"/>
                </a:solidFill>
                <a:latin typeface="Times New Roman"/>
                <a:ea typeface="Times New Roman"/>
                <a:cs typeface="Times New Roman"/>
                <a:sym typeface="Times New Roman"/>
              </a:rPr>
              <a:t>Duke’s stage: A-B</a:t>
            </a:r>
            <a:endParaRPr sz="2700">
              <a:latin typeface="Times New Roman"/>
              <a:ea typeface="Times New Roman"/>
              <a:cs typeface="Times New Roman"/>
              <a:sym typeface="Times New Roman"/>
            </a:endParaRPr>
          </a:p>
          <a:p>
            <a:pPr indent="0" lvl="0" marL="0" marR="0" rtl="0" algn="ctr">
              <a:spcBef>
                <a:spcPts val="0"/>
              </a:spcBef>
              <a:spcAft>
                <a:spcPts val="0"/>
              </a:spcAft>
              <a:buNone/>
            </a:pPr>
            <a:r>
              <a:rPr i="0" lang="en-US" sz="2700" u="none" cap="none" strike="noStrike">
                <a:solidFill>
                  <a:srgbClr val="000000"/>
                </a:solidFill>
                <a:latin typeface="Times New Roman"/>
                <a:ea typeface="Times New Roman"/>
                <a:cs typeface="Times New Roman"/>
                <a:sym typeface="Times New Roman"/>
              </a:rPr>
              <a:t>Charlson stage: 1-2</a:t>
            </a:r>
            <a:endParaRPr sz="2700">
              <a:latin typeface="Times New Roman"/>
              <a:ea typeface="Times New Roman"/>
              <a:cs typeface="Times New Roman"/>
              <a:sym typeface="Times New Roman"/>
            </a:endParaRPr>
          </a:p>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cxnSp>
        <p:nvCxnSpPr>
          <p:cNvPr id="198" name="Google Shape;198;p22"/>
          <p:cNvCxnSpPr>
            <a:stCxn id="196" idx="4"/>
          </p:cNvCxnSpPr>
          <p:nvPr/>
        </p:nvCxnSpPr>
        <p:spPr>
          <a:xfrm>
            <a:off x="3058103" y="7509847"/>
            <a:ext cx="20100" cy="1100400"/>
          </a:xfrm>
          <a:prstGeom prst="straightConnector1">
            <a:avLst/>
          </a:prstGeom>
          <a:noFill/>
          <a:ln cap="flat" cmpd="sng" w="12700">
            <a:solidFill>
              <a:srgbClr val="000000"/>
            </a:solidFill>
            <a:prstDash val="solid"/>
            <a:miter lim="800000"/>
            <a:headEnd len="sm" w="sm" type="none"/>
            <a:tailEnd len="med" w="med" type="triangle"/>
          </a:ln>
        </p:spPr>
      </p:cxnSp>
      <p:sp>
        <p:nvSpPr>
          <p:cNvPr id="199" name="Google Shape;199;p22"/>
          <p:cNvSpPr txBox="1"/>
          <p:nvPr/>
        </p:nvSpPr>
        <p:spPr>
          <a:xfrm>
            <a:off x="2315152" y="8725351"/>
            <a:ext cx="1506000" cy="842400"/>
          </a:xfrm>
          <a:prstGeom prst="rect">
            <a:avLst/>
          </a:prstGeom>
          <a:blipFill rotWithShape="1">
            <a:blip r:embed="rId4">
              <a:alphaModFix/>
            </a:blip>
            <a:stretch>
              <a:fillRect b="-17238"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800" u="none" cap="none" strike="noStrike">
                <a:latin typeface="Calibri"/>
                <a:ea typeface="Calibri"/>
                <a:cs typeface="Calibri"/>
                <a:sym typeface="Calibri"/>
              </a:rPr>
              <a:t> </a:t>
            </a:r>
            <a:endParaRPr/>
          </a:p>
        </p:txBody>
      </p:sp>
      <p:sp>
        <p:nvSpPr>
          <p:cNvPr id="200" name="Google Shape;200;p22"/>
          <p:cNvSpPr/>
          <p:nvPr/>
        </p:nvSpPr>
        <p:spPr>
          <a:xfrm>
            <a:off x="4104599" y="8793150"/>
            <a:ext cx="3079800" cy="826200"/>
          </a:xfrm>
          <a:prstGeom prst="rightArrow">
            <a:avLst>
              <a:gd fmla="val 50000" name="adj1"/>
              <a:gd fmla="val 50000" name="adj2"/>
            </a:avLst>
          </a:prstGeom>
          <a:solidFill>
            <a:srgbClr val="4472C4"/>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01" name="Google Shape;201;p22"/>
          <p:cNvSpPr/>
          <p:nvPr/>
        </p:nvSpPr>
        <p:spPr>
          <a:xfrm>
            <a:off x="12401550" y="2377350"/>
            <a:ext cx="5321400" cy="5258100"/>
          </a:xfrm>
          <a:prstGeom prst="ellipse">
            <a:avLst/>
          </a:prstGeom>
          <a:no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02" name="Google Shape;202;p22"/>
          <p:cNvSpPr txBox="1"/>
          <p:nvPr/>
        </p:nvSpPr>
        <p:spPr>
          <a:xfrm>
            <a:off x="13522356" y="3574948"/>
            <a:ext cx="3079800" cy="2862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2700" u="none" cap="none" strike="noStrike">
                <a:solidFill>
                  <a:srgbClr val="000000"/>
                </a:solidFill>
                <a:latin typeface="Times New Roman"/>
                <a:ea typeface="Times New Roman"/>
                <a:cs typeface="Times New Roman"/>
                <a:sym typeface="Times New Roman"/>
              </a:rPr>
              <a:t>Patient 2:</a:t>
            </a:r>
            <a:endParaRPr sz="2700">
              <a:latin typeface="Times New Roman"/>
              <a:ea typeface="Times New Roman"/>
              <a:cs typeface="Times New Roman"/>
              <a:sym typeface="Times New Roman"/>
            </a:endParaRPr>
          </a:p>
          <a:p>
            <a:pPr indent="0" lvl="0" marL="0" marR="0" rtl="0" algn="ctr">
              <a:spcBef>
                <a:spcPts val="0"/>
              </a:spcBef>
              <a:spcAft>
                <a:spcPts val="0"/>
              </a:spcAft>
              <a:buNone/>
            </a:pPr>
            <a:r>
              <a:t/>
            </a:r>
            <a:endParaRPr i="0" sz="2700" u="none" cap="none" strike="noStrike">
              <a:solidFill>
                <a:srgbClr val="000000"/>
              </a:solidFill>
              <a:latin typeface="Times New Roman"/>
              <a:ea typeface="Times New Roman"/>
              <a:cs typeface="Times New Roman"/>
              <a:sym typeface="Times New Roman"/>
            </a:endParaRPr>
          </a:p>
          <a:p>
            <a:pPr indent="0" lvl="0" marL="0" marR="0" rtl="0" algn="ctr">
              <a:spcBef>
                <a:spcPts val="0"/>
              </a:spcBef>
              <a:spcAft>
                <a:spcPts val="0"/>
              </a:spcAft>
              <a:buNone/>
            </a:pPr>
            <a:r>
              <a:rPr i="0" lang="en-US" sz="2700" u="none" cap="none" strike="noStrike">
                <a:solidFill>
                  <a:srgbClr val="000000"/>
                </a:solidFill>
                <a:latin typeface="Times New Roman"/>
                <a:ea typeface="Times New Roman"/>
                <a:cs typeface="Times New Roman"/>
                <a:sym typeface="Times New Roman"/>
              </a:rPr>
              <a:t>Sex: Male</a:t>
            </a:r>
            <a:endParaRPr sz="2700">
              <a:latin typeface="Times New Roman"/>
              <a:ea typeface="Times New Roman"/>
              <a:cs typeface="Times New Roman"/>
              <a:sym typeface="Times New Roman"/>
            </a:endParaRPr>
          </a:p>
          <a:p>
            <a:pPr indent="0" lvl="0" marL="0" marR="0" rtl="0" algn="ctr">
              <a:spcBef>
                <a:spcPts val="0"/>
              </a:spcBef>
              <a:spcAft>
                <a:spcPts val="0"/>
              </a:spcAft>
              <a:buNone/>
            </a:pPr>
            <a:r>
              <a:rPr i="0" lang="en-US" sz="2700" u="none" cap="none" strike="noStrike">
                <a:solidFill>
                  <a:srgbClr val="000000"/>
                </a:solidFill>
                <a:latin typeface="Times New Roman"/>
                <a:ea typeface="Times New Roman"/>
                <a:cs typeface="Times New Roman"/>
                <a:sym typeface="Times New Roman"/>
              </a:rPr>
              <a:t>Chemo: Not treated</a:t>
            </a:r>
            <a:endParaRPr sz="2700">
              <a:latin typeface="Times New Roman"/>
              <a:ea typeface="Times New Roman"/>
              <a:cs typeface="Times New Roman"/>
              <a:sym typeface="Times New Roman"/>
            </a:endParaRPr>
          </a:p>
          <a:p>
            <a:pPr indent="0" lvl="0" marL="0" marR="0" rtl="0" algn="ctr">
              <a:spcBef>
                <a:spcPts val="0"/>
              </a:spcBef>
              <a:spcAft>
                <a:spcPts val="0"/>
              </a:spcAft>
              <a:buNone/>
            </a:pPr>
            <a:r>
              <a:rPr i="0" lang="en-US" sz="2700" u="none" cap="none" strike="noStrike">
                <a:solidFill>
                  <a:srgbClr val="000000"/>
                </a:solidFill>
                <a:latin typeface="Times New Roman"/>
                <a:ea typeface="Times New Roman"/>
                <a:cs typeface="Times New Roman"/>
                <a:sym typeface="Times New Roman"/>
              </a:rPr>
              <a:t>Duke’s stage: C</a:t>
            </a:r>
            <a:endParaRPr sz="2700">
              <a:latin typeface="Times New Roman"/>
              <a:ea typeface="Times New Roman"/>
              <a:cs typeface="Times New Roman"/>
              <a:sym typeface="Times New Roman"/>
            </a:endParaRPr>
          </a:p>
          <a:p>
            <a:pPr indent="0" lvl="0" marL="0" marR="0" rtl="0" algn="ctr">
              <a:spcBef>
                <a:spcPts val="0"/>
              </a:spcBef>
              <a:spcAft>
                <a:spcPts val="0"/>
              </a:spcAft>
              <a:buNone/>
            </a:pPr>
            <a:r>
              <a:rPr i="0" lang="en-US" sz="2700" u="none" cap="none" strike="noStrike">
                <a:solidFill>
                  <a:srgbClr val="000000"/>
                </a:solidFill>
                <a:latin typeface="Times New Roman"/>
                <a:ea typeface="Times New Roman"/>
                <a:cs typeface="Times New Roman"/>
                <a:sym typeface="Times New Roman"/>
              </a:rPr>
              <a:t>Charlson stage: 3</a:t>
            </a:r>
            <a:endParaRPr sz="2700">
              <a:latin typeface="Times New Roman"/>
              <a:ea typeface="Times New Roman"/>
              <a:cs typeface="Times New Roman"/>
              <a:sym typeface="Times New Roman"/>
            </a:endParaRPr>
          </a:p>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cxnSp>
        <p:nvCxnSpPr>
          <p:cNvPr id="203" name="Google Shape;203;p22"/>
          <p:cNvCxnSpPr/>
          <p:nvPr/>
        </p:nvCxnSpPr>
        <p:spPr>
          <a:xfrm>
            <a:off x="15253528" y="7635448"/>
            <a:ext cx="18000" cy="1089900"/>
          </a:xfrm>
          <a:prstGeom prst="straightConnector1">
            <a:avLst/>
          </a:prstGeom>
          <a:noFill/>
          <a:ln cap="flat" cmpd="sng" w="12700">
            <a:solidFill>
              <a:srgbClr val="000000"/>
            </a:solidFill>
            <a:prstDash val="solid"/>
            <a:miter lim="800000"/>
            <a:headEnd len="sm" w="sm" type="none"/>
            <a:tailEnd len="med" w="med" type="triangle"/>
          </a:ln>
        </p:spPr>
      </p:cxnSp>
      <p:sp>
        <p:nvSpPr>
          <p:cNvPr id="204" name="Google Shape;204;p22"/>
          <p:cNvSpPr txBox="1"/>
          <p:nvPr/>
        </p:nvSpPr>
        <p:spPr>
          <a:xfrm>
            <a:off x="14509525" y="8725350"/>
            <a:ext cx="1770900" cy="961800"/>
          </a:xfrm>
          <a:prstGeom prst="rect">
            <a:avLst/>
          </a:prstGeom>
          <a:blipFill rotWithShape="1">
            <a:blip r:embed="rId5">
              <a:alphaModFix/>
            </a:blip>
            <a:stretch>
              <a:fillRect b="-12899"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05" name="Google Shape;205;p22"/>
          <p:cNvSpPr/>
          <p:nvPr/>
        </p:nvSpPr>
        <p:spPr>
          <a:xfrm rot="10800000">
            <a:off x="10625400" y="8725350"/>
            <a:ext cx="3204900" cy="842400"/>
          </a:xfrm>
          <a:prstGeom prst="rightArrow">
            <a:avLst>
              <a:gd fmla="val 50000" name="adj1"/>
              <a:gd fmla="val 50000" name="adj2"/>
            </a:avLst>
          </a:prstGeom>
          <a:solidFill>
            <a:srgbClr val="4472C4"/>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06" name="Google Shape;206;p22"/>
          <p:cNvSpPr txBox="1"/>
          <p:nvPr/>
        </p:nvSpPr>
        <p:spPr>
          <a:xfrm>
            <a:off x="7969675" y="8289700"/>
            <a:ext cx="2398500" cy="1407000"/>
          </a:xfrm>
          <a:prstGeom prst="rect">
            <a:avLst/>
          </a:prstGeom>
          <a:blipFill rotWithShape="1">
            <a:blip r:embed="rId6">
              <a:alphaModFix/>
            </a:blip>
            <a:stretch>
              <a:fillRect b="-17018" l="-6329" r="-1259" t="-424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07" name="Google Shape;207;p22"/>
          <p:cNvSpPr/>
          <p:nvPr/>
        </p:nvSpPr>
        <p:spPr>
          <a:xfrm rot="3415961">
            <a:off x="15348652" y="-5437332"/>
            <a:ext cx="8080811" cy="8029692"/>
          </a:xfrm>
          <a:custGeom>
            <a:rect b="b" l="l" r="r" t="t"/>
            <a:pathLst>
              <a:path extrusionOk="0" h="10202966" w="9743832">
                <a:moveTo>
                  <a:pt x="0" y="0"/>
                </a:moveTo>
                <a:lnTo>
                  <a:pt x="9743832" y="0"/>
                </a:lnTo>
                <a:lnTo>
                  <a:pt x="9743832" y="10202966"/>
                </a:lnTo>
                <a:lnTo>
                  <a:pt x="0" y="10202966"/>
                </a:lnTo>
                <a:lnTo>
                  <a:pt x="0" y="0"/>
                </a:lnTo>
                <a:close/>
              </a:path>
            </a:pathLst>
          </a:custGeom>
          <a:blipFill rotWithShape="1">
            <a:blip r:embed="rId7">
              <a:alphaModFix/>
            </a:blip>
            <a:stretch>
              <a:fillRect b="0" l="0" r="0" t="0"/>
            </a:stretch>
          </a:blipFill>
          <a:ln>
            <a:noFill/>
          </a:ln>
        </p:spPr>
      </p:sp>
      <p:sp>
        <p:nvSpPr>
          <p:cNvPr id="208" name="Google Shape;208;p22"/>
          <p:cNvSpPr/>
          <p:nvPr/>
        </p:nvSpPr>
        <p:spPr>
          <a:xfrm rot="-3520667">
            <a:off x="-5805401" y="-2730407"/>
            <a:ext cx="8012858" cy="7025429"/>
          </a:xfrm>
          <a:custGeom>
            <a:rect b="b" l="l" r="r" t="t"/>
            <a:pathLst>
              <a:path extrusionOk="0" h="10202966" w="9743832">
                <a:moveTo>
                  <a:pt x="0" y="0"/>
                </a:moveTo>
                <a:lnTo>
                  <a:pt x="9743832" y="0"/>
                </a:lnTo>
                <a:lnTo>
                  <a:pt x="9743832" y="10202966"/>
                </a:lnTo>
                <a:lnTo>
                  <a:pt x="0" y="10202966"/>
                </a:lnTo>
                <a:lnTo>
                  <a:pt x="0" y="0"/>
                </a:lnTo>
                <a:close/>
              </a:path>
            </a:pathLst>
          </a:custGeom>
          <a:blipFill rotWithShape="1">
            <a:blip r:embed="rId7">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212" name="Shape 212"/>
        <p:cNvGrpSpPr/>
        <p:nvPr/>
      </p:nvGrpSpPr>
      <p:grpSpPr>
        <a:xfrm>
          <a:off x="0" y="0"/>
          <a:ext cx="0" cy="0"/>
          <a:chOff x="0" y="0"/>
          <a:chExt cx="0" cy="0"/>
        </a:xfrm>
      </p:grpSpPr>
      <p:sp>
        <p:nvSpPr>
          <p:cNvPr id="213" name="Google Shape;213;p23"/>
          <p:cNvSpPr txBox="1"/>
          <p:nvPr/>
        </p:nvSpPr>
        <p:spPr>
          <a:xfrm>
            <a:off x="685800" y="368525"/>
            <a:ext cx="16916400" cy="1000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6500">
                <a:solidFill>
                  <a:srgbClr val="3B365F"/>
                </a:solidFill>
                <a:latin typeface="Times New Roman"/>
                <a:ea typeface="Times New Roman"/>
                <a:cs typeface="Times New Roman"/>
                <a:sym typeface="Times New Roman"/>
              </a:rPr>
              <a:t>Graphical Visualizations of Hazard Functions</a:t>
            </a:r>
            <a:endParaRPr sz="400">
              <a:latin typeface="Times New Roman"/>
              <a:ea typeface="Times New Roman"/>
              <a:cs typeface="Times New Roman"/>
              <a:sym typeface="Times New Roman"/>
            </a:endParaRPr>
          </a:p>
        </p:txBody>
      </p:sp>
      <p:pic>
        <p:nvPicPr>
          <p:cNvPr id="214" name="Google Shape;214;p23"/>
          <p:cNvPicPr preferRelativeResize="0"/>
          <p:nvPr/>
        </p:nvPicPr>
        <p:blipFill rotWithShape="1">
          <a:blip r:embed="rId3">
            <a:alphaModFix/>
          </a:blip>
          <a:srcRect b="0" l="0" r="0" t="0"/>
          <a:stretch/>
        </p:blipFill>
        <p:spPr>
          <a:xfrm>
            <a:off x="973200" y="1651300"/>
            <a:ext cx="11898077" cy="8292251"/>
          </a:xfrm>
          <a:prstGeom prst="rect">
            <a:avLst/>
          </a:prstGeom>
          <a:noFill/>
          <a:ln>
            <a:noFill/>
          </a:ln>
        </p:spPr>
      </p:pic>
      <p:sp>
        <p:nvSpPr>
          <p:cNvPr id="215" name="Google Shape;215;p23"/>
          <p:cNvSpPr txBox="1"/>
          <p:nvPr/>
        </p:nvSpPr>
        <p:spPr>
          <a:xfrm>
            <a:off x="13016975" y="2141100"/>
            <a:ext cx="5109900" cy="6004800"/>
          </a:xfrm>
          <a:prstGeom prst="rect">
            <a:avLst/>
          </a:prstGeom>
          <a:noFill/>
          <a:ln>
            <a:noFill/>
          </a:ln>
        </p:spPr>
        <p:txBody>
          <a:bodyPr anchorCtr="0" anchor="t" bIns="91425" lIns="91425" spcFirstLastPara="1" rIns="91425" wrap="square" tIns="91425">
            <a:spAutoFit/>
          </a:bodyPr>
          <a:lstStyle/>
          <a:p>
            <a:pPr indent="-425386" lvl="0" marL="457200" rtl="0" algn="l">
              <a:lnSpc>
                <a:spcPct val="140016"/>
              </a:lnSpc>
              <a:spcBef>
                <a:spcPts val="0"/>
              </a:spcBef>
              <a:spcAft>
                <a:spcPts val="0"/>
              </a:spcAft>
              <a:buClr>
                <a:srgbClr val="3B365F"/>
              </a:buClr>
              <a:buSzPts val="3099"/>
              <a:buFont typeface="Times New Roman"/>
              <a:buChar char="●"/>
            </a:pPr>
            <a:r>
              <a:rPr lang="en-US" sz="3099">
                <a:solidFill>
                  <a:srgbClr val="3B365F"/>
                </a:solidFill>
                <a:latin typeface="Times New Roman"/>
                <a:ea typeface="Times New Roman"/>
                <a:cs typeface="Times New Roman"/>
                <a:sym typeface="Times New Roman"/>
              </a:rPr>
              <a:t>We observe crossing hazards are present for almost all of the covariates.</a:t>
            </a:r>
            <a:endParaRPr sz="3099">
              <a:solidFill>
                <a:srgbClr val="3B365F"/>
              </a:solidFill>
              <a:latin typeface="Times New Roman"/>
              <a:ea typeface="Times New Roman"/>
              <a:cs typeface="Times New Roman"/>
              <a:sym typeface="Times New Roman"/>
            </a:endParaRPr>
          </a:p>
          <a:p>
            <a:pPr indent="0" lvl="0" marL="0" rtl="0" algn="l">
              <a:lnSpc>
                <a:spcPct val="140016"/>
              </a:lnSpc>
              <a:spcBef>
                <a:spcPts val="0"/>
              </a:spcBef>
              <a:spcAft>
                <a:spcPts val="0"/>
              </a:spcAft>
              <a:buNone/>
            </a:pPr>
            <a:r>
              <a:t/>
            </a:r>
            <a:endParaRPr sz="3099">
              <a:solidFill>
                <a:srgbClr val="3B365F"/>
              </a:solidFill>
              <a:latin typeface="Times New Roman"/>
              <a:ea typeface="Times New Roman"/>
              <a:cs typeface="Times New Roman"/>
              <a:sym typeface="Times New Roman"/>
            </a:endParaRPr>
          </a:p>
          <a:p>
            <a:pPr indent="-425386" lvl="0" marL="457200" rtl="0" algn="l">
              <a:lnSpc>
                <a:spcPct val="140016"/>
              </a:lnSpc>
              <a:spcBef>
                <a:spcPts val="0"/>
              </a:spcBef>
              <a:spcAft>
                <a:spcPts val="0"/>
              </a:spcAft>
              <a:buClr>
                <a:srgbClr val="3B365F"/>
              </a:buClr>
              <a:buSzPts val="3099"/>
              <a:buFont typeface="Times New Roman"/>
              <a:buChar char="●"/>
            </a:pPr>
            <a:r>
              <a:rPr lang="en-US" sz="3099">
                <a:solidFill>
                  <a:srgbClr val="3B365F"/>
                </a:solidFill>
                <a:latin typeface="Times New Roman"/>
                <a:ea typeface="Times New Roman"/>
                <a:cs typeface="Times New Roman"/>
                <a:sym typeface="Times New Roman"/>
              </a:rPr>
              <a:t>Suspecting non-proportional hazards.</a:t>
            </a:r>
            <a:endParaRPr sz="3099">
              <a:solidFill>
                <a:srgbClr val="3B365F"/>
              </a:solidFill>
              <a:latin typeface="Times New Roman"/>
              <a:ea typeface="Times New Roman"/>
              <a:cs typeface="Times New Roman"/>
              <a:sym typeface="Times New Roman"/>
            </a:endParaRPr>
          </a:p>
          <a:p>
            <a:pPr indent="0" lvl="0" marL="0" rtl="0" algn="l">
              <a:lnSpc>
                <a:spcPct val="140016"/>
              </a:lnSpc>
              <a:spcBef>
                <a:spcPts val="0"/>
              </a:spcBef>
              <a:spcAft>
                <a:spcPts val="0"/>
              </a:spcAft>
              <a:buNone/>
            </a:pPr>
            <a:r>
              <a:t/>
            </a:r>
            <a:endParaRPr sz="3099">
              <a:solidFill>
                <a:srgbClr val="3B365F"/>
              </a:solidFill>
              <a:latin typeface="Times New Roman"/>
              <a:ea typeface="Times New Roman"/>
              <a:cs typeface="Times New Roman"/>
              <a:sym typeface="Times New Roman"/>
            </a:endParaRPr>
          </a:p>
          <a:p>
            <a:pPr indent="-425386" lvl="0" marL="457200" rtl="0" algn="l">
              <a:lnSpc>
                <a:spcPct val="140016"/>
              </a:lnSpc>
              <a:spcBef>
                <a:spcPts val="0"/>
              </a:spcBef>
              <a:spcAft>
                <a:spcPts val="0"/>
              </a:spcAft>
              <a:buClr>
                <a:srgbClr val="3B365F"/>
              </a:buClr>
              <a:buSzPts val="3099"/>
              <a:buFont typeface="Times New Roman"/>
              <a:buChar char="●"/>
            </a:pPr>
            <a:r>
              <a:rPr lang="en-US" sz="3099">
                <a:solidFill>
                  <a:srgbClr val="3B365F"/>
                </a:solidFill>
                <a:latin typeface="Times New Roman"/>
                <a:ea typeface="Times New Roman"/>
                <a:cs typeface="Times New Roman"/>
                <a:sym typeface="Times New Roman"/>
              </a:rPr>
              <a:t>Confirmation with hypothesis test required.</a:t>
            </a:r>
            <a:endParaRPr sz="3099">
              <a:solidFill>
                <a:srgbClr val="3B365F"/>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219" name="Shape 219"/>
        <p:cNvGrpSpPr/>
        <p:nvPr/>
      </p:nvGrpSpPr>
      <p:grpSpPr>
        <a:xfrm>
          <a:off x="0" y="0"/>
          <a:ext cx="0" cy="0"/>
          <a:chOff x="0" y="0"/>
          <a:chExt cx="0" cy="0"/>
        </a:xfrm>
      </p:grpSpPr>
      <p:sp>
        <p:nvSpPr>
          <p:cNvPr id="220" name="Google Shape;220;p24"/>
          <p:cNvSpPr/>
          <p:nvPr/>
        </p:nvSpPr>
        <p:spPr>
          <a:xfrm flipH="1" rot="-2148315">
            <a:off x="9721921" y="3211166"/>
            <a:ext cx="14388676" cy="9008056"/>
          </a:xfrm>
          <a:custGeom>
            <a:rect b="b" l="l" r="r" t="t"/>
            <a:pathLst>
              <a:path extrusionOk="0" h="9070719" w="14451223">
                <a:moveTo>
                  <a:pt x="14451224" y="0"/>
                </a:moveTo>
                <a:lnTo>
                  <a:pt x="0" y="0"/>
                </a:lnTo>
                <a:lnTo>
                  <a:pt x="0" y="9070718"/>
                </a:lnTo>
                <a:lnTo>
                  <a:pt x="14451224" y="9070718"/>
                </a:lnTo>
                <a:lnTo>
                  <a:pt x="14451224" y="0"/>
                </a:lnTo>
                <a:close/>
              </a:path>
            </a:pathLst>
          </a:custGeom>
          <a:blipFill rotWithShape="1">
            <a:blip r:embed="rId3">
              <a:alphaModFix/>
            </a:blip>
            <a:stretch>
              <a:fillRect b="0" l="0" r="0" t="0"/>
            </a:stretch>
          </a:blipFill>
          <a:ln>
            <a:noFill/>
          </a:ln>
        </p:spPr>
      </p:sp>
      <p:sp>
        <p:nvSpPr>
          <p:cNvPr id="221" name="Google Shape;221;p24"/>
          <p:cNvSpPr txBox="1"/>
          <p:nvPr/>
        </p:nvSpPr>
        <p:spPr>
          <a:xfrm>
            <a:off x="317300" y="742625"/>
            <a:ext cx="9342000" cy="985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6400">
                <a:solidFill>
                  <a:srgbClr val="3B365F"/>
                </a:solidFill>
                <a:latin typeface="Times New Roman"/>
                <a:ea typeface="Times New Roman"/>
                <a:cs typeface="Times New Roman"/>
                <a:sym typeface="Times New Roman"/>
              </a:rPr>
              <a:t>Schoenfeld Residuals Test</a:t>
            </a:r>
            <a:endParaRPr sz="1300">
              <a:latin typeface="Times New Roman"/>
              <a:ea typeface="Times New Roman"/>
              <a:cs typeface="Times New Roman"/>
              <a:sym typeface="Times New Roman"/>
            </a:endParaRPr>
          </a:p>
        </p:txBody>
      </p:sp>
      <p:pic>
        <p:nvPicPr>
          <p:cNvPr id="222" name="Google Shape;222;p24"/>
          <p:cNvPicPr preferRelativeResize="0"/>
          <p:nvPr/>
        </p:nvPicPr>
        <p:blipFill>
          <a:blip r:embed="rId4">
            <a:alphaModFix/>
          </a:blip>
          <a:stretch>
            <a:fillRect/>
          </a:stretch>
        </p:blipFill>
        <p:spPr>
          <a:xfrm>
            <a:off x="994100" y="6476775"/>
            <a:ext cx="7988399" cy="3429000"/>
          </a:xfrm>
          <a:prstGeom prst="rect">
            <a:avLst/>
          </a:prstGeom>
          <a:noFill/>
          <a:ln>
            <a:noFill/>
          </a:ln>
        </p:spPr>
      </p:pic>
      <p:sp>
        <p:nvSpPr>
          <p:cNvPr id="223" name="Google Shape;223;p24"/>
          <p:cNvSpPr txBox="1"/>
          <p:nvPr/>
        </p:nvSpPr>
        <p:spPr>
          <a:xfrm>
            <a:off x="520175" y="2040100"/>
            <a:ext cx="9786000" cy="4124400"/>
          </a:xfrm>
          <a:prstGeom prst="rect">
            <a:avLst/>
          </a:prstGeom>
          <a:noFill/>
          <a:ln>
            <a:noFill/>
          </a:ln>
        </p:spPr>
        <p:txBody>
          <a:bodyPr anchorCtr="0" anchor="t" bIns="91425" lIns="91425" spcFirstLastPara="1" rIns="91425" wrap="square" tIns="91425">
            <a:spAutoFit/>
          </a:bodyPr>
          <a:lstStyle/>
          <a:p>
            <a:pPr indent="-387286" lvl="0" marL="457200" rtl="0" algn="l">
              <a:lnSpc>
                <a:spcPct val="140016"/>
              </a:lnSpc>
              <a:spcBef>
                <a:spcPts val="0"/>
              </a:spcBef>
              <a:spcAft>
                <a:spcPts val="0"/>
              </a:spcAft>
              <a:buClr>
                <a:srgbClr val="3B365F"/>
              </a:buClr>
              <a:buSzPts val="2499"/>
              <a:buFont typeface="Times New Roman"/>
              <a:buChar char="●"/>
            </a:pPr>
            <a:r>
              <a:rPr lang="en-US" sz="3199">
                <a:solidFill>
                  <a:srgbClr val="3B365F"/>
                </a:solidFill>
                <a:latin typeface="Times New Roman"/>
                <a:ea typeface="Times New Roman"/>
                <a:cs typeface="Times New Roman"/>
                <a:sym typeface="Times New Roman"/>
              </a:rPr>
              <a:t>H₀: The proportional hazards approximation holds true for the given covariate.</a:t>
            </a:r>
            <a:endParaRPr sz="3199">
              <a:solidFill>
                <a:srgbClr val="3B365F"/>
              </a:solidFill>
              <a:latin typeface="Times New Roman"/>
              <a:ea typeface="Times New Roman"/>
              <a:cs typeface="Times New Roman"/>
              <a:sym typeface="Times New Roman"/>
            </a:endParaRPr>
          </a:p>
          <a:p>
            <a:pPr indent="-387286" lvl="0" marL="457200" rtl="0" algn="l">
              <a:lnSpc>
                <a:spcPct val="140016"/>
              </a:lnSpc>
              <a:spcBef>
                <a:spcPts val="0"/>
              </a:spcBef>
              <a:spcAft>
                <a:spcPts val="0"/>
              </a:spcAft>
              <a:buClr>
                <a:srgbClr val="3B365F"/>
              </a:buClr>
              <a:buSzPts val="2499"/>
              <a:buFont typeface="Times New Roman"/>
              <a:buChar char="●"/>
            </a:pPr>
            <a:r>
              <a:rPr lang="en-US" sz="3199">
                <a:solidFill>
                  <a:srgbClr val="3B365F"/>
                </a:solidFill>
                <a:latin typeface="Times New Roman"/>
                <a:ea typeface="Times New Roman"/>
                <a:cs typeface="Times New Roman"/>
                <a:sym typeface="Times New Roman"/>
              </a:rPr>
              <a:t>H₁: </a:t>
            </a:r>
            <a:r>
              <a:rPr lang="en-US" sz="3199">
                <a:solidFill>
                  <a:srgbClr val="3B365F"/>
                </a:solidFill>
                <a:latin typeface="Times New Roman"/>
                <a:ea typeface="Times New Roman"/>
                <a:cs typeface="Times New Roman"/>
                <a:sym typeface="Times New Roman"/>
              </a:rPr>
              <a:t>The proportional hazards approximation does not hold true for the given covariate.</a:t>
            </a:r>
            <a:endParaRPr sz="3199">
              <a:solidFill>
                <a:srgbClr val="3B365F"/>
              </a:solidFill>
              <a:latin typeface="Times New Roman"/>
              <a:ea typeface="Times New Roman"/>
              <a:cs typeface="Times New Roman"/>
              <a:sym typeface="Times New Roman"/>
            </a:endParaRPr>
          </a:p>
          <a:p>
            <a:pPr indent="-387286" lvl="0" marL="457200" rtl="0" algn="l">
              <a:lnSpc>
                <a:spcPct val="140016"/>
              </a:lnSpc>
              <a:spcBef>
                <a:spcPts val="0"/>
              </a:spcBef>
              <a:spcAft>
                <a:spcPts val="0"/>
              </a:spcAft>
              <a:buClr>
                <a:srgbClr val="3B365F"/>
              </a:buClr>
              <a:buSzPts val="2499"/>
              <a:buFont typeface="Times New Roman"/>
              <a:buChar char="●"/>
            </a:pPr>
            <a:r>
              <a:rPr lang="en-US" sz="3199">
                <a:solidFill>
                  <a:srgbClr val="3B365F"/>
                </a:solidFill>
                <a:latin typeface="Times New Roman"/>
                <a:ea typeface="Times New Roman"/>
                <a:cs typeface="Times New Roman"/>
                <a:sym typeface="Times New Roman"/>
              </a:rPr>
              <a:t>This test uses the Schoenfeld residuals to perform the Grambsch and Therneau test.</a:t>
            </a:r>
            <a:r>
              <a:rPr lang="en-US" sz="3199">
                <a:solidFill>
                  <a:srgbClr val="3B365F"/>
                </a:solidFill>
                <a:latin typeface="Times New Roman"/>
                <a:ea typeface="Times New Roman"/>
                <a:cs typeface="Times New Roman"/>
                <a:sym typeface="Times New Roman"/>
              </a:rPr>
              <a:t> </a:t>
            </a:r>
            <a:endParaRPr sz="3199">
              <a:solidFill>
                <a:srgbClr val="3B365F"/>
              </a:solidFill>
              <a:latin typeface="Times New Roman"/>
              <a:ea typeface="Times New Roman"/>
              <a:cs typeface="Times New Roman"/>
              <a:sym typeface="Times New Roman"/>
            </a:endParaRPr>
          </a:p>
        </p:txBody>
      </p:sp>
      <p:sp>
        <p:nvSpPr>
          <p:cNvPr id="224" name="Google Shape;224;p24"/>
          <p:cNvSpPr txBox="1"/>
          <p:nvPr/>
        </p:nvSpPr>
        <p:spPr>
          <a:xfrm>
            <a:off x="10757538" y="6615300"/>
            <a:ext cx="6959700" cy="2866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i="1" lang="en-US" sz="4900">
                <a:solidFill>
                  <a:srgbClr val="3B365F"/>
                </a:solidFill>
                <a:latin typeface="Times New Roman"/>
                <a:ea typeface="Times New Roman"/>
                <a:cs typeface="Times New Roman"/>
                <a:sym typeface="Times New Roman"/>
              </a:rPr>
              <a:t>Proportional hazard approximation does not hold true for covariate sex.</a:t>
            </a:r>
            <a:endParaRPr i="1" sz="100">
              <a:latin typeface="Times New Roman"/>
              <a:ea typeface="Times New Roman"/>
              <a:cs typeface="Times New Roman"/>
              <a:sym typeface="Times New Roman"/>
            </a:endParaRPr>
          </a:p>
        </p:txBody>
      </p:sp>
      <p:sp>
        <p:nvSpPr>
          <p:cNvPr id="225" name="Google Shape;225;p24"/>
          <p:cNvSpPr/>
          <p:nvPr/>
        </p:nvSpPr>
        <p:spPr>
          <a:xfrm>
            <a:off x="10591800" y="323850"/>
            <a:ext cx="4718193" cy="4910117"/>
          </a:xfrm>
          <a:custGeom>
            <a:rect b="b" l="l" r="r" t="t"/>
            <a:pathLst>
              <a:path extrusionOk="0" h="7355981" w="6887873">
                <a:moveTo>
                  <a:pt x="0" y="0"/>
                </a:moveTo>
                <a:lnTo>
                  <a:pt x="6887873" y="0"/>
                </a:lnTo>
                <a:lnTo>
                  <a:pt x="6887873" y="7355981"/>
                </a:lnTo>
                <a:lnTo>
                  <a:pt x="0" y="7355981"/>
                </a:lnTo>
                <a:lnTo>
                  <a:pt x="0" y="0"/>
                </a:lnTo>
                <a:close/>
              </a:path>
            </a:pathLst>
          </a:custGeom>
          <a:blipFill rotWithShape="1">
            <a:blip r:embed="rId5">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1000"/>
                                        <p:tgtEl>
                                          <p:spTgt spid="2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229" name="Shape 229"/>
        <p:cNvGrpSpPr/>
        <p:nvPr/>
      </p:nvGrpSpPr>
      <p:grpSpPr>
        <a:xfrm>
          <a:off x="0" y="0"/>
          <a:ext cx="0" cy="0"/>
          <a:chOff x="0" y="0"/>
          <a:chExt cx="0" cy="0"/>
        </a:xfrm>
      </p:grpSpPr>
      <p:sp>
        <p:nvSpPr>
          <p:cNvPr id="230" name="Google Shape;230;p25"/>
          <p:cNvSpPr/>
          <p:nvPr/>
        </p:nvSpPr>
        <p:spPr>
          <a:xfrm rot="5752895">
            <a:off x="-2856825" y="-6809502"/>
            <a:ext cx="9746420" cy="10205676"/>
          </a:xfrm>
          <a:custGeom>
            <a:rect b="b" l="l" r="r" t="t"/>
            <a:pathLst>
              <a:path extrusionOk="0" h="10202966" w="9743832">
                <a:moveTo>
                  <a:pt x="0" y="0"/>
                </a:moveTo>
                <a:lnTo>
                  <a:pt x="9743832" y="0"/>
                </a:lnTo>
                <a:lnTo>
                  <a:pt x="9743832" y="10202965"/>
                </a:lnTo>
                <a:lnTo>
                  <a:pt x="0" y="10202965"/>
                </a:lnTo>
                <a:lnTo>
                  <a:pt x="0" y="0"/>
                </a:lnTo>
                <a:close/>
              </a:path>
            </a:pathLst>
          </a:custGeom>
          <a:blipFill rotWithShape="1">
            <a:blip r:embed="rId3">
              <a:alphaModFix/>
            </a:blip>
            <a:stretch>
              <a:fillRect b="0" l="0" r="0" t="0"/>
            </a:stretch>
          </a:blipFill>
          <a:ln>
            <a:noFill/>
          </a:ln>
        </p:spPr>
      </p:sp>
      <p:sp>
        <p:nvSpPr>
          <p:cNvPr id="231" name="Google Shape;231;p25"/>
          <p:cNvSpPr/>
          <p:nvPr/>
        </p:nvSpPr>
        <p:spPr>
          <a:xfrm flipH="1">
            <a:off x="1342464" y="399146"/>
            <a:ext cx="1907771" cy="4114800"/>
          </a:xfrm>
          <a:custGeom>
            <a:rect b="b" l="l" r="r" t="t"/>
            <a:pathLst>
              <a:path extrusionOk="0" h="4114800" w="1907771">
                <a:moveTo>
                  <a:pt x="1907771" y="0"/>
                </a:moveTo>
                <a:lnTo>
                  <a:pt x="0" y="0"/>
                </a:lnTo>
                <a:lnTo>
                  <a:pt x="0" y="4114800"/>
                </a:lnTo>
                <a:lnTo>
                  <a:pt x="1907771" y="4114800"/>
                </a:lnTo>
                <a:lnTo>
                  <a:pt x="1907771" y="0"/>
                </a:lnTo>
                <a:close/>
              </a:path>
            </a:pathLst>
          </a:custGeom>
          <a:blipFill rotWithShape="1">
            <a:blip r:embed="rId4">
              <a:alphaModFix/>
            </a:blip>
            <a:stretch>
              <a:fillRect b="0" l="0" r="0" t="0"/>
            </a:stretch>
          </a:blipFill>
          <a:ln>
            <a:noFill/>
          </a:ln>
        </p:spPr>
      </p:sp>
      <p:sp>
        <p:nvSpPr>
          <p:cNvPr id="232" name="Google Shape;232;p25"/>
          <p:cNvSpPr/>
          <p:nvPr/>
        </p:nvSpPr>
        <p:spPr>
          <a:xfrm flipH="1" rot="-439219">
            <a:off x="-3084294" y="1669532"/>
            <a:ext cx="13216937" cy="8295984"/>
          </a:xfrm>
          <a:custGeom>
            <a:rect b="b" l="l" r="r" t="t"/>
            <a:pathLst>
              <a:path extrusionOk="0" h="8290545" w="13208272">
                <a:moveTo>
                  <a:pt x="13208272" y="0"/>
                </a:moveTo>
                <a:lnTo>
                  <a:pt x="0" y="0"/>
                </a:lnTo>
                <a:lnTo>
                  <a:pt x="0" y="8290545"/>
                </a:lnTo>
                <a:lnTo>
                  <a:pt x="13208272" y="8290545"/>
                </a:lnTo>
                <a:lnTo>
                  <a:pt x="13208272" y="0"/>
                </a:lnTo>
                <a:close/>
              </a:path>
            </a:pathLst>
          </a:custGeom>
          <a:blipFill rotWithShape="1">
            <a:blip r:embed="rId5">
              <a:alphaModFix/>
            </a:blip>
            <a:stretch>
              <a:fillRect b="0" l="0" r="0" t="0"/>
            </a:stretch>
          </a:blipFill>
          <a:ln>
            <a:noFill/>
          </a:ln>
        </p:spPr>
      </p:sp>
      <p:sp>
        <p:nvSpPr>
          <p:cNvPr id="233" name="Google Shape;233;p25"/>
          <p:cNvSpPr/>
          <p:nvPr/>
        </p:nvSpPr>
        <p:spPr>
          <a:xfrm flipH="1" rot="10593982">
            <a:off x="13056705" y="-1377741"/>
            <a:ext cx="9761355" cy="10221315"/>
          </a:xfrm>
          <a:custGeom>
            <a:rect b="b" l="l" r="r" t="t"/>
            <a:pathLst>
              <a:path extrusionOk="0" h="10202966" w="9743832">
                <a:moveTo>
                  <a:pt x="9743832" y="0"/>
                </a:moveTo>
                <a:lnTo>
                  <a:pt x="0" y="0"/>
                </a:lnTo>
                <a:lnTo>
                  <a:pt x="0" y="10202965"/>
                </a:lnTo>
                <a:lnTo>
                  <a:pt x="9743832" y="10202965"/>
                </a:lnTo>
                <a:lnTo>
                  <a:pt x="9743832" y="0"/>
                </a:lnTo>
                <a:close/>
              </a:path>
            </a:pathLst>
          </a:custGeom>
          <a:blipFill rotWithShape="1">
            <a:blip r:embed="rId3">
              <a:alphaModFix/>
            </a:blip>
            <a:stretch>
              <a:fillRect b="0" l="0" r="0" t="0"/>
            </a:stretch>
          </a:blipFill>
          <a:ln>
            <a:noFill/>
          </a:ln>
        </p:spPr>
      </p:sp>
      <p:sp>
        <p:nvSpPr>
          <p:cNvPr id="234" name="Google Shape;234;p25"/>
          <p:cNvSpPr/>
          <p:nvPr/>
        </p:nvSpPr>
        <p:spPr>
          <a:xfrm>
            <a:off x="11418793" y="1904561"/>
            <a:ext cx="5237504" cy="3656730"/>
          </a:xfrm>
          <a:custGeom>
            <a:rect b="b" l="l" r="r" t="t"/>
            <a:pathLst>
              <a:path extrusionOk="0" h="3656730" w="5237504">
                <a:moveTo>
                  <a:pt x="0" y="0"/>
                </a:moveTo>
                <a:lnTo>
                  <a:pt x="5237503" y="0"/>
                </a:lnTo>
                <a:lnTo>
                  <a:pt x="5237503" y="3656730"/>
                </a:lnTo>
                <a:lnTo>
                  <a:pt x="0" y="3656730"/>
                </a:lnTo>
                <a:lnTo>
                  <a:pt x="0" y="0"/>
                </a:lnTo>
                <a:close/>
              </a:path>
            </a:pathLst>
          </a:custGeom>
          <a:blipFill rotWithShape="1">
            <a:blip r:embed="rId6">
              <a:alphaModFix/>
            </a:blip>
            <a:stretch>
              <a:fillRect b="0" l="0" r="0" t="0"/>
            </a:stretch>
          </a:blipFill>
          <a:ln>
            <a:noFill/>
          </a:ln>
        </p:spPr>
      </p:sp>
      <p:sp>
        <p:nvSpPr>
          <p:cNvPr id="235" name="Google Shape;235;p25"/>
          <p:cNvSpPr/>
          <p:nvPr/>
        </p:nvSpPr>
        <p:spPr>
          <a:xfrm rot="-434512">
            <a:off x="9756726" y="3685410"/>
            <a:ext cx="10456830" cy="7217219"/>
          </a:xfrm>
          <a:custGeom>
            <a:rect b="b" l="l" r="r" t="t"/>
            <a:pathLst>
              <a:path extrusionOk="0" h="7194659" w="11462336">
                <a:moveTo>
                  <a:pt x="0" y="0"/>
                </a:moveTo>
                <a:lnTo>
                  <a:pt x="11462336" y="0"/>
                </a:lnTo>
                <a:lnTo>
                  <a:pt x="11462336" y="7194659"/>
                </a:lnTo>
                <a:lnTo>
                  <a:pt x="0" y="7194659"/>
                </a:lnTo>
                <a:lnTo>
                  <a:pt x="0" y="0"/>
                </a:lnTo>
                <a:close/>
              </a:path>
            </a:pathLst>
          </a:custGeom>
          <a:blipFill rotWithShape="1">
            <a:blip r:embed="rId5">
              <a:alphaModFix/>
            </a:blip>
            <a:stretch>
              <a:fillRect b="0" l="0" r="0" t="0"/>
            </a:stretch>
          </a:blipFill>
          <a:ln>
            <a:noFill/>
          </a:ln>
        </p:spPr>
      </p:sp>
      <p:sp>
        <p:nvSpPr>
          <p:cNvPr id="236" name="Google Shape;236;p25"/>
          <p:cNvSpPr/>
          <p:nvPr/>
        </p:nvSpPr>
        <p:spPr>
          <a:xfrm flipH="1" rot="-1015081">
            <a:off x="6925937" y="8125348"/>
            <a:ext cx="1333683" cy="1845579"/>
          </a:xfrm>
          <a:custGeom>
            <a:rect b="b" l="l" r="r" t="t"/>
            <a:pathLst>
              <a:path extrusionOk="0" h="2791490" w="2126607">
                <a:moveTo>
                  <a:pt x="2126607" y="0"/>
                </a:moveTo>
                <a:lnTo>
                  <a:pt x="0" y="0"/>
                </a:lnTo>
                <a:lnTo>
                  <a:pt x="0" y="2791490"/>
                </a:lnTo>
                <a:lnTo>
                  <a:pt x="2126607" y="2791490"/>
                </a:lnTo>
                <a:lnTo>
                  <a:pt x="2126607" y="0"/>
                </a:lnTo>
                <a:close/>
              </a:path>
            </a:pathLst>
          </a:custGeom>
          <a:blipFill rotWithShape="1">
            <a:blip r:embed="rId7">
              <a:alphaModFix/>
            </a:blip>
            <a:stretch>
              <a:fillRect b="0" l="0" r="0" t="0"/>
            </a:stretch>
          </a:blipFill>
          <a:ln>
            <a:noFill/>
          </a:ln>
        </p:spPr>
      </p:sp>
      <p:sp>
        <p:nvSpPr>
          <p:cNvPr id="237" name="Google Shape;237;p25"/>
          <p:cNvSpPr txBox="1"/>
          <p:nvPr/>
        </p:nvSpPr>
        <p:spPr>
          <a:xfrm>
            <a:off x="4195275" y="851775"/>
            <a:ext cx="9585900" cy="769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5000">
                <a:solidFill>
                  <a:srgbClr val="3B365F"/>
                </a:solidFill>
                <a:latin typeface="Times New Roman"/>
                <a:ea typeface="Times New Roman"/>
                <a:cs typeface="Times New Roman"/>
                <a:sym typeface="Times New Roman"/>
              </a:rPr>
              <a:t>Should We Remove Covariate Sex?</a:t>
            </a:r>
            <a:endParaRPr sz="200">
              <a:latin typeface="Times New Roman"/>
              <a:ea typeface="Times New Roman"/>
              <a:cs typeface="Times New Roman"/>
              <a:sym typeface="Times New Roman"/>
            </a:endParaRPr>
          </a:p>
        </p:txBody>
      </p:sp>
      <p:sp>
        <p:nvSpPr>
          <p:cNvPr id="238" name="Google Shape;238;p25"/>
          <p:cNvSpPr txBox="1"/>
          <p:nvPr/>
        </p:nvSpPr>
        <p:spPr>
          <a:xfrm>
            <a:off x="277375" y="3816975"/>
            <a:ext cx="7037700" cy="4124400"/>
          </a:xfrm>
          <a:prstGeom prst="rect">
            <a:avLst/>
          </a:prstGeom>
          <a:noFill/>
          <a:ln>
            <a:noFill/>
          </a:ln>
        </p:spPr>
        <p:txBody>
          <a:bodyPr anchorCtr="0" anchor="t" bIns="91425" lIns="91425" spcFirstLastPara="1" rIns="91425" wrap="square" tIns="91425">
            <a:spAutoFit/>
          </a:bodyPr>
          <a:lstStyle/>
          <a:p>
            <a:pPr indent="-387286" lvl="0" marL="457200" rtl="0" algn="l">
              <a:lnSpc>
                <a:spcPct val="140016"/>
              </a:lnSpc>
              <a:spcBef>
                <a:spcPts val="0"/>
              </a:spcBef>
              <a:spcAft>
                <a:spcPts val="0"/>
              </a:spcAft>
              <a:buClr>
                <a:srgbClr val="3B365F"/>
              </a:buClr>
              <a:buSzPts val="2499"/>
              <a:buFont typeface="Times New Roman"/>
              <a:buChar char="●"/>
            </a:pPr>
            <a:r>
              <a:rPr lang="en-US" sz="3199">
                <a:solidFill>
                  <a:srgbClr val="3B365F"/>
                </a:solidFill>
                <a:latin typeface="Times New Roman"/>
                <a:ea typeface="Times New Roman"/>
                <a:cs typeface="Times New Roman"/>
                <a:sym typeface="Times New Roman"/>
              </a:rPr>
              <a:t>S</a:t>
            </a:r>
            <a:r>
              <a:rPr lang="en-US" sz="3199">
                <a:solidFill>
                  <a:srgbClr val="3B365F"/>
                </a:solidFill>
                <a:latin typeface="Times New Roman"/>
                <a:ea typeface="Times New Roman"/>
                <a:cs typeface="Times New Roman"/>
                <a:sym typeface="Times New Roman"/>
              </a:rPr>
              <a:t>ex is the only covariate that is not following the proportional hazards assumption, we might be able to simply remove it.</a:t>
            </a:r>
            <a:endParaRPr sz="3199">
              <a:solidFill>
                <a:srgbClr val="3B365F"/>
              </a:solidFill>
              <a:latin typeface="Times New Roman"/>
              <a:ea typeface="Times New Roman"/>
              <a:cs typeface="Times New Roman"/>
              <a:sym typeface="Times New Roman"/>
            </a:endParaRPr>
          </a:p>
          <a:p>
            <a:pPr indent="-387286" lvl="0" marL="457200" rtl="0" algn="l">
              <a:lnSpc>
                <a:spcPct val="140016"/>
              </a:lnSpc>
              <a:spcBef>
                <a:spcPts val="0"/>
              </a:spcBef>
              <a:spcAft>
                <a:spcPts val="0"/>
              </a:spcAft>
              <a:buClr>
                <a:srgbClr val="3B365F"/>
              </a:buClr>
              <a:buSzPts val="2499"/>
              <a:buFont typeface="Times New Roman"/>
              <a:buChar char="●"/>
            </a:pPr>
            <a:r>
              <a:rPr lang="en-US" sz="3199">
                <a:solidFill>
                  <a:srgbClr val="3B365F"/>
                </a:solidFill>
                <a:latin typeface="Times New Roman"/>
                <a:ea typeface="Times New Roman"/>
                <a:cs typeface="Times New Roman"/>
                <a:sym typeface="Times New Roman"/>
              </a:rPr>
              <a:t>We know from medical literature that males are affected more than females.</a:t>
            </a:r>
            <a:endParaRPr sz="3199">
              <a:solidFill>
                <a:srgbClr val="3B365F"/>
              </a:solidFill>
              <a:latin typeface="Times New Roman"/>
              <a:ea typeface="Times New Roman"/>
              <a:cs typeface="Times New Roman"/>
              <a:sym typeface="Times New Roman"/>
            </a:endParaRPr>
          </a:p>
        </p:txBody>
      </p:sp>
      <p:sp>
        <p:nvSpPr>
          <p:cNvPr id="239" name="Google Shape;239;p25"/>
          <p:cNvSpPr txBox="1"/>
          <p:nvPr/>
        </p:nvSpPr>
        <p:spPr>
          <a:xfrm>
            <a:off x="11646525" y="6137975"/>
            <a:ext cx="5414700" cy="2745300"/>
          </a:xfrm>
          <a:prstGeom prst="rect">
            <a:avLst/>
          </a:prstGeom>
          <a:noFill/>
          <a:ln>
            <a:noFill/>
          </a:ln>
        </p:spPr>
        <p:txBody>
          <a:bodyPr anchorCtr="0" anchor="t" bIns="91425" lIns="91425" spcFirstLastPara="1" rIns="91425" wrap="square" tIns="91425">
            <a:spAutoFit/>
          </a:bodyPr>
          <a:lstStyle/>
          <a:p>
            <a:pPr indent="-387286" lvl="0" marL="457200" rtl="0" algn="l">
              <a:lnSpc>
                <a:spcPct val="140016"/>
              </a:lnSpc>
              <a:spcBef>
                <a:spcPts val="0"/>
              </a:spcBef>
              <a:spcAft>
                <a:spcPts val="0"/>
              </a:spcAft>
              <a:buClr>
                <a:srgbClr val="3B365F"/>
              </a:buClr>
              <a:buSzPts val="2499"/>
              <a:buFont typeface="Times New Roman"/>
              <a:buChar char="●"/>
            </a:pPr>
            <a:r>
              <a:rPr lang="en-US" sz="3199">
                <a:solidFill>
                  <a:srgbClr val="3B365F"/>
                </a:solidFill>
                <a:latin typeface="Times New Roman"/>
                <a:ea typeface="Times New Roman"/>
                <a:cs typeface="Times New Roman"/>
                <a:sym typeface="Times New Roman"/>
              </a:rPr>
              <a:t>We need retain the covariate.</a:t>
            </a:r>
            <a:endParaRPr sz="3199">
              <a:solidFill>
                <a:srgbClr val="3B365F"/>
              </a:solidFill>
              <a:latin typeface="Times New Roman"/>
              <a:ea typeface="Times New Roman"/>
              <a:cs typeface="Times New Roman"/>
              <a:sym typeface="Times New Roman"/>
            </a:endParaRPr>
          </a:p>
          <a:p>
            <a:pPr indent="-387286" lvl="0" marL="457200" rtl="0" algn="l">
              <a:lnSpc>
                <a:spcPct val="140016"/>
              </a:lnSpc>
              <a:spcBef>
                <a:spcPts val="0"/>
              </a:spcBef>
              <a:spcAft>
                <a:spcPts val="0"/>
              </a:spcAft>
              <a:buClr>
                <a:srgbClr val="3B365F"/>
              </a:buClr>
              <a:buSzPts val="2499"/>
              <a:buFont typeface="Times New Roman"/>
              <a:buChar char="●"/>
            </a:pPr>
            <a:r>
              <a:rPr lang="en-US" sz="3199">
                <a:solidFill>
                  <a:srgbClr val="3B365F"/>
                </a:solidFill>
                <a:latin typeface="Times New Roman"/>
                <a:ea typeface="Times New Roman"/>
                <a:cs typeface="Times New Roman"/>
                <a:sym typeface="Times New Roman"/>
              </a:rPr>
              <a:t>Alternate model which can work with non-proportional hazards is required.</a:t>
            </a:r>
            <a:endParaRPr sz="3199">
              <a:solidFill>
                <a:srgbClr val="3B365F"/>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243" name="Shape 243"/>
        <p:cNvGrpSpPr/>
        <p:nvPr/>
      </p:nvGrpSpPr>
      <p:grpSpPr>
        <a:xfrm>
          <a:off x="0" y="0"/>
          <a:ext cx="0" cy="0"/>
          <a:chOff x="0" y="0"/>
          <a:chExt cx="0" cy="0"/>
        </a:xfrm>
      </p:grpSpPr>
      <p:sp>
        <p:nvSpPr>
          <p:cNvPr id="244" name="Google Shape;244;p26"/>
          <p:cNvSpPr/>
          <p:nvPr/>
        </p:nvSpPr>
        <p:spPr>
          <a:xfrm flipH="1" rot="10488334">
            <a:off x="11645371" y="-2053849"/>
            <a:ext cx="9148052" cy="9477507"/>
          </a:xfrm>
          <a:custGeom>
            <a:rect b="b" l="l" r="r" t="t"/>
            <a:pathLst>
              <a:path extrusionOk="0" h="10202966" w="9743832">
                <a:moveTo>
                  <a:pt x="9743833" y="0"/>
                </a:moveTo>
                <a:lnTo>
                  <a:pt x="0" y="0"/>
                </a:lnTo>
                <a:lnTo>
                  <a:pt x="0" y="10202965"/>
                </a:lnTo>
                <a:lnTo>
                  <a:pt x="9743833" y="10202965"/>
                </a:lnTo>
                <a:lnTo>
                  <a:pt x="9743833" y="0"/>
                </a:lnTo>
                <a:close/>
              </a:path>
            </a:pathLst>
          </a:custGeom>
          <a:blipFill rotWithShape="1">
            <a:blip r:embed="rId3">
              <a:alphaModFix/>
            </a:blip>
            <a:stretch>
              <a:fillRect b="0" l="0" r="0" t="0"/>
            </a:stretch>
          </a:blipFill>
          <a:ln>
            <a:noFill/>
          </a:ln>
        </p:spPr>
      </p:sp>
      <p:sp>
        <p:nvSpPr>
          <p:cNvPr id="245" name="Google Shape;245;p26"/>
          <p:cNvSpPr/>
          <p:nvPr/>
        </p:nvSpPr>
        <p:spPr>
          <a:xfrm flipH="1" rot="-7346">
            <a:off x="1458956" y="597518"/>
            <a:ext cx="14502436" cy="9569656"/>
          </a:xfrm>
          <a:custGeom>
            <a:rect b="b" l="l" r="r" t="t"/>
            <a:pathLst>
              <a:path extrusionOk="0" h="7780208" w="12395216">
                <a:moveTo>
                  <a:pt x="12395216" y="0"/>
                </a:moveTo>
                <a:lnTo>
                  <a:pt x="0" y="0"/>
                </a:lnTo>
                <a:lnTo>
                  <a:pt x="0" y="7780208"/>
                </a:lnTo>
                <a:lnTo>
                  <a:pt x="12395216" y="7780208"/>
                </a:lnTo>
                <a:lnTo>
                  <a:pt x="12395216" y="0"/>
                </a:lnTo>
                <a:close/>
              </a:path>
            </a:pathLst>
          </a:custGeom>
          <a:blipFill rotWithShape="1">
            <a:blip r:embed="rId4">
              <a:alphaModFix/>
            </a:blip>
            <a:stretch>
              <a:fillRect b="0" l="0" r="0" t="0"/>
            </a:stretch>
          </a:blipFill>
          <a:ln>
            <a:noFill/>
          </a:ln>
        </p:spPr>
      </p:sp>
      <p:sp>
        <p:nvSpPr>
          <p:cNvPr id="246" name="Google Shape;246;p26"/>
          <p:cNvSpPr txBox="1"/>
          <p:nvPr/>
        </p:nvSpPr>
        <p:spPr>
          <a:xfrm>
            <a:off x="3527705" y="363050"/>
            <a:ext cx="11232600" cy="1000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Font typeface="Arial"/>
              <a:buNone/>
            </a:pPr>
            <a:r>
              <a:rPr lang="en-US" sz="6500">
                <a:solidFill>
                  <a:srgbClr val="3B365F"/>
                </a:solidFill>
                <a:latin typeface="Times New Roman"/>
                <a:ea typeface="Times New Roman"/>
                <a:cs typeface="Times New Roman"/>
                <a:sym typeface="Times New Roman"/>
              </a:rPr>
              <a:t>Frailty Model</a:t>
            </a:r>
            <a:endParaRPr>
              <a:latin typeface="Times New Roman"/>
              <a:ea typeface="Times New Roman"/>
              <a:cs typeface="Times New Roman"/>
              <a:sym typeface="Times New Roman"/>
            </a:endParaRPr>
          </a:p>
        </p:txBody>
      </p:sp>
      <p:sp>
        <p:nvSpPr>
          <p:cNvPr id="247" name="Google Shape;247;p26"/>
          <p:cNvSpPr/>
          <p:nvPr/>
        </p:nvSpPr>
        <p:spPr>
          <a:xfrm>
            <a:off x="14154150" y="5638800"/>
            <a:ext cx="3674695" cy="4362218"/>
          </a:xfrm>
          <a:custGeom>
            <a:rect b="b" l="l" r="r" t="t"/>
            <a:pathLst>
              <a:path extrusionOk="0" h="5239901" w="4915980">
                <a:moveTo>
                  <a:pt x="0" y="0"/>
                </a:moveTo>
                <a:lnTo>
                  <a:pt x="4915979" y="0"/>
                </a:lnTo>
                <a:lnTo>
                  <a:pt x="4915979" y="5239901"/>
                </a:lnTo>
                <a:lnTo>
                  <a:pt x="0" y="5239901"/>
                </a:lnTo>
                <a:lnTo>
                  <a:pt x="0" y="0"/>
                </a:lnTo>
                <a:close/>
              </a:path>
            </a:pathLst>
          </a:custGeom>
          <a:blipFill rotWithShape="1">
            <a:blip r:embed="rId5">
              <a:alphaModFix/>
            </a:blip>
            <a:stretch>
              <a:fillRect b="0" l="0" r="0" t="0"/>
            </a:stretch>
          </a:blipFill>
          <a:ln>
            <a:noFill/>
          </a:ln>
        </p:spPr>
      </p:sp>
      <p:sp>
        <p:nvSpPr>
          <p:cNvPr id="248" name="Google Shape;248;p26"/>
          <p:cNvSpPr txBox="1"/>
          <p:nvPr/>
        </p:nvSpPr>
        <p:spPr>
          <a:xfrm>
            <a:off x="3752850" y="2824100"/>
            <a:ext cx="9124800" cy="5503200"/>
          </a:xfrm>
          <a:prstGeom prst="rect">
            <a:avLst/>
          </a:prstGeom>
          <a:noFill/>
          <a:ln>
            <a:noFill/>
          </a:ln>
        </p:spPr>
        <p:txBody>
          <a:bodyPr anchorCtr="0" anchor="t" bIns="91425" lIns="91425" spcFirstLastPara="1" rIns="91425" wrap="square" tIns="91425">
            <a:spAutoFit/>
          </a:bodyPr>
          <a:lstStyle/>
          <a:p>
            <a:pPr indent="0" lvl="0" marL="0" rtl="0" algn="l">
              <a:lnSpc>
                <a:spcPct val="140016"/>
              </a:lnSpc>
              <a:spcBef>
                <a:spcPts val="0"/>
              </a:spcBef>
              <a:spcAft>
                <a:spcPts val="0"/>
              </a:spcAft>
              <a:buNone/>
            </a:pPr>
            <a:r>
              <a:rPr lang="en-US" sz="3199">
                <a:solidFill>
                  <a:srgbClr val="3B365F"/>
                </a:solidFill>
                <a:latin typeface="Times New Roman"/>
                <a:ea typeface="Times New Roman"/>
                <a:cs typeface="Times New Roman"/>
                <a:sym typeface="Times New Roman"/>
              </a:rPr>
              <a:t>A Frailty Model is a model for time-to-event data, where the frailty has a additive effect on the baseline hazard function, accounting for unobserved heterogeneity and dependence among event times.</a:t>
            </a:r>
            <a:endParaRPr sz="3199">
              <a:solidFill>
                <a:srgbClr val="3B365F"/>
              </a:solidFill>
              <a:latin typeface="Times New Roman"/>
              <a:ea typeface="Times New Roman"/>
              <a:cs typeface="Times New Roman"/>
              <a:sym typeface="Times New Roman"/>
            </a:endParaRPr>
          </a:p>
          <a:p>
            <a:pPr indent="-387286" lvl="0" marL="457200" rtl="0" algn="l">
              <a:lnSpc>
                <a:spcPct val="140016"/>
              </a:lnSpc>
              <a:spcBef>
                <a:spcPts val="0"/>
              </a:spcBef>
              <a:spcAft>
                <a:spcPts val="0"/>
              </a:spcAft>
              <a:buClr>
                <a:srgbClr val="3B365F"/>
              </a:buClr>
              <a:buSzPts val="2499"/>
              <a:buFont typeface="Times New Roman"/>
              <a:buChar char="●"/>
            </a:pPr>
            <a:r>
              <a:rPr lang="en-US" sz="3199">
                <a:solidFill>
                  <a:srgbClr val="3B365F"/>
                </a:solidFill>
                <a:latin typeface="Times New Roman"/>
                <a:ea typeface="Times New Roman"/>
                <a:cs typeface="Times New Roman"/>
                <a:sym typeface="Times New Roman"/>
              </a:rPr>
              <a:t>Represents latent risk factors (e.g. genetic susceptibility).</a:t>
            </a:r>
            <a:endParaRPr sz="3199">
              <a:solidFill>
                <a:srgbClr val="3B365F"/>
              </a:solidFill>
              <a:latin typeface="Times New Roman"/>
              <a:ea typeface="Times New Roman"/>
              <a:cs typeface="Times New Roman"/>
              <a:sym typeface="Times New Roman"/>
            </a:endParaRPr>
          </a:p>
          <a:p>
            <a:pPr indent="-387286" lvl="0" marL="457200" rtl="0" algn="l">
              <a:lnSpc>
                <a:spcPct val="140016"/>
              </a:lnSpc>
              <a:spcBef>
                <a:spcPts val="0"/>
              </a:spcBef>
              <a:spcAft>
                <a:spcPts val="0"/>
              </a:spcAft>
              <a:buClr>
                <a:srgbClr val="3B365F"/>
              </a:buClr>
              <a:buSzPts val="2499"/>
              <a:buFont typeface="Times New Roman"/>
              <a:buChar char="●"/>
            </a:pPr>
            <a:r>
              <a:rPr lang="en-US" sz="3199">
                <a:solidFill>
                  <a:srgbClr val="3B365F"/>
                </a:solidFill>
                <a:latin typeface="Times New Roman"/>
                <a:ea typeface="Times New Roman"/>
                <a:cs typeface="Times New Roman"/>
                <a:sym typeface="Times New Roman"/>
              </a:rPr>
              <a:t>Individuals with higher frailty experiences events earlier.</a:t>
            </a:r>
            <a:endParaRPr sz="3199">
              <a:solidFill>
                <a:srgbClr val="3B365F"/>
              </a:solidFill>
              <a:latin typeface="Times New Roman"/>
              <a:ea typeface="Times New Roman"/>
              <a:cs typeface="Times New Roman"/>
              <a:sym typeface="Times New Roman"/>
            </a:endParaRPr>
          </a:p>
        </p:txBody>
      </p:sp>
      <p:sp>
        <p:nvSpPr>
          <p:cNvPr id="249" name="Google Shape;249;p26"/>
          <p:cNvSpPr/>
          <p:nvPr/>
        </p:nvSpPr>
        <p:spPr>
          <a:xfrm rot="210928">
            <a:off x="14275687" y="859173"/>
            <a:ext cx="2710145" cy="1966956"/>
          </a:xfrm>
          <a:custGeom>
            <a:rect b="b" l="l" r="r" t="t"/>
            <a:pathLst>
              <a:path extrusionOk="0" h="2316452" w="3692894">
                <a:moveTo>
                  <a:pt x="0" y="0"/>
                </a:moveTo>
                <a:lnTo>
                  <a:pt x="3692894" y="0"/>
                </a:lnTo>
                <a:lnTo>
                  <a:pt x="3692894" y="2316451"/>
                </a:lnTo>
                <a:lnTo>
                  <a:pt x="0" y="2316451"/>
                </a:lnTo>
                <a:lnTo>
                  <a:pt x="0" y="0"/>
                </a:lnTo>
                <a:close/>
              </a:path>
            </a:pathLst>
          </a:custGeom>
          <a:blipFill rotWithShape="1">
            <a:blip r:embed="rId6">
              <a:alphaModFix/>
            </a:blip>
            <a:stretch>
              <a:fillRect b="0" l="0" r="0" t="0"/>
            </a:stretch>
          </a:blipFill>
          <a:ln>
            <a:noFill/>
          </a:ln>
        </p:spPr>
      </p:sp>
      <p:sp>
        <p:nvSpPr>
          <p:cNvPr id="250" name="Google Shape;250;p26"/>
          <p:cNvSpPr/>
          <p:nvPr/>
        </p:nvSpPr>
        <p:spPr>
          <a:xfrm rot="8470211">
            <a:off x="146509" y="7862806"/>
            <a:ext cx="3252543" cy="3704857"/>
          </a:xfrm>
          <a:custGeom>
            <a:rect b="b" l="l" r="r" t="t"/>
            <a:pathLst>
              <a:path extrusionOk="0" h="3815463" w="3531385">
                <a:moveTo>
                  <a:pt x="0" y="0"/>
                </a:moveTo>
                <a:lnTo>
                  <a:pt x="3531386" y="0"/>
                </a:lnTo>
                <a:lnTo>
                  <a:pt x="3531386" y="3815463"/>
                </a:lnTo>
                <a:lnTo>
                  <a:pt x="0" y="3815463"/>
                </a:lnTo>
                <a:lnTo>
                  <a:pt x="0" y="0"/>
                </a:lnTo>
                <a:close/>
              </a:path>
            </a:pathLst>
          </a:custGeom>
          <a:blipFill rotWithShape="1">
            <a:blip r:embed="rId7">
              <a:alphaModFix/>
            </a:blip>
            <a:stretch>
              <a:fillRect b="0" l="0" r="0" t="0"/>
            </a:stretch>
          </a:blipFill>
          <a:ln>
            <a:noFill/>
          </a:ln>
        </p:spPr>
      </p:sp>
      <p:sp>
        <p:nvSpPr>
          <p:cNvPr id="251" name="Google Shape;251;p26"/>
          <p:cNvSpPr/>
          <p:nvPr/>
        </p:nvSpPr>
        <p:spPr>
          <a:xfrm flipH="1" rot="5139548">
            <a:off x="-1614339" y="-2059575"/>
            <a:ext cx="7402187" cy="8365266"/>
          </a:xfrm>
          <a:custGeom>
            <a:rect b="b" l="l" r="r" t="t"/>
            <a:pathLst>
              <a:path extrusionOk="0" h="10202966" w="9743832">
                <a:moveTo>
                  <a:pt x="9743833" y="0"/>
                </a:moveTo>
                <a:lnTo>
                  <a:pt x="0" y="0"/>
                </a:lnTo>
                <a:lnTo>
                  <a:pt x="0" y="10202965"/>
                </a:lnTo>
                <a:lnTo>
                  <a:pt x="9743833" y="10202965"/>
                </a:lnTo>
                <a:lnTo>
                  <a:pt x="9743833" y="0"/>
                </a:lnTo>
                <a:close/>
              </a:path>
            </a:pathLst>
          </a:custGeom>
          <a:blipFill rotWithShape="1">
            <a:blip r:embed="rId3">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255" name="Shape 255"/>
        <p:cNvGrpSpPr/>
        <p:nvPr/>
      </p:nvGrpSpPr>
      <p:grpSpPr>
        <a:xfrm>
          <a:off x="0" y="0"/>
          <a:ext cx="0" cy="0"/>
          <a:chOff x="0" y="0"/>
          <a:chExt cx="0" cy="0"/>
        </a:xfrm>
      </p:grpSpPr>
      <p:sp>
        <p:nvSpPr>
          <p:cNvPr id="256" name="Google Shape;256;p27"/>
          <p:cNvSpPr/>
          <p:nvPr/>
        </p:nvSpPr>
        <p:spPr>
          <a:xfrm flipH="1" rot="6948894">
            <a:off x="-3632581" y="-1565496"/>
            <a:ext cx="8468130" cy="5001848"/>
          </a:xfrm>
          <a:custGeom>
            <a:rect b="b" l="l" r="r" t="t"/>
            <a:pathLst>
              <a:path extrusionOk="0" h="7780208" w="12395216">
                <a:moveTo>
                  <a:pt x="12395216" y="0"/>
                </a:moveTo>
                <a:lnTo>
                  <a:pt x="0" y="0"/>
                </a:lnTo>
                <a:lnTo>
                  <a:pt x="0" y="7780207"/>
                </a:lnTo>
                <a:lnTo>
                  <a:pt x="12395216" y="7780207"/>
                </a:lnTo>
                <a:lnTo>
                  <a:pt x="12395216" y="0"/>
                </a:lnTo>
                <a:close/>
              </a:path>
            </a:pathLst>
          </a:custGeom>
          <a:blipFill rotWithShape="1">
            <a:blip r:embed="rId3">
              <a:alphaModFix/>
            </a:blip>
            <a:stretch>
              <a:fillRect b="0" l="0" r="0" t="0"/>
            </a:stretch>
          </a:blipFill>
          <a:ln>
            <a:noFill/>
          </a:ln>
        </p:spPr>
      </p:sp>
      <p:sp>
        <p:nvSpPr>
          <p:cNvPr id="257" name="Google Shape;257;p27"/>
          <p:cNvSpPr txBox="1"/>
          <p:nvPr/>
        </p:nvSpPr>
        <p:spPr>
          <a:xfrm>
            <a:off x="1221000" y="791225"/>
            <a:ext cx="15846000" cy="939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6100">
                <a:solidFill>
                  <a:srgbClr val="3B365F"/>
                </a:solidFill>
                <a:latin typeface="Times New Roman"/>
                <a:ea typeface="Times New Roman"/>
                <a:cs typeface="Times New Roman"/>
                <a:sym typeface="Times New Roman"/>
              </a:rPr>
              <a:t>Additive Frailty Model For Recurrent Events</a:t>
            </a:r>
            <a:endParaRPr sz="1100">
              <a:latin typeface="Times New Roman"/>
              <a:ea typeface="Times New Roman"/>
              <a:cs typeface="Times New Roman"/>
              <a:sym typeface="Times New Roman"/>
            </a:endParaRPr>
          </a:p>
        </p:txBody>
      </p:sp>
      <p:sp>
        <p:nvSpPr>
          <p:cNvPr id="258" name="Google Shape;258;p27"/>
          <p:cNvSpPr txBox="1"/>
          <p:nvPr/>
        </p:nvSpPr>
        <p:spPr>
          <a:xfrm>
            <a:off x="2124100" y="5933450"/>
            <a:ext cx="7323600" cy="9234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lang="en-US" sz="4800">
                <a:solidFill>
                  <a:srgbClr val="3B365F"/>
                </a:solidFill>
                <a:latin typeface="Cambria Math"/>
                <a:ea typeface="Cambria Math"/>
                <a:cs typeface="Cambria Math"/>
                <a:sym typeface="Cambria Math"/>
              </a:rPr>
              <a:t>λᵢ(t|vᵢ,xᵢ) = λ₀(t) + xᵢβ + vᵢ</a:t>
            </a:r>
            <a:endParaRPr sz="200">
              <a:latin typeface="Cambria Math"/>
              <a:ea typeface="Cambria Math"/>
              <a:cs typeface="Cambria Math"/>
              <a:sym typeface="Cambria Math"/>
            </a:endParaRPr>
          </a:p>
        </p:txBody>
      </p:sp>
      <p:sp>
        <p:nvSpPr>
          <p:cNvPr id="259" name="Google Shape;259;p27"/>
          <p:cNvSpPr txBox="1"/>
          <p:nvPr/>
        </p:nvSpPr>
        <p:spPr>
          <a:xfrm>
            <a:off x="1783700" y="1982025"/>
            <a:ext cx="14783100" cy="1440300"/>
          </a:xfrm>
          <a:prstGeom prst="rect">
            <a:avLst/>
          </a:prstGeom>
          <a:noFill/>
          <a:ln>
            <a:noFill/>
          </a:ln>
        </p:spPr>
        <p:txBody>
          <a:bodyPr anchorCtr="0" anchor="t" bIns="91425" lIns="91425" spcFirstLastPara="1" rIns="91425" wrap="square" tIns="91425">
            <a:spAutoFit/>
          </a:bodyPr>
          <a:lstStyle/>
          <a:p>
            <a:pPr indent="0" lvl="0" marL="0" rtl="0" algn="l">
              <a:lnSpc>
                <a:spcPct val="140016"/>
              </a:lnSpc>
              <a:spcBef>
                <a:spcPts val="0"/>
              </a:spcBef>
              <a:spcAft>
                <a:spcPts val="0"/>
              </a:spcAft>
              <a:buNone/>
            </a:pPr>
            <a:r>
              <a:rPr lang="en-US" sz="3399">
                <a:solidFill>
                  <a:srgbClr val="3B365F"/>
                </a:solidFill>
                <a:latin typeface="Times New Roman"/>
                <a:ea typeface="Times New Roman"/>
                <a:cs typeface="Times New Roman"/>
                <a:sym typeface="Times New Roman"/>
              </a:rPr>
              <a:t>This model incorporates the frailty term into the hazard function in an additive way. </a:t>
            </a:r>
            <a:endParaRPr sz="3399">
              <a:solidFill>
                <a:srgbClr val="3B365F"/>
              </a:solidFill>
              <a:latin typeface="Times New Roman"/>
              <a:ea typeface="Times New Roman"/>
              <a:cs typeface="Times New Roman"/>
              <a:sym typeface="Times New Roman"/>
            </a:endParaRPr>
          </a:p>
          <a:p>
            <a:pPr indent="0" lvl="0" marL="0" rtl="0" algn="l">
              <a:lnSpc>
                <a:spcPct val="140016"/>
              </a:lnSpc>
              <a:spcBef>
                <a:spcPts val="0"/>
              </a:spcBef>
              <a:spcAft>
                <a:spcPts val="0"/>
              </a:spcAft>
              <a:buNone/>
            </a:pPr>
            <a:r>
              <a:rPr lang="en-US" sz="3399">
                <a:solidFill>
                  <a:srgbClr val="3B365F"/>
                </a:solidFill>
                <a:latin typeface="Times New Roman"/>
                <a:ea typeface="Times New Roman"/>
                <a:cs typeface="Times New Roman"/>
                <a:sym typeface="Times New Roman"/>
              </a:rPr>
              <a:t>For recurrent event data,  the additive frailty model is defined as:</a:t>
            </a:r>
            <a:endParaRPr sz="1700"/>
          </a:p>
        </p:txBody>
      </p:sp>
      <p:sp>
        <p:nvSpPr>
          <p:cNvPr id="260" name="Google Shape;260;p27"/>
          <p:cNvSpPr/>
          <p:nvPr/>
        </p:nvSpPr>
        <p:spPr>
          <a:xfrm flipH="1" rot="2010944">
            <a:off x="-3117396" y="7501424"/>
            <a:ext cx="8474252" cy="4979219"/>
          </a:xfrm>
          <a:custGeom>
            <a:rect b="b" l="l" r="r" t="t"/>
            <a:pathLst>
              <a:path extrusionOk="0" h="7780208" w="12395216">
                <a:moveTo>
                  <a:pt x="12395216" y="0"/>
                </a:moveTo>
                <a:lnTo>
                  <a:pt x="0" y="0"/>
                </a:lnTo>
                <a:lnTo>
                  <a:pt x="0" y="7780207"/>
                </a:lnTo>
                <a:lnTo>
                  <a:pt x="12395216" y="7780207"/>
                </a:lnTo>
                <a:lnTo>
                  <a:pt x="12395216" y="0"/>
                </a:lnTo>
                <a:close/>
              </a:path>
            </a:pathLst>
          </a:custGeom>
          <a:blipFill rotWithShape="1">
            <a:blip r:embed="rId3">
              <a:alphaModFix/>
            </a:blip>
            <a:stretch>
              <a:fillRect b="0" l="0" r="0" t="0"/>
            </a:stretch>
          </a:blipFill>
          <a:ln>
            <a:noFill/>
          </a:ln>
        </p:spPr>
      </p:sp>
      <p:pic>
        <p:nvPicPr>
          <p:cNvPr id="261" name="Google Shape;261;p27"/>
          <p:cNvPicPr preferRelativeResize="0"/>
          <p:nvPr/>
        </p:nvPicPr>
        <p:blipFill>
          <a:blip r:embed="rId4">
            <a:alphaModFix/>
          </a:blip>
          <a:stretch>
            <a:fillRect/>
          </a:stretch>
        </p:blipFill>
        <p:spPr>
          <a:xfrm>
            <a:off x="10559050" y="3674150"/>
            <a:ext cx="5673875" cy="6107875"/>
          </a:xfrm>
          <a:prstGeom prst="rect">
            <a:avLst/>
          </a:prstGeom>
          <a:noFill/>
          <a:ln>
            <a:noFill/>
          </a:ln>
        </p:spPr>
      </p:pic>
      <p:sp>
        <p:nvSpPr>
          <p:cNvPr id="262" name="Google Shape;262;p27"/>
          <p:cNvSpPr/>
          <p:nvPr/>
        </p:nvSpPr>
        <p:spPr>
          <a:xfrm flipH="1" rot="-1006427">
            <a:off x="-221407" y="7577754"/>
            <a:ext cx="1958454" cy="2360922"/>
          </a:xfrm>
          <a:custGeom>
            <a:rect b="b" l="l" r="r" t="t"/>
            <a:pathLst>
              <a:path extrusionOk="0" h="3491322" w="2659752">
                <a:moveTo>
                  <a:pt x="2659753" y="0"/>
                </a:moveTo>
                <a:lnTo>
                  <a:pt x="0" y="0"/>
                </a:lnTo>
                <a:lnTo>
                  <a:pt x="0" y="3491322"/>
                </a:lnTo>
                <a:lnTo>
                  <a:pt x="2659753" y="3491322"/>
                </a:lnTo>
                <a:lnTo>
                  <a:pt x="2659753" y="0"/>
                </a:lnTo>
                <a:close/>
              </a:path>
            </a:pathLst>
          </a:custGeom>
          <a:blipFill rotWithShape="1">
            <a:blip r:embed="rId5">
              <a:alphaModFix/>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266" name="Shape 266"/>
        <p:cNvGrpSpPr/>
        <p:nvPr/>
      </p:nvGrpSpPr>
      <p:grpSpPr>
        <a:xfrm>
          <a:off x="0" y="0"/>
          <a:ext cx="0" cy="0"/>
          <a:chOff x="0" y="0"/>
          <a:chExt cx="0" cy="0"/>
        </a:xfrm>
      </p:grpSpPr>
      <p:sp>
        <p:nvSpPr>
          <p:cNvPr id="267" name="Google Shape;267;p28"/>
          <p:cNvSpPr/>
          <p:nvPr/>
        </p:nvSpPr>
        <p:spPr>
          <a:xfrm flipH="1" rot="-8642778">
            <a:off x="13713960" y="-1214854"/>
            <a:ext cx="8048513" cy="5051876"/>
          </a:xfrm>
          <a:custGeom>
            <a:rect b="b" l="l" r="r" t="t"/>
            <a:pathLst>
              <a:path extrusionOk="0" h="5048706" w="8043462">
                <a:moveTo>
                  <a:pt x="8043461" y="0"/>
                </a:moveTo>
                <a:lnTo>
                  <a:pt x="0" y="0"/>
                </a:lnTo>
                <a:lnTo>
                  <a:pt x="0" y="5048705"/>
                </a:lnTo>
                <a:lnTo>
                  <a:pt x="8043461" y="5048705"/>
                </a:lnTo>
                <a:lnTo>
                  <a:pt x="8043461" y="0"/>
                </a:lnTo>
                <a:close/>
              </a:path>
            </a:pathLst>
          </a:custGeom>
          <a:blipFill rotWithShape="1">
            <a:blip r:embed="rId3">
              <a:alphaModFix/>
            </a:blip>
            <a:stretch>
              <a:fillRect b="0" l="0" r="0" t="0"/>
            </a:stretch>
          </a:blipFill>
          <a:ln>
            <a:noFill/>
          </a:ln>
        </p:spPr>
      </p:sp>
      <p:sp>
        <p:nvSpPr>
          <p:cNvPr id="268" name="Google Shape;268;p28"/>
          <p:cNvSpPr txBox="1"/>
          <p:nvPr/>
        </p:nvSpPr>
        <p:spPr>
          <a:xfrm>
            <a:off x="685800" y="368525"/>
            <a:ext cx="16916400" cy="1000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6500">
                <a:solidFill>
                  <a:srgbClr val="3B365F"/>
                </a:solidFill>
                <a:latin typeface="Times New Roman"/>
                <a:ea typeface="Times New Roman"/>
                <a:cs typeface="Times New Roman"/>
                <a:sym typeface="Times New Roman"/>
              </a:rPr>
              <a:t>AIC Values For Different Frailty Distributions</a:t>
            </a:r>
            <a:endParaRPr sz="400">
              <a:latin typeface="Times New Roman"/>
              <a:ea typeface="Times New Roman"/>
              <a:cs typeface="Times New Roman"/>
              <a:sym typeface="Times New Roman"/>
            </a:endParaRPr>
          </a:p>
        </p:txBody>
      </p:sp>
      <p:sp>
        <p:nvSpPr>
          <p:cNvPr id="269" name="Google Shape;269;p28"/>
          <p:cNvSpPr/>
          <p:nvPr/>
        </p:nvSpPr>
        <p:spPr>
          <a:xfrm flipH="1" rot="1700905">
            <a:off x="-1145140" y="5388611"/>
            <a:ext cx="5950971" cy="5980931"/>
          </a:xfrm>
          <a:custGeom>
            <a:rect b="b" l="l" r="r" t="t"/>
            <a:pathLst>
              <a:path extrusionOk="0" h="10202966" w="9743832">
                <a:moveTo>
                  <a:pt x="9743833" y="0"/>
                </a:moveTo>
                <a:lnTo>
                  <a:pt x="0" y="0"/>
                </a:lnTo>
                <a:lnTo>
                  <a:pt x="0" y="10202965"/>
                </a:lnTo>
                <a:lnTo>
                  <a:pt x="9743833" y="10202965"/>
                </a:lnTo>
                <a:lnTo>
                  <a:pt x="9743833" y="0"/>
                </a:lnTo>
                <a:close/>
              </a:path>
            </a:pathLst>
          </a:custGeom>
          <a:blipFill rotWithShape="1">
            <a:blip r:embed="rId4">
              <a:alphaModFix/>
            </a:blip>
            <a:stretch>
              <a:fillRect b="0" l="0" r="0" t="0"/>
            </a:stretch>
          </a:blipFill>
          <a:ln>
            <a:noFill/>
          </a:ln>
        </p:spPr>
      </p:sp>
      <p:pic>
        <p:nvPicPr>
          <p:cNvPr id="270" name="Google Shape;270;p28" title="_- visual selection (2).png"/>
          <p:cNvPicPr preferRelativeResize="0"/>
          <p:nvPr/>
        </p:nvPicPr>
        <p:blipFill rotWithShape="1">
          <a:blip r:embed="rId5">
            <a:alphaModFix/>
          </a:blip>
          <a:srcRect b="10819" l="0" r="2771" t="10147"/>
          <a:stretch/>
        </p:blipFill>
        <p:spPr>
          <a:xfrm>
            <a:off x="5079925" y="1867738"/>
            <a:ext cx="8128151" cy="6551525"/>
          </a:xfrm>
          <a:prstGeom prst="rect">
            <a:avLst/>
          </a:prstGeom>
          <a:noFill/>
          <a:ln>
            <a:noFill/>
          </a:ln>
        </p:spPr>
      </p:pic>
      <p:sp>
        <p:nvSpPr>
          <p:cNvPr id="271" name="Google Shape;271;p28"/>
          <p:cNvSpPr txBox="1"/>
          <p:nvPr/>
        </p:nvSpPr>
        <p:spPr>
          <a:xfrm>
            <a:off x="1133550" y="9022238"/>
            <a:ext cx="16020900" cy="661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i="1" lang="en-US" sz="4300">
                <a:solidFill>
                  <a:srgbClr val="3B365F"/>
                </a:solidFill>
                <a:latin typeface="Times New Roman"/>
                <a:ea typeface="Times New Roman"/>
                <a:cs typeface="Times New Roman"/>
                <a:sym typeface="Times New Roman"/>
              </a:rPr>
              <a:t>Gamma distributed frailty is best as it has the least AIC value i.e. 3.78</a:t>
            </a:r>
            <a:endParaRPr i="1" sz="100">
              <a:latin typeface="Times New Roman"/>
              <a:ea typeface="Times New Roman"/>
              <a:cs typeface="Times New Roman"/>
              <a:sym typeface="Times New Roman"/>
            </a:endParaRPr>
          </a:p>
        </p:txBody>
      </p:sp>
      <p:sp>
        <p:nvSpPr>
          <p:cNvPr id="272" name="Google Shape;272;p28"/>
          <p:cNvSpPr/>
          <p:nvPr/>
        </p:nvSpPr>
        <p:spPr>
          <a:xfrm>
            <a:off x="530250" y="1876725"/>
            <a:ext cx="2100353" cy="6702448"/>
          </a:xfrm>
          <a:custGeom>
            <a:rect b="b" l="l" r="r" t="t"/>
            <a:pathLst>
              <a:path extrusionOk="0" h="8002923" w="2428154">
                <a:moveTo>
                  <a:pt x="0" y="0"/>
                </a:moveTo>
                <a:lnTo>
                  <a:pt x="2428153" y="0"/>
                </a:lnTo>
                <a:lnTo>
                  <a:pt x="2428153" y="8002924"/>
                </a:lnTo>
                <a:lnTo>
                  <a:pt x="0" y="8002924"/>
                </a:lnTo>
                <a:lnTo>
                  <a:pt x="0" y="0"/>
                </a:lnTo>
                <a:close/>
              </a:path>
            </a:pathLst>
          </a:custGeom>
          <a:blipFill rotWithShape="1">
            <a:blip r:embed="rId6">
              <a:alphaModFix/>
            </a:blip>
            <a:stretch>
              <a:fillRect b="0" l="0" r="-184632"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276" name="Shape 276"/>
        <p:cNvGrpSpPr/>
        <p:nvPr/>
      </p:nvGrpSpPr>
      <p:grpSpPr>
        <a:xfrm>
          <a:off x="0" y="0"/>
          <a:ext cx="0" cy="0"/>
          <a:chOff x="0" y="0"/>
          <a:chExt cx="0" cy="0"/>
        </a:xfrm>
      </p:grpSpPr>
      <p:sp>
        <p:nvSpPr>
          <p:cNvPr id="277" name="Google Shape;277;p29"/>
          <p:cNvSpPr txBox="1"/>
          <p:nvPr/>
        </p:nvSpPr>
        <p:spPr>
          <a:xfrm>
            <a:off x="3527692" y="526825"/>
            <a:ext cx="11232600" cy="1000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6500">
                <a:solidFill>
                  <a:srgbClr val="3B365F"/>
                </a:solidFill>
                <a:latin typeface="Times New Roman"/>
                <a:ea typeface="Times New Roman"/>
                <a:cs typeface="Times New Roman"/>
                <a:sym typeface="Times New Roman"/>
              </a:rPr>
              <a:t>Gamma Additive Frailty Model</a:t>
            </a:r>
            <a:endParaRPr>
              <a:latin typeface="Times New Roman"/>
              <a:ea typeface="Times New Roman"/>
              <a:cs typeface="Times New Roman"/>
              <a:sym typeface="Times New Roman"/>
            </a:endParaRPr>
          </a:p>
        </p:txBody>
      </p:sp>
      <p:sp>
        <p:nvSpPr>
          <p:cNvPr id="278" name="Google Shape;278;p29"/>
          <p:cNvSpPr txBox="1"/>
          <p:nvPr/>
        </p:nvSpPr>
        <p:spPr>
          <a:xfrm>
            <a:off x="791250" y="2223788"/>
            <a:ext cx="16705500" cy="708000"/>
          </a:xfrm>
          <a:prstGeom prst="rect">
            <a:avLst/>
          </a:prstGeom>
          <a:noFill/>
          <a:ln>
            <a:noFill/>
          </a:ln>
        </p:spPr>
        <p:txBody>
          <a:bodyPr anchorCtr="0" anchor="t" bIns="91425" lIns="91425" spcFirstLastPara="1" rIns="91425" wrap="square" tIns="91425">
            <a:spAutoFit/>
          </a:bodyPr>
          <a:lstStyle/>
          <a:p>
            <a:pPr indent="0" lvl="0" marL="0" rtl="0" algn="ctr">
              <a:lnSpc>
                <a:spcPct val="140000"/>
              </a:lnSpc>
              <a:spcBef>
                <a:spcPts val="0"/>
              </a:spcBef>
              <a:spcAft>
                <a:spcPts val="0"/>
              </a:spcAft>
              <a:buNone/>
            </a:pPr>
            <a:r>
              <a:rPr i="1" lang="en-US" sz="3400">
                <a:solidFill>
                  <a:srgbClr val="3B365F"/>
                </a:solidFill>
                <a:latin typeface="Times New Roman"/>
                <a:ea typeface="Times New Roman"/>
                <a:cs typeface="Times New Roman"/>
                <a:sym typeface="Times New Roman"/>
              </a:rPr>
              <a:t>The Gamma Frailty model is preferable due to the possibility of finding individual frailties.</a:t>
            </a:r>
            <a:endParaRPr sz="3400">
              <a:latin typeface="Times New Roman"/>
              <a:ea typeface="Times New Roman"/>
              <a:cs typeface="Times New Roman"/>
              <a:sym typeface="Times New Roman"/>
            </a:endParaRPr>
          </a:p>
        </p:txBody>
      </p:sp>
      <p:sp>
        <p:nvSpPr>
          <p:cNvPr id="279" name="Google Shape;279;p29"/>
          <p:cNvSpPr txBox="1"/>
          <p:nvPr/>
        </p:nvSpPr>
        <p:spPr>
          <a:xfrm>
            <a:off x="5988750" y="3424900"/>
            <a:ext cx="6310500" cy="985200"/>
          </a:xfrm>
          <a:prstGeom prst="rect">
            <a:avLst/>
          </a:prstGeom>
          <a:noFill/>
          <a:ln>
            <a:noFill/>
          </a:ln>
        </p:spPr>
        <p:txBody>
          <a:bodyPr anchorCtr="0" anchor="t" bIns="91425" lIns="91425" spcFirstLastPara="1" rIns="91425" wrap="square" tIns="91425">
            <a:spAutoFit/>
          </a:bodyPr>
          <a:lstStyle/>
          <a:p>
            <a:pPr indent="0" lvl="0" marL="0" rtl="0" algn="ctr">
              <a:lnSpc>
                <a:spcPct val="140000"/>
              </a:lnSpc>
              <a:spcBef>
                <a:spcPts val="0"/>
              </a:spcBef>
              <a:spcAft>
                <a:spcPts val="0"/>
              </a:spcAft>
              <a:buNone/>
            </a:pPr>
            <a:r>
              <a:rPr lang="en-US" sz="5200">
                <a:solidFill>
                  <a:srgbClr val="3B365F"/>
                </a:solidFill>
                <a:latin typeface="Cambria Math"/>
                <a:ea typeface="Cambria Math"/>
                <a:cs typeface="Cambria Math"/>
                <a:sym typeface="Cambria Math"/>
              </a:rPr>
              <a:t>λᵢ(t|vᵢ) = uᵢ + xᵢβ + vᵢ</a:t>
            </a:r>
            <a:endParaRPr sz="100">
              <a:latin typeface="Cambria Math"/>
              <a:ea typeface="Cambria Math"/>
              <a:cs typeface="Cambria Math"/>
              <a:sym typeface="Cambria Math"/>
            </a:endParaRPr>
          </a:p>
        </p:txBody>
      </p:sp>
      <p:sp>
        <p:nvSpPr>
          <p:cNvPr id="280" name="Google Shape;280;p29"/>
          <p:cNvSpPr/>
          <p:nvPr/>
        </p:nvSpPr>
        <p:spPr>
          <a:xfrm>
            <a:off x="652690" y="559508"/>
            <a:ext cx="1828678" cy="1399770"/>
          </a:xfrm>
          <a:custGeom>
            <a:rect b="b" l="l" r="r" t="t"/>
            <a:pathLst>
              <a:path extrusionOk="0" h="1399770" w="1828678">
                <a:moveTo>
                  <a:pt x="0" y="0"/>
                </a:moveTo>
                <a:lnTo>
                  <a:pt x="1828678" y="0"/>
                </a:lnTo>
                <a:lnTo>
                  <a:pt x="1828678" y="1399770"/>
                </a:lnTo>
                <a:lnTo>
                  <a:pt x="0" y="1399770"/>
                </a:lnTo>
                <a:lnTo>
                  <a:pt x="0" y="0"/>
                </a:lnTo>
                <a:close/>
              </a:path>
            </a:pathLst>
          </a:custGeom>
          <a:blipFill rotWithShape="1">
            <a:blip r:embed="rId3">
              <a:alphaModFix/>
            </a:blip>
            <a:stretch>
              <a:fillRect b="0" l="0" r="0" t="0"/>
            </a:stretch>
          </a:blipFill>
          <a:ln>
            <a:noFill/>
          </a:ln>
        </p:spPr>
      </p:sp>
      <p:sp>
        <p:nvSpPr>
          <p:cNvPr id="281" name="Google Shape;281;p29"/>
          <p:cNvSpPr txBox="1"/>
          <p:nvPr/>
        </p:nvSpPr>
        <p:spPr>
          <a:xfrm>
            <a:off x="791250" y="5246100"/>
            <a:ext cx="9453300" cy="4371300"/>
          </a:xfrm>
          <a:prstGeom prst="rect">
            <a:avLst/>
          </a:prstGeom>
          <a:noFill/>
          <a:ln>
            <a:noFill/>
          </a:ln>
        </p:spPr>
        <p:txBody>
          <a:bodyPr anchorCtr="0" anchor="t" bIns="91425" lIns="91425" spcFirstLastPara="1" rIns="91425" wrap="square" tIns="91425">
            <a:spAutoFit/>
          </a:bodyPr>
          <a:lstStyle/>
          <a:p>
            <a:pPr indent="-368300" lvl="0" marL="457200" rtl="0" algn="l">
              <a:lnSpc>
                <a:spcPct val="140000"/>
              </a:lnSpc>
              <a:spcBef>
                <a:spcPts val="0"/>
              </a:spcBef>
              <a:spcAft>
                <a:spcPts val="0"/>
              </a:spcAft>
              <a:buClr>
                <a:srgbClr val="3B365F"/>
              </a:buClr>
              <a:buSzPts val="2200"/>
              <a:buFont typeface="Cambria Math"/>
              <a:buChar char="●"/>
            </a:pPr>
            <a:r>
              <a:rPr lang="en-US" sz="3400">
                <a:solidFill>
                  <a:srgbClr val="3B365F"/>
                </a:solidFill>
                <a:latin typeface="Cambria Math"/>
                <a:ea typeface="Cambria Math"/>
                <a:cs typeface="Cambria Math"/>
                <a:sym typeface="Cambria Math"/>
              </a:rPr>
              <a:t>λᵢ(t|vᵢ) : Hazard rate for patient i at time t</a:t>
            </a:r>
            <a:endParaRPr sz="3400">
              <a:solidFill>
                <a:srgbClr val="3B365F"/>
              </a:solidFill>
              <a:latin typeface="Cambria Math"/>
              <a:ea typeface="Cambria Math"/>
              <a:cs typeface="Cambria Math"/>
              <a:sym typeface="Cambria Math"/>
            </a:endParaRPr>
          </a:p>
          <a:p>
            <a:pPr indent="-368300" lvl="0" marL="457200" rtl="0" algn="l">
              <a:lnSpc>
                <a:spcPct val="140000"/>
              </a:lnSpc>
              <a:spcBef>
                <a:spcPts val="0"/>
              </a:spcBef>
              <a:spcAft>
                <a:spcPts val="0"/>
              </a:spcAft>
              <a:buClr>
                <a:srgbClr val="3B365F"/>
              </a:buClr>
              <a:buSzPts val="2200"/>
              <a:buFont typeface="Cambria Math"/>
              <a:buChar char="●"/>
            </a:pPr>
            <a:r>
              <a:rPr lang="en-US" sz="3400">
                <a:solidFill>
                  <a:srgbClr val="3B365F"/>
                </a:solidFill>
                <a:latin typeface="Cambria Math"/>
                <a:ea typeface="Cambria Math"/>
                <a:cs typeface="Cambria Math"/>
                <a:sym typeface="Cambria Math"/>
              </a:rPr>
              <a:t>uᵢ: Constant baseline hazard</a:t>
            </a:r>
            <a:endParaRPr sz="3400">
              <a:solidFill>
                <a:srgbClr val="3B365F"/>
              </a:solidFill>
              <a:latin typeface="Cambria Math"/>
              <a:ea typeface="Cambria Math"/>
              <a:cs typeface="Cambria Math"/>
              <a:sym typeface="Cambria Math"/>
            </a:endParaRPr>
          </a:p>
          <a:p>
            <a:pPr indent="-368300" lvl="0" marL="457200" rtl="0" algn="l">
              <a:lnSpc>
                <a:spcPct val="140000"/>
              </a:lnSpc>
              <a:spcBef>
                <a:spcPts val="0"/>
              </a:spcBef>
              <a:spcAft>
                <a:spcPts val="0"/>
              </a:spcAft>
              <a:buClr>
                <a:srgbClr val="3B365F"/>
              </a:buClr>
              <a:buSzPts val="2200"/>
              <a:buFont typeface="Cambria Math"/>
              <a:buChar char="●"/>
            </a:pPr>
            <a:r>
              <a:rPr lang="en-US" sz="3400">
                <a:solidFill>
                  <a:srgbClr val="3B365F"/>
                </a:solidFill>
                <a:latin typeface="Cambria Math"/>
                <a:ea typeface="Cambria Math"/>
                <a:cs typeface="Cambria Math"/>
                <a:sym typeface="Cambria Math"/>
              </a:rPr>
              <a:t>β: Chemotherapy effect (covariate coefficient)</a:t>
            </a:r>
            <a:endParaRPr sz="3400">
              <a:solidFill>
                <a:srgbClr val="3B365F"/>
              </a:solidFill>
              <a:latin typeface="Cambria Math"/>
              <a:ea typeface="Cambria Math"/>
              <a:cs typeface="Cambria Math"/>
              <a:sym typeface="Cambria Math"/>
            </a:endParaRPr>
          </a:p>
          <a:p>
            <a:pPr indent="-368300" lvl="0" marL="457200" rtl="0" algn="l">
              <a:lnSpc>
                <a:spcPct val="140000"/>
              </a:lnSpc>
              <a:spcBef>
                <a:spcPts val="0"/>
              </a:spcBef>
              <a:spcAft>
                <a:spcPts val="0"/>
              </a:spcAft>
              <a:buClr>
                <a:srgbClr val="3B365F"/>
              </a:buClr>
              <a:buSzPts val="2200"/>
              <a:buFont typeface="Cambria Math"/>
              <a:buChar char="●"/>
            </a:pPr>
            <a:r>
              <a:rPr lang="en-US" sz="3400">
                <a:solidFill>
                  <a:srgbClr val="3B365F"/>
                </a:solidFill>
                <a:latin typeface="Cambria Math"/>
                <a:ea typeface="Cambria Math"/>
                <a:cs typeface="Cambria Math"/>
                <a:sym typeface="Cambria Math"/>
              </a:rPr>
              <a:t>xᵢ: 1, if patient received chemo</a:t>
            </a:r>
            <a:endParaRPr sz="3400">
              <a:solidFill>
                <a:srgbClr val="3B365F"/>
              </a:solidFill>
              <a:latin typeface="Cambria Math"/>
              <a:ea typeface="Cambria Math"/>
              <a:cs typeface="Cambria Math"/>
              <a:sym typeface="Cambria Math"/>
            </a:endParaRPr>
          </a:p>
          <a:p>
            <a:pPr indent="0" lvl="0" marL="0" rtl="0" algn="l">
              <a:lnSpc>
                <a:spcPct val="140000"/>
              </a:lnSpc>
              <a:spcBef>
                <a:spcPts val="0"/>
              </a:spcBef>
              <a:spcAft>
                <a:spcPts val="0"/>
              </a:spcAft>
              <a:buNone/>
            </a:pPr>
            <a:r>
              <a:rPr lang="en-US" sz="3400">
                <a:solidFill>
                  <a:srgbClr val="3B365F"/>
                </a:solidFill>
                <a:latin typeface="Cambria Math"/>
                <a:ea typeface="Cambria Math"/>
                <a:cs typeface="Cambria Math"/>
                <a:sym typeface="Cambria Math"/>
              </a:rPr>
              <a:t>        : 0, otherwise</a:t>
            </a:r>
            <a:endParaRPr sz="3400">
              <a:solidFill>
                <a:srgbClr val="3B365F"/>
              </a:solidFill>
              <a:latin typeface="Cambria Math"/>
              <a:ea typeface="Cambria Math"/>
              <a:cs typeface="Cambria Math"/>
              <a:sym typeface="Cambria Math"/>
            </a:endParaRPr>
          </a:p>
          <a:p>
            <a:pPr indent="-374650" lvl="0" marL="457200" rtl="0" algn="l">
              <a:lnSpc>
                <a:spcPct val="140000"/>
              </a:lnSpc>
              <a:spcBef>
                <a:spcPts val="0"/>
              </a:spcBef>
              <a:spcAft>
                <a:spcPts val="0"/>
              </a:spcAft>
              <a:buClr>
                <a:srgbClr val="3B365F"/>
              </a:buClr>
              <a:buSzPts val="2300"/>
              <a:buFont typeface="Cambria Math"/>
              <a:buChar char="●"/>
            </a:pPr>
            <a:r>
              <a:rPr lang="en-US" sz="3400">
                <a:solidFill>
                  <a:srgbClr val="3B365F"/>
                </a:solidFill>
                <a:latin typeface="Cambria Math"/>
                <a:ea typeface="Cambria Math"/>
                <a:cs typeface="Cambria Math"/>
                <a:sym typeface="Cambria Math"/>
              </a:rPr>
              <a:t>vᵢ: follows gamma(1/𝛼,1/𝛼)</a:t>
            </a:r>
            <a:endParaRPr sz="3400">
              <a:solidFill>
                <a:srgbClr val="3B365F"/>
              </a:solidFill>
              <a:latin typeface="Cambria Math"/>
              <a:ea typeface="Cambria Math"/>
              <a:cs typeface="Cambria Math"/>
              <a:sym typeface="Cambria Math"/>
            </a:endParaRPr>
          </a:p>
        </p:txBody>
      </p:sp>
      <p:sp>
        <p:nvSpPr>
          <p:cNvPr id="282" name="Google Shape;282;p29"/>
          <p:cNvSpPr/>
          <p:nvPr/>
        </p:nvSpPr>
        <p:spPr>
          <a:xfrm flipH="1" rot="-4682704">
            <a:off x="13314198" y="5148903"/>
            <a:ext cx="8057350" cy="5057423"/>
          </a:xfrm>
          <a:custGeom>
            <a:rect b="b" l="l" r="r" t="t"/>
            <a:pathLst>
              <a:path extrusionOk="0" h="5048706" w="8043462">
                <a:moveTo>
                  <a:pt x="8043461" y="0"/>
                </a:moveTo>
                <a:lnTo>
                  <a:pt x="0" y="0"/>
                </a:lnTo>
                <a:lnTo>
                  <a:pt x="0" y="5048705"/>
                </a:lnTo>
                <a:lnTo>
                  <a:pt x="8043461" y="5048705"/>
                </a:lnTo>
                <a:lnTo>
                  <a:pt x="8043461" y="0"/>
                </a:lnTo>
                <a:close/>
              </a:path>
            </a:pathLst>
          </a:custGeom>
          <a:blipFill rotWithShape="1">
            <a:blip r:embed="rId4">
              <a:alphaModFix/>
            </a:blip>
            <a:stretch>
              <a:fillRect b="0" l="0" r="0" t="0"/>
            </a:stretch>
          </a:blipFill>
          <a:ln>
            <a:noFill/>
          </a:ln>
        </p:spPr>
      </p:sp>
      <p:sp>
        <p:nvSpPr>
          <p:cNvPr id="283" name="Google Shape;283;p29"/>
          <p:cNvSpPr/>
          <p:nvPr/>
        </p:nvSpPr>
        <p:spPr>
          <a:xfrm flipH="1" rot="-4921278">
            <a:off x="10829263" y="1742289"/>
            <a:ext cx="9125744" cy="9451177"/>
          </a:xfrm>
          <a:custGeom>
            <a:rect b="b" l="l" r="r" t="t"/>
            <a:pathLst>
              <a:path extrusionOk="0" h="10202966" w="9743832">
                <a:moveTo>
                  <a:pt x="9743833" y="0"/>
                </a:moveTo>
                <a:lnTo>
                  <a:pt x="0" y="0"/>
                </a:lnTo>
                <a:lnTo>
                  <a:pt x="0" y="10202965"/>
                </a:lnTo>
                <a:lnTo>
                  <a:pt x="9743833" y="10202965"/>
                </a:lnTo>
                <a:lnTo>
                  <a:pt x="9743833" y="0"/>
                </a:lnTo>
                <a:close/>
              </a:path>
            </a:pathLst>
          </a:custGeom>
          <a:blipFill rotWithShape="1">
            <a:blip r:embed="rId5">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287" name="Shape 287"/>
        <p:cNvGrpSpPr/>
        <p:nvPr/>
      </p:nvGrpSpPr>
      <p:grpSpPr>
        <a:xfrm>
          <a:off x="0" y="0"/>
          <a:ext cx="0" cy="0"/>
          <a:chOff x="0" y="0"/>
          <a:chExt cx="0" cy="0"/>
        </a:xfrm>
      </p:grpSpPr>
      <p:sp>
        <p:nvSpPr>
          <p:cNvPr id="288" name="Google Shape;288;p30"/>
          <p:cNvSpPr/>
          <p:nvPr/>
        </p:nvSpPr>
        <p:spPr>
          <a:xfrm flipH="1" rot="7648044">
            <a:off x="-3149035" y="-1013739"/>
            <a:ext cx="6941885" cy="3069789"/>
          </a:xfrm>
          <a:custGeom>
            <a:rect b="b" l="l" r="r" t="t"/>
            <a:pathLst>
              <a:path extrusionOk="0" h="5048706" w="8043462">
                <a:moveTo>
                  <a:pt x="8043461" y="0"/>
                </a:moveTo>
                <a:lnTo>
                  <a:pt x="0" y="0"/>
                </a:lnTo>
                <a:lnTo>
                  <a:pt x="0" y="5048705"/>
                </a:lnTo>
                <a:lnTo>
                  <a:pt x="8043461" y="5048705"/>
                </a:lnTo>
                <a:lnTo>
                  <a:pt x="8043461" y="0"/>
                </a:lnTo>
                <a:close/>
              </a:path>
            </a:pathLst>
          </a:custGeom>
          <a:blipFill rotWithShape="1">
            <a:blip r:embed="rId3">
              <a:alphaModFix/>
            </a:blip>
            <a:stretch>
              <a:fillRect b="0" l="0" r="0" t="0"/>
            </a:stretch>
          </a:blipFill>
          <a:ln>
            <a:noFill/>
          </a:ln>
        </p:spPr>
      </p:sp>
      <p:sp>
        <p:nvSpPr>
          <p:cNvPr id="289" name="Google Shape;289;p30"/>
          <p:cNvSpPr txBox="1"/>
          <p:nvPr/>
        </p:nvSpPr>
        <p:spPr>
          <a:xfrm>
            <a:off x="857250" y="806625"/>
            <a:ext cx="16573500" cy="1000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Font typeface="Arial"/>
              <a:buNone/>
            </a:pPr>
            <a:r>
              <a:rPr lang="en-US" sz="6500">
                <a:solidFill>
                  <a:srgbClr val="3B365F"/>
                </a:solidFill>
                <a:latin typeface="Times New Roman"/>
                <a:ea typeface="Times New Roman"/>
                <a:cs typeface="Times New Roman"/>
                <a:sym typeface="Times New Roman"/>
              </a:rPr>
              <a:t>Parameter Estimates Of Gamma Frailty Model</a:t>
            </a:r>
            <a:endParaRPr>
              <a:latin typeface="Times New Roman"/>
              <a:ea typeface="Times New Roman"/>
              <a:cs typeface="Times New Roman"/>
              <a:sym typeface="Times New Roman"/>
            </a:endParaRPr>
          </a:p>
        </p:txBody>
      </p:sp>
      <p:sp>
        <p:nvSpPr>
          <p:cNvPr id="290" name="Google Shape;290;p30"/>
          <p:cNvSpPr txBox="1"/>
          <p:nvPr/>
        </p:nvSpPr>
        <p:spPr>
          <a:xfrm>
            <a:off x="857250" y="5545825"/>
            <a:ext cx="16573500" cy="3536400"/>
          </a:xfrm>
          <a:prstGeom prst="rect">
            <a:avLst/>
          </a:prstGeom>
          <a:noFill/>
          <a:ln>
            <a:noFill/>
          </a:ln>
        </p:spPr>
        <p:txBody>
          <a:bodyPr anchorCtr="0" anchor="t" bIns="91425" lIns="91425" spcFirstLastPara="1" rIns="91425" wrap="square" tIns="91425">
            <a:spAutoFit/>
          </a:bodyPr>
          <a:lstStyle/>
          <a:p>
            <a:pPr indent="-387286" lvl="0" marL="457200" rtl="0" algn="l">
              <a:lnSpc>
                <a:spcPct val="140016"/>
              </a:lnSpc>
              <a:spcBef>
                <a:spcPts val="0"/>
              </a:spcBef>
              <a:spcAft>
                <a:spcPts val="0"/>
              </a:spcAft>
              <a:buClr>
                <a:srgbClr val="3B365F"/>
              </a:buClr>
              <a:buSzPts val="2499"/>
              <a:buFont typeface="Times New Roman"/>
              <a:buChar char="●"/>
            </a:pPr>
            <a:r>
              <a:rPr lang="en-US" sz="3299">
                <a:solidFill>
                  <a:srgbClr val="3B365F"/>
                </a:solidFill>
                <a:latin typeface="Times New Roman"/>
                <a:ea typeface="Times New Roman"/>
                <a:cs typeface="Times New Roman"/>
                <a:sym typeface="Times New Roman"/>
              </a:rPr>
              <a:t>Chemotherapy treatment is significant.</a:t>
            </a:r>
            <a:endParaRPr sz="3299">
              <a:solidFill>
                <a:srgbClr val="3B365F"/>
              </a:solidFill>
              <a:latin typeface="Times New Roman"/>
              <a:ea typeface="Times New Roman"/>
              <a:cs typeface="Times New Roman"/>
              <a:sym typeface="Times New Roman"/>
            </a:endParaRPr>
          </a:p>
          <a:p>
            <a:pPr indent="-387286" lvl="0" marL="457200" rtl="0" algn="l">
              <a:lnSpc>
                <a:spcPct val="140016"/>
              </a:lnSpc>
              <a:spcBef>
                <a:spcPts val="0"/>
              </a:spcBef>
              <a:spcAft>
                <a:spcPts val="0"/>
              </a:spcAft>
              <a:buClr>
                <a:srgbClr val="3B365F"/>
              </a:buClr>
              <a:buSzPts val="2499"/>
              <a:buFont typeface="Times New Roman"/>
              <a:buChar char="●"/>
            </a:pPr>
            <a:r>
              <a:rPr lang="en-US" sz="3299">
                <a:solidFill>
                  <a:srgbClr val="3B365F"/>
                </a:solidFill>
                <a:latin typeface="Times New Roman"/>
                <a:ea typeface="Times New Roman"/>
                <a:cs typeface="Times New Roman"/>
                <a:sym typeface="Times New Roman"/>
              </a:rPr>
              <a:t>The negative value of β indicates that chemotherapy significantly reduces the risk of readmission (recurrent events) in colorectal cancer patients.</a:t>
            </a:r>
            <a:endParaRPr sz="3299">
              <a:solidFill>
                <a:srgbClr val="3B365F"/>
              </a:solidFill>
              <a:latin typeface="Times New Roman"/>
              <a:ea typeface="Times New Roman"/>
              <a:cs typeface="Times New Roman"/>
              <a:sym typeface="Times New Roman"/>
            </a:endParaRPr>
          </a:p>
          <a:p>
            <a:pPr indent="-387286" lvl="0" marL="457200" rtl="0" algn="l">
              <a:lnSpc>
                <a:spcPct val="140016"/>
              </a:lnSpc>
              <a:spcBef>
                <a:spcPts val="0"/>
              </a:spcBef>
              <a:spcAft>
                <a:spcPts val="0"/>
              </a:spcAft>
              <a:buClr>
                <a:srgbClr val="3B365F"/>
              </a:buClr>
              <a:buSzPts val="2499"/>
              <a:buFont typeface="Times New Roman"/>
              <a:buChar char="●"/>
            </a:pPr>
            <a:r>
              <a:rPr lang="en-US" sz="3299">
                <a:solidFill>
                  <a:srgbClr val="3B365F"/>
                </a:solidFill>
                <a:latin typeface="Times New Roman"/>
                <a:ea typeface="Times New Roman"/>
                <a:cs typeface="Times New Roman"/>
                <a:sym typeface="Times New Roman"/>
              </a:rPr>
              <a:t>Through the values of frailty = 30.16, we observe that there is heterogeneity among patients.</a:t>
            </a:r>
            <a:endParaRPr sz="3299">
              <a:solidFill>
                <a:srgbClr val="3B365F"/>
              </a:solidFill>
              <a:latin typeface="Times New Roman"/>
              <a:ea typeface="Times New Roman"/>
              <a:cs typeface="Times New Roman"/>
              <a:sym typeface="Times New Roman"/>
            </a:endParaRPr>
          </a:p>
          <a:p>
            <a:pPr indent="-387286" lvl="0" marL="457200" rtl="0" algn="l">
              <a:lnSpc>
                <a:spcPct val="140016"/>
              </a:lnSpc>
              <a:spcBef>
                <a:spcPts val="0"/>
              </a:spcBef>
              <a:spcAft>
                <a:spcPts val="0"/>
              </a:spcAft>
              <a:buClr>
                <a:srgbClr val="3B365F"/>
              </a:buClr>
              <a:buSzPts val="2499"/>
              <a:buFont typeface="Times New Roman"/>
              <a:buChar char="●"/>
            </a:pPr>
            <a:r>
              <a:rPr lang="en-US" sz="3299">
                <a:solidFill>
                  <a:srgbClr val="3B365F"/>
                </a:solidFill>
                <a:latin typeface="Times New Roman"/>
                <a:ea typeface="Times New Roman"/>
                <a:cs typeface="Times New Roman"/>
                <a:sym typeface="Times New Roman"/>
              </a:rPr>
              <a:t>As new tumours develop, the patient becomes more frail.</a:t>
            </a:r>
            <a:endParaRPr sz="3299">
              <a:solidFill>
                <a:srgbClr val="3B365F"/>
              </a:solidFill>
              <a:latin typeface="Times New Roman"/>
              <a:ea typeface="Times New Roman"/>
              <a:cs typeface="Times New Roman"/>
              <a:sym typeface="Times New Roman"/>
            </a:endParaRPr>
          </a:p>
        </p:txBody>
      </p:sp>
      <p:pic>
        <p:nvPicPr>
          <p:cNvPr id="291" name="Google Shape;291;p30"/>
          <p:cNvPicPr preferRelativeResize="0"/>
          <p:nvPr/>
        </p:nvPicPr>
        <p:blipFill rotWithShape="1">
          <a:blip r:embed="rId4">
            <a:alphaModFix/>
          </a:blip>
          <a:srcRect b="0" l="1409" r="0" t="0"/>
          <a:stretch/>
        </p:blipFill>
        <p:spPr>
          <a:xfrm>
            <a:off x="4319600" y="2532175"/>
            <a:ext cx="9788650" cy="2023800"/>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295" name="Shape 295"/>
        <p:cNvGrpSpPr/>
        <p:nvPr/>
      </p:nvGrpSpPr>
      <p:grpSpPr>
        <a:xfrm>
          <a:off x="0" y="0"/>
          <a:ext cx="0" cy="0"/>
          <a:chOff x="0" y="0"/>
          <a:chExt cx="0" cy="0"/>
        </a:xfrm>
      </p:grpSpPr>
      <p:sp>
        <p:nvSpPr>
          <p:cNvPr id="296" name="Google Shape;296;p31"/>
          <p:cNvSpPr/>
          <p:nvPr/>
        </p:nvSpPr>
        <p:spPr>
          <a:xfrm flipH="1" rot="2554829">
            <a:off x="-2640379" y="8789577"/>
            <a:ext cx="6756412" cy="4076265"/>
          </a:xfrm>
          <a:custGeom>
            <a:rect b="b" l="l" r="r" t="t"/>
            <a:pathLst>
              <a:path extrusionOk="0" h="8439612" w="13445762">
                <a:moveTo>
                  <a:pt x="13445762" y="0"/>
                </a:moveTo>
                <a:lnTo>
                  <a:pt x="0" y="0"/>
                </a:lnTo>
                <a:lnTo>
                  <a:pt x="0" y="8439613"/>
                </a:lnTo>
                <a:lnTo>
                  <a:pt x="13445762" y="8439613"/>
                </a:lnTo>
                <a:lnTo>
                  <a:pt x="13445762" y="0"/>
                </a:lnTo>
                <a:close/>
              </a:path>
            </a:pathLst>
          </a:custGeom>
          <a:blipFill rotWithShape="1">
            <a:blip r:embed="rId3">
              <a:alphaModFix/>
            </a:blip>
            <a:stretch>
              <a:fillRect b="0" l="0" r="0" t="0"/>
            </a:stretch>
          </a:blipFill>
          <a:ln>
            <a:noFill/>
          </a:ln>
        </p:spPr>
      </p:sp>
      <p:pic>
        <p:nvPicPr>
          <p:cNvPr id="297" name="Google Shape;297;p31"/>
          <p:cNvPicPr preferRelativeResize="0"/>
          <p:nvPr/>
        </p:nvPicPr>
        <p:blipFill rotWithShape="1">
          <a:blip r:embed="rId4">
            <a:alphaModFix/>
          </a:blip>
          <a:srcRect b="7490" l="2717" r="1607" t="4380"/>
          <a:stretch/>
        </p:blipFill>
        <p:spPr>
          <a:xfrm>
            <a:off x="420350" y="3122400"/>
            <a:ext cx="9619000" cy="4519800"/>
          </a:xfrm>
          <a:prstGeom prst="rect">
            <a:avLst/>
          </a:prstGeom>
          <a:noFill/>
          <a:ln>
            <a:noFill/>
          </a:ln>
        </p:spPr>
      </p:pic>
      <p:sp>
        <p:nvSpPr>
          <p:cNvPr id="298" name="Google Shape;298;p31"/>
          <p:cNvSpPr txBox="1"/>
          <p:nvPr/>
        </p:nvSpPr>
        <p:spPr>
          <a:xfrm>
            <a:off x="3284400" y="539925"/>
            <a:ext cx="11719200" cy="1000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Font typeface="Arial"/>
              <a:buNone/>
            </a:pPr>
            <a:r>
              <a:rPr lang="en-US" sz="6500">
                <a:solidFill>
                  <a:srgbClr val="3B365F"/>
                </a:solidFill>
                <a:latin typeface="Times New Roman"/>
                <a:ea typeface="Times New Roman"/>
                <a:cs typeface="Times New Roman"/>
                <a:sym typeface="Times New Roman"/>
              </a:rPr>
              <a:t>Understanding Hazard Ratio (HR)</a:t>
            </a:r>
            <a:endParaRPr>
              <a:latin typeface="Times New Roman"/>
              <a:ea typeface="Times New Roman"/>
              <a:cs typeface="Times New Roman"/>
              <a:sym typeface="Times New Roman"/>
            </a:endParaRPr>
          </a:p>
        </p:txBody>
      </p:sp>
      <p:sp>
        <p:nvSpPr>
          <p:cNvPr id="299" name="Google Shape;299;p31"/>
          <p:cNvSpPr txBox="1"/>
          <p:nvPr/>
        </p:nvSpPr>
        <p:spPr>
          <a:xfrm>
            <a:off x="5989200" y="1757550"/>
            <a:ext cx="6309600" cy="646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i="1" lang="en-US" sz="4200">
                <a:solidFill>
                  <a:srgbClr val="3B365F"/>
                </a:solidFill>
                <a:latin typeface="Times New Roman"/>
                <a:ea typeface="Times New Roman"/>
                <a:cs typeface="Times New Roman"/>
                <a:sym typeface="Times New Roman"/>
              </a:rPr>
              <a:t>The Melting Ice Analogy</a:t>
            </a:r>
            <a:endParaRPr i="1" sz="100">
              <a:latin typeface="Times New Roman"/>
              <a:ea typeface="Times New Roman"/>
              <a:cs typeface="Times New Roman"/>
              <a:sym typeface="Times New Roman"/>
            </a:endParaRPr>
          </a:p>
        </p:txBody>
      </p:sp>
      <p:sp>
        <p:nvSpPr>
          <p:cNvPr id="300" name="Google Shape;300;p31"/>
          <p:cNvSpPr/>
          <p:nvPr/>
        </p:nvSpPr>
        <p:spPr>
          <a:xfrm rot="-3992459">
            <a:off x="12458586" y="-3280013"/>
            <a:ext cx="7036926" cy="9173773"/>
          </a:xfrm>
          <a:custGeom>
            <a:rect b="b" l="l" r="r" t="t"/>
            <a:pathLst>
              <a:path extrusionOk="0" h="10202966" w="9743832">
                <a:moveTo>
                  <a:pt x="0" y="0"/>
                </a:moveTo>
                <a:lnTo>
                  <a:pt x="9743832" y="0"/>
                </a:lnTo>
                <a:lnTo>
                  <a:pt x="9743832" y="10202965"/>
                </a:lnTo>
                <a:lnTo>
                  <a:pt x="0" y="10202965"/>
                </a:lnTo>
                <a:lnTo>
                  <a:pt x="0" y="0"/>
                </a:lnTo>
                <a:close/>
              </a:path>
            </a:pathLst>
          </a:custGeom>
          <a:blipFill rotWithShape="1">
            <a:blip r:embed="rId5">
              <a:alphaModFix/>
            </a:blip>
            <a:stretch>
              <a:fillRect b="0" l="0" r="0" t="0"/>
            </a:stretch>
          </a:blipFill>
          <a:ln>
            <a:noFill/>
          </a:ln>
        </p:spPr>
      </p:sp>
      <p:pic>
        <p:nvPicPr>
          <p:cNvPr id="301" name="Google Shape;301;p31"/>
          <p:cNvPicPr preferRelativeResize="0"/>
          <p:nvPr/>
        </p:nvPicPr>
        <p:blipFill>
          <a:blip r:embed="rId6">
            <a:alphaModFix/>
          </a:blip>
          <a:stretch>
            <a:fillRect/>
          </a:stretch>
        </p:blipFill>
        <p:spPr>
          <a:xfrm>
            <a:off x="13049250" y="3063475"/>
            <a:ext cx="2979600" cy="1973985"/>
          </a:xfrm>
          <a:prstGeom prst="rect">
            <a:avLst/>
          </a:prstGeom>
          <a:noFill/>
          <a:ln cap="flat" cmpd="sng" w="28575">
            <a:solidFill>
              <a:schemeClr val="dk1"/>
            </a:solidFill>
            <a:prstDash val="solid"/>
            <a:round/>
            <a:headEnd len="sm" w="sm" type="none"/>
            <a:tailEnd len="sm" w="sm" type="none"/>
          </a:ln>
        </p:spPr>
      </p:pic>
      <p:sp>
        <p:nvSpPr>
          <p:cNvPr id="302" name="Google Shape;302;p31"/>
          <p:cNvSpPr txBox="1"/>
          <p:nvPr/>
        </p:nvSpPr>
        <p:spPr>
          <a:xfrm>
            <a:off x="1638300" y="8301600"/>
            <a:ext cx="16135500" cy="1329600"/>
          </a:xfrm>
          <a:prstGeom prst="rect">
            <a:avLst/>
          </a:prstGeom>
          <a:noFill/>
          <a:ln>
            <a:noFill/>
          </a:ln>
        </p:spPr>
        <p:txBody>
          <a:bodyPr anchorCtr="0" anchor="t" bIns="91425" lIns="91425" spcFirstLastPara="1" rIns="91425" wrap="square" tIns="91425">
            <a:spAutoFit/>
          </a:bodyPr>
          <a:lstStyle/>
          <a:p>
            <a:pPr indent="0" lvl="0" marL="0" rtl="0" algn="l">
              <a:lnSpc>
                <a:spcPct val="140016"/>
              </a:lnSpc>
              <a:spcBef>
                <a:spcPts val="0"/>
              </a:spcBef>
              <a:spcAft>
                <a:spcPts val="0"/>
              </a:spcAft>
              <a:buNone/>
            </a:pPr>
            <a:r>
              <a:rPr lang="en-US" sz="3099">
                <a:solidFill>
                  <a:srgbClr val="3B365F"/>
                </a:solidFill>
                <a:latin typeface="Times New Roman"/>
                <a:ea typeface="Times New Roman"/>
                <a:cs typeface="Times New Roman"/>
                <a:sym typeface="Times New Roman"/>
              </a:rPr>
              <a:t>The Hazard Ratio (HR) is a measure of how quickly an event (such as death, disease progression, or failure) occurs in one group compared to another over time. It is commonly used in survival analysis.</a:t>
            </a:r>
            <a:endParaRPr sz="3099">
              <a:solidFill>
                <a:srgbClr val="3B365F"/>
              </a:solidFill>
              <a:latin typeface="Times New Roman"/>
              <a:ea typeface="Times New Roman"/>
              <a:cs typeface="Times New Roman"/>
              <a:sym typeface="Times New Roman"/>
            </a:endParaRPr>
          </a:p>
        </p:txBody>
      </p:sp>
      <p:pic>
        <p:nvPicPr>
          <p:cNvPr id="303" name="Google Shape;303;p31"/>
          <p:cNvPicPr preferRelativeResize="0"/>
          <p:nvPr/>
        </p:nvPicPr>
        <p:blipFill>
          <a:blip r:embed="rId7">
            <a:alphaModFix/>
          </a:blip>
          <a:stretch>
            <a:fillRect/>
          </a:stretch>
        </p:blipFill>
        <p:spPr>
          <a:xfrm>
            <a:off x="10515599" y="5917772"/>
            <a:ext cx="7464876" cy="1552978"/>
          </a:xfrm>
          <a:prstGeom prst="rect">
            <a:avLst/>
          </a:prstGeom>
          <a:noFill/>
          <a:ln cap="flat" cmpd="sng" w="28575">
            <a:solidFill>
              <a:schemeClr val="dk1"/>
            </a:solidFill>
            <a:prstDash val="solid"/>
            <a:round/>
            <a:headEnd len="sm" w="sm" type="none"/>
            <a:tailEnd len="sm" w="sm" type="none"/>
          </a:ln>
        </p:spPr>
      </p:pic>
      <p:pic>
        <p:nvPicPr>
          <p:cNvPr descr="a cartoon drawing of an ice cube with a face and arms and legs (provided by Tenor)" id="304" name="Google Shape;304;p31"/>
          <p:cNvPicPr preferRelativeResize="0"/>
          <p:nvPr/>
        </p:nvPicPr>
        <p:blipFill>
          <a:blip r:embed="rId8">
            <a:alphaModFix amt="63000"/>
          </a:blip>
          <a:stretch>
            <a:fillRect/>
          </a:stretch>
        </p:blipFill>
        <p:spPr>
          <a:xfrm>
            <a:off x="247650" y="247650"/>
            <a:ext cx="2722351" cy="27223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308" name="Shape 308"/>
        <p:cNvGrpSpPr/>
        <p:nvPr/>
      </p:nvGrpSpPr>
      <p:grpSpPr>
        <a:xfrm>
          <a:off x="0" y="0"/>
          <a:ext cx="0" cy="0"/>
          <a:chOff x="0" y="0"/>
          <a:chExt cx="0" cy="0"/>
        </a:xfrm>
      </p:grpSpPr>
      <p:sp>
        <p:nvSpPr>
          <p:cNvPr id="309" name="Google Shape;309;p32"/>
          <p:cNvSpPr/>
          <p:nvPr/>
        </p:nvSpPr>
        <p:spPr>
          <a:xfrm rot="3230509">
            <a:off x="-2193960" y="4166941"/>
            <a:ext cx="7844390" cy="8101566"/>
          </a:xfrm>
          <a:custGeom>
            <a:rect b="b" l="l" r="r" t="t"/>
            <a:pathLst>
              <a:path extrusionOk="0" h="10202966" w="9743832">
                <a:moveTo>
                  <a:pt x="0" y="0"/>
                </a:moveTo>
                <a:lnTo>
                  <a:pt x="9743832" y="0"/>
                </a:lnTo>
                <a:lnTo>
                  <a:pt x="9743832" y="10202966"/>
                </a:lnTo>
                <a:lnTo>
                  <a:pt x="0" y="10202966"/>
                </a:lnTo>
                <a:lnTo>
                  <a:pt x="0" y="0"/>
                </a:lnTo>
                <a:close/>
              </a:path>
            </a:pathLst>
          </a:custGeom>
          <a:blipFill rotWithShape="1">
            <a:blip r:embed="rId3">
              <a:alphaModFix/>
            </a:blip>
            <a:stretch>
              <a:fillRect b="0" l="0" r="0" t="0"/>
            </a:stretch>
          </a:blipFill>
          <a:ln>
            <a:noFill/>
          </a:ln>
        </p:spPr>
      </p:sp>
      <p:sp>
        <p:nvSpPr>
          <p:cNvPr id="310" name="Google Shape;310;p32"/>
          <p:cNvSpPr/>
          <p:nvPr/>
        </p:nvSpPr>
        <p:spPr>
          <a:xfrm>
            <a:off x="3812858" y="9778365"/>
            <a:ext cx="120015" cy="124777"/>
          </a:xfrm>
          <a:custGeom>
            <a:rect b="b" l="l" r="r" t="t"/>
            <a:pathLst>
              <a:path extrusionOk="0" h="166370" w="160020">
                <a:moveTo>
                  <a:pt x="160020" y="58420"/>
                </a:moveTo>
                <a:cubicBezTo>
                  <a:pt x="156210" y="116840"/>
                  <a:pt x="135890" y="148590"/>
                  <a:pt x="115570" y="157480"/>
                </a:cubicBezTo>
                <a:cubicBezTo>
                  <a:pt x="93980" y="166370"/>
                  <a:pt x="57150" y="161290"/>
                  <a:pt x="38100" y="153670"/>
                </a:cubicBezTo>
                <a:cubicBezTo>
                  <a:pt x="25400" y="147320"/>
                  <a:pt x="16510" y="138430"/>
                  <a:pt x="10160" y="125730"/>
                </a:cubicBezTo>
                <a:cubicBezTo>
                  <a:pt x="2540" y="106680"/>
                  <a:pt x="0" y="67310"/>
                  <a:pt x="6350" y="48260"/>
                </a:cubicBezTo>
                <a:cubicBezTo>
                  <a:pt x="10160" y="34290"/>
                  <a:pt x="17780" y="25400"/>
                  <a:pt x="30480" y="17780"/>
                </a:cubicBezTo>
                <a:cubicBezTo>
                  <a:pt x="46990" y="7620"/>
                  <a:pt x="86360" y="0"/>
                  <a:pt x="105410" y="3810"/>
                </a:cubicBezTo>
                <a:cubicBezTo>
                  <a:pt x="119380" y="6350"/>
                  <a:pt x="139700" y="24130"/>
                  <a:pt x="139700" y="2413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2"/>
          <p:cNvSpPr txBox="1"/>
          <p:nvPr/>
        </p:nvSpPr>
        <p:spPr>
          <a:xfrm>
            <a:off x="3932880" y="-1110225"/>
            <a:ext cx="12759900" cy="4293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2000"/>
              <a:buFont typeface="Arial"/>
              <a:buNone/>
            </a:pPr>
            <a:r>
              <a:rPr b="1" lang="en-US" sz="3100">
                <a:solidFill>
                  <a:schemeClr val="dk1"/>
                </a:solidFill>
              </a:rPr>
              <a:t>Surv(time, event) ~ chemo + sex + dukes + charlson +cluster(id)</a:t>
            </a:r>
            <a:endParaRPr sz="3500"/>
          </a:p>
        </p:txBody>
      </p:sp>
      <p:sp>
        <p:nvSpPr>
          <p:cNvPr id="312" name="Google Shape;312;p32"/>
          <p:cNvSpPr txBox="1"/>
          <p:nvPr/>
        </p:nvSpPr>
        <p:spPr>
          <a:xfrm>
            <a:off x="7388675" y="-2756800"/>
            <a:ext cx="90459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Hazard ratio for each covariate of the model</a:t>
            </a:r>
            <a:endParaRPr sz="3200">
              <a:solidFill>
                <a:schemeClr val="dk1"/>
              </a:solidFill>
              <a:latin typeface="Calibri"/>
              <a:ea typeface="Calibri"/>
              <a:cs typeface="Calibri"/>
              <a:sym typeface="Calibri"/>
            </a:endParaRPr>
          </a:p>
        </p:txBody>
      </p:sp>
      <p:sp>
        <p:nvSpPr>
          <p:cNvPr id="313" name="Google Shape;313;p32"/>
          <p:cNvSpPr/>
          <p:nvPr/>
        </p:nvSpPr>
        <p:spPr>
          <a:xfrm flipH="1" rot="-156154">
            <a:off x="8789601" y="7989232"/>
            <a:ext cx="10919053" cy="3717543"/>
          </a:xfrm>
          <a:custGeom>
            <a:rect b="b" l="l" r="r" t="t"/>
            <a:pathLst>
              <a:path extrusionOk="0" h="7780208" w="12395216">
                <a:moveTo>
                  <a:pt x="12395216" y="0"/>
                </a:moveTo>
                <a:lnTo>
                  <a:pt x="0" y="0"/>
                </a:lnTo>
                <a:lnTo>
                  <a:pt x="0" y="7780208"/>
                </a:lnTo>
                <a:lnTo>
                  <a:pt x="12395216" y="7780208"/>
                </a:lnTo>
                <a:lnTo>
                  <a:pt x="12395216" y="0"/>
                </a:lnTo>
                <a:close/>
              </a:path>
            </a:pathLst>
          </a:custGeom>
          <a:blipFill rotWithShape="1">
            <a:blip r:embed="rId4">
              <a:alphaModFix/>
            </a:blip>
            <a:stretch>
              <a:fillRect b="0" l="0" r="0" t="0"/>
            </a:stretch>
          </a:blipFill>
          <a:ln>
            <a:noFill/>
          </a:ln>
        </p:spPr>
      </p:sp>
      <p:sp>
        <p:nvSpPr>
          <p:cNvPr id="314" name="Google Shape;314;p32"/>
          <p:cNvSpPr txBox="1"/>
          <p:nvPr/>
        </p:nvSpPr>
        <p:spPr>
          <a:xfrm>
            <a:off x="981000" y="485925"/>
            <a:ext cx="16326000" cy="1000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Font typeface="Arial"/>
              <a:buNone/>
            </a:pPr>
            <a:r>
              <a:rPr lang="en-US" sz="6500">
                <a:solidFill>
                  <a:srgbClr val="3B365F"/>
                </a:solidFill>
                <a:latin typeface="Times New Roman"/>
                <a:ea typeface="Times New Roman"/>
                <a:cs typeface="Times New Roman"/>
                <a:sym typeface="Times New Roman"/>
              </a:rPr>
              <a:t>Hazard Ratio For Each Covariate Of The Model</a:t>
            </a:r>
            <a:endParaRPr>
              <a:latin typeface="Times New Roman"/>
              <a:ea typeface="Times New Roman"/>
              <a:cs typeface="Times New Roman"/>
              <a:sym typeface="Times New Roman"/>
            </a:endParaRPr>
          </a:p>
        </p:txBody>
      </p:sp>
      <p:sp>
        <p:nvSpPr>
          <p:cNvPr id="315" name="Google Shape;315;p32"/>
          <p:cNvSpPr txBox="1"/>
          <p:nvPr/>
        </p:nvSpPr>
        <p:spPr>
          <a:xfrm>
            <a:off x="1906200" y="2455375"/>
            <a:ext cx="14475600" cy="646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i="1" lang="en-US" sz="4200">
                <a:solidFill>
                  <a:srgbClr val="3B365F"/>
                </a:solidFill>
                <a:latin typeface="Times New Roman"/>
                <a:ea typeface="Times New Roman"/>
                <a:cs typeface="Times New Roman"/>
                <a:sym typeface="Times New Roman"/>
              </a:rPr>
              <a:t>Surv(time,event) ~ chemo + sex + dukes + charlson + cluster(id)  </a:t>
            </a:r>
            <a:endParaRPr i="1" sz="100">
              <a:latin typeface="Times New Roman"/>
              <a:ea typeface="Times New Roman"/>
              <a:cs typeface="Times New Roman"/>
              <a:sym typeface="Times New Roman"/>
            </a:endParaRPr>
          </a:p>
        </p:txBody>
      </p:sp>
      <p:pic>
        <p:nvPicPr>
          <p:cNvPr id="316" name="Google Shape;316;p32"/>
          <p:cNvPicPr preferRelativeResize="0"/>
          <p:nvPr/>
        </p:nvPicPr>
        <p:blipFill rotWithShape="1">
          <a:blip r:embed="rId5">
            <a:alphaModFix/>
          </a:blip>
          <a:srcRect b="3252" l="457" r="0" t="3008"/>
          <a:stretch/>
        </p:blipFill>
        <p:spPr>
          <a:xfrm>
            <a:off x="314450" y="4468550"/>
            <a:ext cx="17740502" cy="2714250"/>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320" name="Shape 320"/>
        <p:cNvGrpSpPr/>
        <p:nvPr/>
      </p:nvGrpSpPr>
      <p:grpSpPr>
        <a:xfrm>
          <a:off x="0" y="0"/>
          <a:ext cx="0" cy="0"/>
          <a:chOff x="0" y="0"/>
          <a:chExt cx="0" cy="0"/>
        </a:xfrm>
      </p:grpSpPr>
      <p:sp>
        <p:nvSpPr>
          <p:cNvPr id="321" name="Google Shape;321;p33"/>
          <p:cNvSpPr/>
          <p:nvPr/>
        </p:nvSpPr>
        <p:spPr>
          <a:xfrm rot="-6260960">
            <a:off x="3496037" y="3986869"/>
            <a:ext cx="9730730" cy="10189247"/>
          </a:xfrm>
          <a:custGeom>
            <a:rect b="b" l="l" r="r" t="t"/>
            <a:pathLst>
              <a:path extrusionOk="0" h="10202966" w="9743832">
                <a:moveTo>
                  <a:pt x="0" y="0"/>
                </a:moveTo>
                <a:lnTo>
                  <a:pt x="9743832" y="0"/>
                </a:lnTo>
                <a:lnTo>
                  <a:pt x="9743832" y="10202965"/>
                </a:lnTo>
                <a:lnTo>
                  <a:pt x="0" y="10202965"/>
                </a:lnTo>
                <a:lnTo>
                  <a:pt x="0" y="0"/>
                </a:lnTo>
                <a:close/>
              </a:path>
            </a:pathLst>
          </a:custGeom>
          <a:blipFill rotWithShape="1">
            <a:blip r:embed="rId3">
              <a:alphaModFix/>
            </a:blip>
            <a:stretch>
              <a:fillRect b="0" l="0" r="0" t="0"/>
            </a:stretch>
          </a:blipFill>
          <a:ln>
            <a:noFill/>
          </a:ln>
        </p:spPr>
      </p:sp>
      <p:sp>
        <p:nvSpPr>
          <p:cNvPr id="322" name="Google Shape;322;p33"/>
          <p:cNvSpPr/>
          <p:nvPr/>
        </p:nvSpPr>
        <p:spPr>
          <a:xfrm flipH="1" rot="-439219">
            <a:off x="1583590" y="5874455"/>
            <a:ext cx="7094702" cy="4453191"/>
          </a:xfrm>
          <a:custGeom>
            <a:rect b="b" l="l" r="r" t="t"/>
            <a:pathLst>
              <a:path extrusionOk="0" h="4450271" w="7090051">
                <a:moveTo>
                  <a:pt x="7090051" y="0"/>
                </a:moveTo>
                <a:lnTo>
                  <a:pt x="0" y="0"/>
                </a:lnTo>
                <a:lnTo>
                  <a:pt x="0" y="4450270"/>
                </a:lnTo>
                <a:lnTo>
                  <a:pt x="7090051" y="4450270"/>
                </a:lnTo>
                <a:lnTo>
                  <a:pt x="7090051" y="0"/>
                </a:lnTo>
                <a:close/>
              </a:path>
            </a:pathLst>
          </a:custGeom>
          <a:blipFill rotWithShape="1">
            <a:blip r:embed="rId4">
              <a:alphaModFix/>
            </a:blip>
            <a:stretch>
              <a:fillRect b="0" l="0" r="0" t="0"/>
            </a:stretch>
          </a:blipFill>
          <a:ln>
            <a:noFill/>
          </a:ln>
        </p:spPr>
      </p:sp>
      <p:sp>
        <p:nvSpPr>
          <p:cNvPr id="323" name="Google Shape;323;p33"/>
          <p:cNvSpPr/>
          <p:nvPr/>
        </p:nvSpPr>
        <p:spPr>
          <a:xfrm flipH="1" rot="-438988">
            <a:off x="8808499" y="5907134"/>
            <a:ext cx="7237606" cy="4542888"/>
          </a:xfrm>
          <a:custGeom>
            <a:rect b="b" l="l" r="r" t="t"/>
            <a:pathLst>
              <a:path extrusionOk="0" h="4450271" w="7090051">
                <a:moveTo>
                  <a:pt x="7090051" y="0"/>
                </a:moveTo>
                <a:lnTo>
                  <a:pt x="0" y="0"/>
                </a:lnTo>
                <a:lnTo>
                  <a:pt x="0" y="4450270"/>
                </a:lnTo>
                <a:lnTo>
                  <a:pt x="7090051" y="4450270"/>
                </a:lnTo>
                <a:lnTo>
                  <a:pt x="7090051" y="0"/>
                </a:lnTo>
                <a:close/>
              </a:path>
            </a:pathLst>
          </a:custGeom>
          <a:blipFill rotWithShape="1">
            <a:blip r:embed="rId4">
              <a:alphaModFix/>
            </a:blip>
            <a:stretch>
              <a:fillRect b="0" l="0" r="0" t="0"/>
            </a:stretch>
          </a:blipFill>
          <a:ln>
            <a:noFill/>
          </a:ln>
        </p:spPr>
      </p:sp>
      <p:sp>
        <p:nvSpPr>
          <p:cNvPr id="324" name="Google Shape;324;p33"/>
          <p:cNvSpPr/>
          <p:nvPr/>
        </p:nvSpPr>
        <p:spPr>
          <a:xfrm flipH="1" rot="-440896">
            <a:off x="1727523" y="1610889"/>
            <a:ext cx="7899384" cy="5137666"/>
          </a:xfrm>
          <a:custGeom>
            <a:rect b="b" l="l" r="r" t="t"/>
            <a:pathLst>
              <a:path extrusionOk="0" h="4450271" w="7090051">
                <a:moveTo>
                  <a:pt x="7090051" y="0"/>
                </a:moveTo>
                <a:lnTo>
                  <a:pt x="0" y="0"/>
                </a:lnTo>
                <a:lnTo>
                  <a:pt x="0" y="4450271"/>
                </a:lnTo>
                <a:lnTo>
                  <a:pt x="7090051" y="4450271"/>
                </a:lnTo>
                <a:lnTo>
                  <a:pt x="7090051" y="0"/>
                </a:lnTo>
                <a:close/>
              </a:path>
            </a:pathLst>
          </a:custGeom>
          <a:blipFill rotWithShape="1">
            <a:blip r:embed="rId4">
              <a:alphaModFix/>
            </a:blip>
            <a:stretch>
              <a:fillRect b="0" l="0" r="0" t="0"/>
            </a:stretch>
          </a:blipFill>
          <a:ln>
            <a:noFill/>
          </a:ln>
        </p:spPr>
      </p:sp>
      <p:sp>
        <p:nvSpPr>
          <p:cNvPr id="325" name="Google Shape;325;p33"/>
          <p:cNvSpPr/>
          <p:nvPr/>
        </p:nvSpPr>
        <p:spPr>
          <a:xfrm flipH="1" rot="-436500">
            <a:off x="9400419" y="1916618"/>
            <a:ext cx="7558577" cy="4857540"/>
          </a:xfrm>
          <a:custGeom>
            <a:rect b="b" l="l" r="r" t="t"/>
            <a:pathLst>
              <a:path extrusionOk="0" h="4450271" w="7090051">
                <a:moveTo>
                  <a:pt x="7090051" y="0"/>
                </a:moveTo>
                <a:lnTo>
                  <a:pt x="0" y="0"/>
                </a:lnTo>
                <a:lnTo>
                  <a:pt x="0" y="4450271"/>
                </a:lnTo>
                <a:lnTo>
                  <a:pt x="7090051" y="4450271"/>
                </a:lnTo>
                <a:lnTo>
                  <a:pt x="7090051" y="0"/>
                </a:lnTo>
                <a:close/>
              </a:path>
            </a:pathLst>
          </a:custGeom>
          <a:blipFill rotWithShape="1">
            <a:blip r:embed="rId4">
              <a:alphaModFix/>
            </a:blip>
            <a:stretch>
              <a:fillRect b="0" l="0" r="0" t="0"/>
            </a:stretch>
          </a:blipFill>
          <a:ln>
            <a:noFill/>
          </a:ln>
        </p:spPr>
      </p:sp>
      <p:sp>
        <p:nvSpPr>
          <p:cNvPr id="326" name="Google Shape;326;p33"/>
          <p:cNvSpPr/>
          <p:nvPr/>
        </p:nvSpPr>
        <p:spPr>
          <a:xfrm>
            <a:off x="92352" y="2338800"/>
            <a:ext cx="2428154" cy="8002923"/>
          </a:xfrm>
          <a:custGeom>
            <a:rect b="b" l="l" r="r" t="t"/>
            <a:pathLst>
              <a:path extrusionOk="0" h="8002923" w="2428154">
                <a:moveTo>
                  <a:pt x="0" y="0"/>
                </a:moveTo>
                <a:lnTo>
                  <a:pt x="2428153" y="0"/>
                </a:lnTo>
                <a:lnTo>
                  <a:pt x="2428153" y="8002924"/>
                </a:lnTo>
                <a:lnTo>
                  <a:pt x="0" y="8002924"/>
                </a:lnTo>
                <a:lnTo>
                  <a:pt x="0" y="0"/>
                </a:lnTo>
                <a:close/>
              </a:path>
            </a:pathLst>
          </a:custGeom>
          <a:blipFill rotWithShape="1">
            <a:blip r:embed="rId5">
              <a:alphaModFix/>
            </a:blip>
            <a:stretch>
              <a:fillRect b="0" l="0" r="-184632" t="0"/>
            </a:stretch>
          </a:blipFill>
          <a:ln>
            <a:noFill/>
          </a:ln>
        </p:spPr>
      </p:sp>
      <p:sp>
        <p:nvSpPr>
          <p:cNvPr id="327" name="Google Shape;327;p33"/>
          <p:cNvSpPr/>
          <p:nvPr/>
        </p:nvSpPr>
        <p:spPr>
          <a:xfrm>
            <a:off x="15659099" y="3390900"/>
            <a:ext cx="2849614" cy="6902521"/>
          </a:xfrm>
          <a:custGeom>
            <a:rect b="b" l="l" r="r" t="t"/>
            <a:pathLst>
              <a:path extrusionOk="0" h="8002923" w="3362376">
                <a:moveTo>
                  <a:pt x="0" y="0"/>
                </a:moveTo>
                <a:lnTo>
                  <a:pt x="3362376" y="0"/>
                </a:lnTo>
                <a:lnTo>
                  <a:pt x="3362376" y="8002923"/>
                </a:lnTo>
                <a:lnTo>
                  <a:pt x="0" y="8002923"/>
                </a:lnTo>
                <a:lnTo>
                  <a:pt x="0" y="0"/>
                </a:lnTo>
                <a:close/>
              </a:path>
            </a:pathLst>
          </a:custGeom>
          <a:blipFill rotWithShape="1">
            <a:blip r:embed="rId5">
              <a:alphaModFix/>
            </a:blip>
            <a:stretch>
              <a:fillRect b="0" l="-105549" r="0" t="0"/>
            </a:stretch>
          </a:blipFill>
          <a:ln>
            <a:noFill/>
          </a:ln>
        </p:spPr>
      </p:sp>
      <p:sp>
        <p:nvSpPr>
          <p:cNvPr id="328" name="Google Shape;328;p33"/>
          <p:cNvSpPr/>
          <p:nvPr/>
        </p:nvSpPr>
        <p:spPr>
          <a:xfrm rot="-241051">
            <a:off x="1988445" y="4684847"/>
            <a:ext cx="492010" cy="1160078"/>
          </a:xfrm>
          <a:custGeom>
            <a:rect b="b" l="l" r="r" t="t"/>
            <a:pathLst>
              <a:path extrusionOk="0" h="1548130" w="656590">
                <a:moveTo>
                  <a:pt x="177800" y="66040"/>
                </a:moveTo>
                <a:cubicBezTo>
                  <a:pt x="292100" y="551180"/>
                  <a:pt x="332740" y="689610"/>
                  <a:pt x="368300" y="783590"/>
                </a:cubicBezTo>
                <a:cubicBezTo>
                  <a:pt x="392430" y="848360"/>
                  <a:pt x="421640" y="887730"/>
                  <a:pt x="441960" y="944880"/>
                </a:cubicBezTo>
                <a:cubicBezTo>
                  <a:pt x="463550" y="1008380"/>
                  <a:pt x="467360" y="1084580"/>
                  <a:pt x="488950" y="1148080"/>
                </a:cubicBezTo>
                <a:cubicBezTo>
                  <a:pt x="509270" y="1207770"/>
                  <a:pt x="535940" y="1270000"/>
                  <a:pt x="565150" y="1315720"/>
                </a:cubicBezTo>
                <a:cubicBezTo>
                  <a:pt x="589280" y="1352550"/>
                  <a:pt x="632460" y="1384300"/>
                  <a:pt x="645160" y="1407160"/>
                </a:cubicBezTo>
                <a:cubicBezTo>
                  <a:pt x="651510" y="1418590"/>
                  <a:pt x="654050" y="1424940"/>
                  <a:pt x="655320" y="1436370"/>
                </a:cubicBezTo>
                <a:cubicBezTo>
                  <a:pt x="656590" y="1451610"/>
                  <a:pt x="651510" y="1480820"/>
                  <a:pt x="645160" y="1496060"/>
                </a:cubicBezTo>
                <a:cubicBezTo>
                  <a:pt x="641350" y="1506220"/>
                  <a:pt x="636270" y="1512570"/>
                  <a:pt x="627380" y="1520190"/>
                </a:cubicBezTo>
                <a:cubicBezTo>
                  <a:pt x="614680" y="1530350"/>
                  <a:pt x="590550" y="1543050"/>
                  <a:pt x="571500" y="1545590"/>
                </a:cubicBezTo>
                <a:cubicBezTo>
                  <a:pt x="553720" y="1546860"/>
                  <a:pt x="529590" y="1541780"/>
                  <a:pt x="513080" y="1531620"/>
                </a:cubicBezTo>
                <a:cubicBezTo>
                  <a:pt x="496570" y="1522730"/>
                  <a:pt x="481330" y="1501140"/>
                  <a:pt x="473710" y="1485900"/>
                </a:cubicBezTo>
                <a:cubicBezTo>
                  <a:pt x="468630" y="1475740"/>
                  <a:pt x="467360" y="1468120"/>
                  <a:pt x="467360" y="1456690"/>
                </a:cubicBezTo>
                <a:cubicBezTo>
                  <a:pt x="468630" y="1440180"/>
                  <a:pt x="472440" y="1413510"/>
                  <a:pt x="483870" y="1398270"/>
                </a:cubicBezTo>
                <a:cubicBezTo>
                  <a:pt x="494030" y="1381760"/>
                  <a:pt x="516890" y="1367790"/>
                  <a:pt x="532130" y="1361440"/>
                </a:cubicBezTo>
                <a:cubicBezTo>
                  <a:pt x="542290" y="1357630"/>
                  <a:pt x="552450" y="1356360"/>
                  <a:pt x="562610" y="1356360"/>
                </a:cubicBezTo>
                <a:cubicBezTo>
                  <a:pt x="571500" y="1356360"/>
                  <a:pt x="581660" y="1357630"/>
                  <a:pt x="591820" y="1361440"/>
                </a:cubicBezTo>
                <a:cubicBezTo>
                  <a:pt x="607060" y="1367790"/>
                  <a:pt x="629920" y="1385570"/>
                  <a:pt x="640080" y="1398270"/>
                </a:cubicBezTo>
                <a:cubicBezTo>
                  <a:pt x="647700" y="1407160"/>
                  <a:pt x="650240" y="1414780"/>
                  <a:pt x="652780" y="1426210"/>
                </a:cubicBezTo>
                <a:cubicBezTo>
                  <a:pt x="656590" y="1441450"/>
                  <a:pt x="656590" y="1468120"/>
                  <a:pt x="650240" y="1485900"/>
                </a:cubicBezTo>
                <a:cubicBezTo>
                  <a:pt x="642620" y="1503680"/>
                  <a:pt x="623570" y="1522730"/>
                  <a:pt x="610870" y="1531620"/>
                </a:cubicBezTo>
                <a:cubicBezTo>
                  <a:pt x="600710" y="1539240"/>
                  <a:pt x="593090" y="1541780"/>
                  <a:pt x="581660" y="1543050"/>
                </a:cubicBezTo>
                <a:cubicBezTo>
                  <a:pt x="566420" y="1545590"/>
                  <a:pt x="543560" y="1548130"/>
                  <a:pt x="521970" y="1536700"/>
                </a:cubicBezTo>
                <a:cubicBezTo>
                  <a:pt x="480060" y="1515110"/>
                  <a:pt x="412750" y="1418590"/>
                  <a:pt x="379730" y="1365250"/>
                </a:cubicBezTo>
                <a:cubicBezTo>
                  <a:pt x="355600" y="1327150"/>
                  <a:pt x="347980" y="1300480"/>
                  <a:pt x="331470" y="1254760"/>
                </a:cubicBezTo>
                <a:cubicBezTo>
                  <a:pt x="306070" y="1182370"/>
                  <a:pt x="283210" y="1068070"/>
                  <a:pt x="251460" y="967740"/>
                </a:cubicBezTo>
                <a:cubicBezTo>
                  <a:pt x="217170" y="855980"/>
                  <a:pt x="160020" y="718820"/>
                  <a:pt x="129540" y="613410"/>
                </a:cubicBezTo>
                <a:cubicBezTo>
                  <a:pt x="104140" y="530860"/>
                  <a:pt x="90170" y="469900"/>
                  <a:pt x="72390" y="387350"/>
                </a:cubicBezTo>
                <a:cubicBezTo>
                  <a:pt x="50800" y="289560"/>
                  <a:pt x="0" y="121920"/>
                  <a:pt x="12700" y="63500"/>
                </a:cubicBezTo>
                <a:cubicBezTo>
                  <a:pt x="19050" y="38100"/>
                  <a:pt x="31750" y="25400"/>
                  <a:pt x="48260" y="13970"/>
                </a:cubicBezTo>
                <a:cubicBezTo>
                  <a:pt x="63500" y="3810"/>
                  <a:pt x="88900" y="0"/>
                  <a:pt x="106680" y="1270"/>
                </a:cubicBezTo>
                <a:cubicBezTo>
                  <a:pt x="120650" y="2540"/>
                  <a:pt x="133350" y="6350"/>
                  <a:pt x="144780" y="16510"/>
                </a:cubicBezTo>
                <a:cubicBezTo>
                  <a:pt x="157480" y="26670"/>
                  <a:pt x="177800" y="66040"/>
                  <a:pt x="177800" y="6604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3"/>
          <p:cNvSpPr/>
          <p:nvPr/>
        </p:nvSpPr>
        <p:spPr>
          <a:xfrm>
            <a:off x="8548788" y="2512220"/>
            <a:ext cx="570548" cy="494347"/>
          </a:xfrm>
          <a:custGeom>
            <a:rect b="b" l="l" r="r" t="t"/>
            <a:pathLst>
              <a:path extrusionOk="0" h="659130" w="760730">
                <a:moveTo>
                  <a:pt x="123190" y="10160"/>
                </a:moveTo>
                <a:cubicBezTo>
                  <a:pt x="515620" y="285750"/>
                  <a:pt x="695960" y="443230"/>
                  <a:pt x="739140" y="508000"/>
                </a:cubicBezTo>
                <a:cubicBezTo>
                  <a:pt x="754380" y="530860"/>
                  <a:pt x="758190" y="544830"/>
                  <a:pt x="758190" y="563880"/>
                </a:cubicBezTo>
                <a:cubicBezTo>
                  <a:pt x="758190" y="582930"/>
                  <a:pt x="751840" y="604520"/>
                  <a:pt x="740410" y="619760"/>
                </a:cubicBezTo>
                <a:cubicBezTo>
                  <a:pt x="728980" y="635000"/>
                  <a:pt x="709930" y="648970"/>
                  <a:pt x="692150" y="654050"/>
                </a:cubicBezTo>
                <a:cubicBezTo>
                  <a:pt x="673100" y="659130"/>
                  <a:pt x="650240" y="657860"/>
                  <a:pt x="632460" y="651510"/>
                </a:cubicBezTo>
                <a:cubicBezTo>
                  <a:pt x="614680" y="645160"/>
                  <a:pt x="596900" y="626110"/>
                  <a:pt x="586740" y="613410"/>
                </a:cubicBezTo>
                <a:cubicBezTo>
                  <a:pt x="580390" y="604520"/>
                  <a:pt x="576580" y="596900"/>
                  <a:pt x="575310" y="585470"/>
                </a:cubicBezTo>
                <a:cubicBezTo>
                  <a:pt x="572770" y="570230"/>
                  <a:pt x="575310" y="542290"/>
                  <a:pt x="581660" y="527050"/>
                </a:cubicBezTo>
                <a:cubicBezTo>
                  <a:pt x="585470" y="516890"/>
                  <a:pt x="589280" y="509270"/>
                  <a:pt x="598170" y="501650"/>
                </a:cubicBezTo>
                <a:cubicBezTo>
                  <a:pt x="609600" y="491490"/>
                  <a:pt x="631190" y="476250"/>
                  <a:pt x="648970" y="473710"/>
                </a:cubicBezTo>
                <a:cubicBezTo>
                  <a:pt x="668020" y="469900"/>
                  <a:pt x="693420" y="476250"/>
                  <a:pt x="708660" y="482600"/>
                </a:cubicBezTo>
                <a:cubicBezTo>
                  <a:pt x="718820" y="486410"/>
                  <a:pt x="725170" y="492760"/>
                  <a:pt x="732790" y="500380"/>
                </a:cubicBezTo>
                <a:cubicBezTo>
                  <a:pt x="739140" y="506730"/>
                  <a:pt x="745490" y="514350"/>
                  <a:pt x="749300" y="524510"/>
                </a:cubicBezTo>
                <a:cubicBezTo>
                  <a:pt x="754380" y="539750"/>
                  <a:pt x="760730" y="565150"/>
                  <a:pt x="756920" y="584200"/>
                </a:cubicBezTo>
                <a:cubicBezTo>
                  <a:pt x="753110" y="601980"/>
                  <a:pt x="740410" y="622300"/>
                  <a:pt x="726440" y="635000"/>
                </a:cubicBezTo>
                <a:cubicBezTo>
                  <a:pt x="712470" y="646430"/>
                  <a:pt x="690880" y="656590"/>
                  <a:pt x="671830" y="657860"/>
                </a:cubicBezTo>
                <a:cubicBezTo>
                  <a:pt x="652780" y="659130"/>
                  <a:pt x="638810" y="656590"/>
                  <a:pt x="614680" y="642620"/>
                </a:cubicBezTo>
                <a:cubicBezTo>
                  <a:pt x="543560" y="601980"/>
                  <a:pt x="378460" y="389890"/>
                  <a:pt x="266700" y="299720"/>
                </a:cubicBezTo>
                <a:cubicBezTo>
                  <a:pt x="180340" y="229870"/>
                  <a:pt x="49530" y="182880"/>
                  <a:pt x="16510" y="135890"/>
                </a:cubicBezTo>
                <a:cubicBezTo>
                  <a:pt x="1270" y="115570"/>
                  <a:pt x="0" y="95250"/>
                  <a:pt x="0" y="77470"/>
                </a:cubicBezTo>
                <a:cubicBezTo>
                  <a:pt x="1270" y="63500"/>
                  <a:pt x="5080" y="50800"/>
                  <a:pt x="13970" y="39370"/>
                </a:cubicBezTo>
                <a:cubicBezTo>
                  <a:pt x="24130" y="25400"/>
                  <a:pt x="44450" y="8890"/>
                  <a:pt x="63500" y="5080"/>
                </a:cubicBezTo>
                <a:cubicBezTo>
                  <a:pt x="81280" y="0"/>
                  <a:pt x="123190" y="10160"/>
                  <a:pt x="123190" y="1016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3"/>
          <p:cNvSpPr/>
          <p:nvPr/>
        </p:nvSpPr>
        <p:spPr>
          <a:xfrm>
            <a:off x="10029593" y="5689283"/>
            <a:ext cx="666750" cy="691515"/>
          </a:xfrm>
          <a:custGeom>
            <a:rect b="b" l="l" r="r" t="t"/>
            <a:pathLst>
              <a:path extrusionOk="0" h="922020" w="889000">
                <a:moveTo>
                  <a:pt x="162560" y="48260"/>
                </a:moveTo>
                <a:cubicBezTo>
                  <a:pt x="226060" y="160020"/>
                  <a:pt x="314960" y="284480"/>
                  <a:pt x="394970" y="372110"/>
                </a:cubicBezTo>
                <a:cubicBezTo>
                  <a:pt x="483870" y="468630"/>
                  <a:pt x="619760" y="588010"/>
                  <a:pt x="704850" y="654050"/>
                </a:cubicBezTo>
                <a:cubicBezTo>
                  <a:pt x="756920" y="695960"/>
                  <a:pt x="808990" y="718820"/>
                  <a:pt x="839470" y="745490"/>
                </a:cubicBezTo>
                <a:cubicBezTo>
                  <a:pt x="857250" y="762000"/>
                  <a:pt x="871220" y="775970"/>
                  <a:pt x="878840" y="789940"/>
                </a:cubicBezTo>
                <a:cubicBezTo>
                  <a:pt x="883920" y="800100"/>
                  <a:pt x="886460" y="807720"/>
                  <a:pt x="886460" y="819150"/>
                </a:cubicBezTo>
                <a:cubicBezTo>
                  <a:pt x="886460" y="834390"/>
                  <a:pt x="882650" y="859790"/>
                  <a:pt x="872490" y="876300"/>
                </a:cubicBezTo>
                <a:cubicBezTo>
                  <a:pt x="862330" y="891540"/>
                  <a:pt x="844550" y="906780"/>
                  <a:pt x="826770" y="913130"/>
                </a:cubicBezTo>
                <a:cubicBezTo>
                  <a:pt x="808990" y="919480"/>
                  <a:pt x="783590" y="918210"/>
                  <a:pt x="767080" y="915670"/>
                </a:cubicBezTo>
                <a:cubicBezTo>
                  <a:pt x="756920" y="913130"/>
                  <a:pt x="749300" y="909320"/>
                  <a:pt x="740410" y="901700"/>
                </a:cubicBezTo>
                <a:cubicBezTo>
                  <a:pt x="728980" y="891540"/>
                  <a:pt x="711200" y="872490"/>
                  <a:pt x="706120" y="854710"/>
                </a:cubicBezTo>
                <a:cubicBezTo>
                  <a:pt x="699770" y="836930"/>
                  <a:pt x="701040" y="812800"/>
                  <a:pt x="707390" y="795020"/>
                </a:cubicBezTo>
                <a:cubicBezTo>
                  <a:pt x="713740" y="777240"/>
                  <a:pt x="731520" y="758190"/>
                  <a:pt x="744220" y="749300"/>
                </a:cubicBezTo>
                <a:cubicBezTo>
                  <a:pt x="753110" y="741680"/>
                  <a:pt x="762000" y="739140"/>
                  <a:pt x="772160" y="736600"/>
                </a:cubicBezTo>
                <a:cubicBezTo>
                  <a:pt x="781050" y="734060"/>
                  <a:pt x="789940" y="732790"/>
                  <a:pt x="801370" y="734060"/>
                </a:cubicBezTo>
                <a:cubicBezTo>
                  <a:pt x="816610" y="736600"/>
                  <a:pt x="842010" y="745490"/>
                  <a:pt x="855980" y="756920"/>
                </a:cubicBezTo>
                <a:cubicBezTo>
                  <a:pt x="869950" y="769620"/>
                  <a:pt x="881380" y="789940"/>
                  <a:pt x="885190" y="808990"/>
                </a:cubicBezTo>
                <a:cubicBezTo>
                  <a:pt x="889000" y="826770"/>
                  <a:pt x="885190" y="850900"/>
                  <a:pt x="877570" y="867410"/>
                </a:cubicBezTo>
                <a:cubicBezTo>
                  <a:pt x="868680" y="883920"/>
                  <a:pt x="852170" y="900430"/>
                  <a:pt x="835660" y="909320"/>
                </a:cubicBezTo>
                <a:cubicBezTo>
                  <a:pt x="819150" y="918210"/>
                  <a:pt x="800100" y="922020"/>
                  <a:pt x="777240" y="918210"/>
                </a:cubicBezTo>
                <a:cubicBezTo>
                  <a:pt x="741680" y="910590"/>
                  <a:pt x="692150" y="876300"/>
                  <a:pt x="651510" y="847090"/>
                </a:cubicBezTo>
                <a:cubicBezTo>
                  <a:pt x="601980" y="811530"/>
                  <a:pt x="543560" y="755650"/>
                  <a:pt x="506730" y="715010"/>
                </a:cubicBezTo>
                <a:cubicBezTo>
                  <a:pt x="480060" y="684530"/>
                  <a:pt x="472440" y="656590"/>
                  <a:pt x="444500" y="628650"/>
                </a:cubicBezTo>
                <a:cubicBezTo>
                  <a:pt x="408940" y="591820"/>
                  <a:pt x="345440" y="565150"/>
                  <a:pt x="299720" y="521970"/>
                </a:cubicBezTo>
                <a:cubicBezTo>
                  <a:pt x="247650" y="473710"/>
                  <a:pt x="199390" y="405130"/>
                  <a:pt x="154940" y="346710"/>
                </a:cubicBezTo>
                <a:cubicBezTo>
                  <a:pt x="111760" y="290830"/>
                  <a:pt x="63500" y="226060"/>
                  <a:pt x="36830" y="180340"/>
                </a:cubicBezTo>
                <a:cubicBezTo>
                  <a:pt x="20320" y="151130"/>
                  <a:pt x="6350" y="128270"/>
                  <a:pt x="2540" y="104140"/>
                </a:cubicBezTo>
                <a:cubicBezTo>
                  <a:pt x="0" y="83820"/>
                  <a:pt x="2540" y="60960"/>
                  <a:pt x="11430" y="44450"/>
                </a:cubicBezTo>
                <a:cubicBezTo>
                  <a:pt x="20320" y="27940"/>
                  <a:pt x="39370" y="12700"/>
                  <a:pt x="57150" y="6350"/>
                </a:cubicBezTo>
                <a:cubicBezTo>
                  <a:pt x="74930" y="0"/>
                  <a:pt x="100330" y="0"/>
                  <a:pt x="118110" y="7620"/>
                </a:cubicBezTo>
                <a:cubicBezTo>
                  <a:pt x="134620" y="13970"/>
                  <a:pt x="162560" y="48260"/>
                  <a:pt x="162560" y="4826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3"/>
          <p:cNvSpPr/>
          <p:nvPr/>
        </p:nvSpPr>
        <p:spPr>
          <a:xfrm rot="309592">
            <a:off x="13679109" y="2283519"/>
            <a:ext cx="1020864" cy="373650"/>
          </a:xfrm>
          <a:custGeom>
            <a:rect b="b" l="l" r="r" t="t"/>
            <a:pathLst>
              <a:path extrusionOk="0" h="497840" w="1360170">
                <a:moveTo>
                  <a:pt x="1285240" y="179070"/>
                </a:moveTo>
                <a:cubicBezTo>
                  <a:pt x="749300" y="250190"/>
                  <a:pt x="510540" y="336550"/>
                  <a:pt x="363220" y="389890"/>
                </a:cubicBezTo>
                <a:cubicBezTo>
                  <a:pt x="261620" y="427990"/>
                  <a:pt x="154940" y="486410"/>
                  <a:pt x="110490" y="495300"/>
                </a:cubicBezTo>
                <a:cubicBezTo>
                  <a:pt x="95250" y="497840"/>
                  <a:pt x="90170" y="497840"/>
                  <a:pt x="80010" y="494030"/>
                </a:cubicBezTo>
                <a:cubicBezTo>
                  <a:pt x="63500" y="490220"/>
                  <a:pt x="39370" y="478790"/>
                  <a:pt x="26670" y="463550"/>
                </a:cubicBezTo>
                <a:cubicBezTo>
                  <a:pt x="13970" y="449580"/>
                  <a:pt x="3810" y="426720"/>
                  <a:pt x="2540" y="407670"/>
                </a:cubicBezTo>
                <a:cubicBezTo>
                  <a:pt x="1270" y="388620"/>
                  <a:pt x="6350" y="364490"/>
                  <a:pt x="17780" y="349250"/>
                </a:cubicBezTo>
                <a:cubicBezTo>
                  <a:pt x="27940" y="332740"/>
                  <a:pt x="49530" y="317500"/>
                  <a:pt x="64770" y="311150"/>
                </a:cubicBezTo>
                <a:cubicBezTo>
                  <a:pt x="74930" y="306070"/>
                  <a:pt x="83820" y="304800"/>
                  <a:pt x="95250" y="304800"/>
                </a:cubicBezTo>
                <a:cubicBezTo>
                  <a:pt x="111760" y="306070"/>
                  <a:pt x="139700" y="314960"/>
                  <a:pt x="153670" y="322580"/>
                </a:cubicBezTo>
                <a:cubicBezTo>
                  <a:pt x="163830" y="328930"/>
                  <a:pt x="168910" y="335280"/>
                  <a:pt x="175260" y="345440"/>
                </a:cubicBezTo>
                <a:cubicBezTo>
                  <a:pt x="184150" y="359410"/>
                  <a:pt x="191770" y="387350"/>
                  <a:pt x="193040" y="403860"/>
                </a:cubicBezTo>
                <a:cubicBezTo>
                  <a:pt x="193040" y="415290"/>
                  <a:pt x="191770" y="422910"/>
                  <a:pt x="186690" y="433070"/>
                </a:cubicBezTo>
                <a:cubicBezTo>
                  <a:pt x="180340" y="448310"/>
                  <a:pt x="165100" y="471170"/>
                  <a:pt x="148590" y="481330"/>
                </a:cubicBezTo>
                <a:cubicBezTo>
                  <a:pt x="132080" y="491490"/>
                  <a:pt x="105410" y="495300"/>
                  <a:pt x="90170" y="495300"/>
                </a:cubicBezTo>
                <a:cubicBezTo>
                  <a:pt x="77470" y="495300"/>
                  <a:pt x="69850" y="494030"/>
                  <a:pt x="59690" y="487680"/>
                </a:cubicBezTo>
                <a:cubicBezTo>
                  <a:pt x="45720" y="480060"/>
                  <a:pt x="24130" y="463550"/>
                  <a:pt x="13970" y="447040"/>
                </a:cubicBezTo>
                <a:cubicBezTo>
                  <a:pt x="5080" y="430530"/>
                  <a:pt x="0" y="406400"/>
                  <a:pt x="2540" y="387350"/>
                </a:cubicBezTo>
                <a:cubicBezTo>
                  <a:pt x="5080" y="368300"/>
                  <a:pt x="19050" y="345440"/>
                  <a:pt x="30480" y="332740"/>
                </a:cubicBezTo>
                <a:cubicBezTo>
                  <a:pt x="38100" y="323850"/>
                  <a:pt x="41910" y="321310"/>
                  <a:pt x="55880" y="314960"/>
                </a:cubicBezTo>
                <a:cubicBezTo>
                  <a:pt x="88900" y="297180"/>
                  <a:pt x="196850" y="269240"/>
                  <a:pt x="251460" y="246380"/>
                </a:cubicBezTo>
                <a:cubicBezTo>
                  <a:pt x="292100" y="228600"/>
                  <a:pt x="306070" y="212090"/>
                  <a:pt x="355600" y="193040"/>
                </a:cubicBezTo>
                <a:cubicBezTo>
                  <a:pt x="467360" y="149860"/>
                  <a:pt x="808990" y="45720"/>
                  <a:pt x="916940" y="36830"/>
                </a:cubicBezTo>
                <a:cubicBezTo>
                  <a:pt x="960120" y="34290"/>
                  <a:pt x="977900" y="49530"/>
                  <a:pt x="1008380" y="46990"/>
                </a:cubicBezTo>
                <a:cubicBezTo>
                  <a:pt x="1040130" y="45720"/>
                  <a:pt x="1064260" y="29210"/>
                  <a:pt x="1099820" y="24130"/>
                </a:cubicBezTo>
                <a:cubicBezTo>
                  <a:pt x="1154430" y="15240"/>
                  <a:pt x="1259840" y="0"/>
                  <a:pt x="1301750" y="15240"/>
                </a:cubicBezTo>
                <a:cubicBezTo>
                  <a:pt x="1324610" y="22860"/>
                  <a:pt x="1338580" y="36830"/>
                  <a:pt x="1347470" y="53340"/>
                </a:cubicBezTo>
                <a:cubicBezTo>
                  <a:pt x="1356360" y="69850"/>
                  <a:pt x="1360170" y="95250"/>
                  <a:pt x="1355090" y="113030"/>
                </a:cubicBezTo>
                <a:cubicBezTo>
                  <a:pt x="1351280" y="130810"/>
                  <a:pt x="1336040" y="152400"/>
                  <a:pt x="1322070" y="163830"/>
                </a:cubicBezTo>
                <a:cubicBezTo>
                  <a:pt x="1311910" y="172720"/>
                  <a:pt x="1285240" y="179070"/>
                  <a:pt x="1285240" y="17907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3"/>
          <p:cNvSpPr/>
          <p:nvPr/>
        </p:nvSpPr>
        <p:spPr>
          <a:xfrm rot="-215370">
            <a:off x="14005330" y="9183553"/>
            <a:ext cx="1228516" cy="406391"/>
          </a:xfrm>
          <a:custGeom>
            <a:rect b="b" l="l" r="r" t="t"/>
            <a:pathLst>
              <a:path extrusionOk="0" h="891540" w="1809750">
                <a:moveTo>
                  <a:pt x="1775460" y="153670"/>
                </a:moveTo>
                <a:cubicBezTo>
                  <a:pt x="1489710" y="318770"/>
                  <a:pt x="1410970" y="346710"/>
                  <a:pt x="1316990" y="381000"/>
                </a:cubicBezTo>
                <a:cubicBezTo>
                  <a:pt x="1197610" y="425450"/>
                  <a:pt x="1010920" y="469900"/>
                  <a:pt x="906780" y="511810"/>
                </a:cubicBezTo>
                <a:cubicBezTo>
                  <a:pt x="842010" y="539750"/>
                  <a:pt x="796290" y="574040"/>
                  <a:pt x="750570" y="590550"/>
                </a:cubicBezTo>
                <a:cubicBezTo>
                  <a:pt x="718820" y="601980"/>
                  <a:pt x="704850" y="595630"/>
                  <a:pt x="665480" y="609600"/>
                </a:cubicBezTo>
                <a:cubicBezTo>
                  <a:pt x="561340" y="646430"/>
                  <a:pt x="213360" y="867410"/>
                  <a:pt x="120650" y="886460"/>
                </a:cubicBezTo>
                <a:cubicBezTo>
                  <a:pt x="92710" y="891540"/>
                  <a:pt x="78740" y="890270"/>
                  <a:pt x="60960" y="882650"/>
                </a:cubicBezTo>
                <a:cubicBezTo>
                  <a:pt x="43180" y="875030"/>
                  <a:pt x="25400" y="859790"/>
                  <a:pt x="15240" y="843280"/>
                </a:cubicBezTo>
                <a:cubicBezTo>
                  <a:pt x="5080" y="826770"/>
                  <a:pt x="0" y="803910"/>
                  <a:pt x="2540" y="784860"/>
                </a:cubicBezTo>
                <a:cubicBezTo>
                  <a:pt x="5080" y="765810"/>
                  <a:pt x="17780" y="742950"/>
                  <a:pt x="27940" y="730250"/>
                </a:cubicBezTo>
                <a:cubicBezTo>
                  <a:pt x="35560" y="721360"/>
                  <a:pt x="41910" y="716280"/>
                  <a:pt x="52070" y="712470"/>
                </a:cubicBezTo>
                <a:cubicBezTo>
                  <a:pt x="67310" y="706120"/>
                  <a:pt x="95250" y="701040"/>
                  <a:pt x="111760" y="702310"/>
                </a:cubicBezTo>
                <a:cubicBezTo>
                  <a:pt x="123190" y="703580"/>
                  <a:pt x="130810" y="706120"/>
                  <a:pt x="140970" y="712470"/>
                </a:cubicBezTo>
                <a:cubicBezTo>
                  <a:pt x="153670" y="721360"/>
                  <a:pt x="173990" y="741680"/>
                  <a:pt x="181610" y="756920"/>
                </a:cubicBezTo>
                <a:cubicBezTo>
                  <a:pt x="186690" y="765810"/>
                  <a:pt x="189230" y="774700"/>
                  <a:pt x="189230" y="786130"/>
                </a:cubicBezTo>
                <a:cubicBezTo>
                  <a:pt x="189230" y="801370"/>
                  <a:pt x="186690" y="828040"/>
                  <a:pt x="176530" y="844550"/>
                </a:cubicBezTo>
                <a:cubicBezTo>
                  <a:pt x="166370" y="859790"/>
                  <a:pt x="148590" y="876300"/>
                  <a:pt x="130810" y="882650"/>
                </a:cubicBezTo>
                <a:cubicBezTo>
                  <a:pt x="113030" y="890270"/>
                  <a:pt x="88900" y="891540"/>
                  <a:pt x="71120" y="886460"/>
                </a:cubicBezTo>
                <a:cubicBezTo>
                  <a:pt x="52070" y="880110"/>
                  <a:pt x="33020" y="867410"/>
                  <a:pt x="21590" y="852170"/>
                </a:cubicBezTo>
                <a:cubicBezTo>
                  <a:pt x="10160" y="836930"/>
                  <a:pt x="2540" y="814070"/>
                  <a:pt x="2540" y="795020"/>
                </a:cubicBezTo>
                <a:cubicBezTo>
                  <a:pt x="2540" y="775970"/>
                  <a:pt x="3810" y="759460"/>
                  <a:pt x="21590" y="737870"/>
                </a:cubicBezTo>
                <a:cubicBezTo>
                  <a:pt x="77470" y="671830"/>
                  <a:pt x="379730" y="541020"/>
                  <a:pt x="527050" y="471170"/>
                </a:cubicBezTo>
                <a:cubicBezTo>
                  <a:pt x="638810" y="420370"/>
                  <a:pt x="717550" y="389890"/>
                  <a:pt x="824230" y="350520"/>
                </a:cubicBezTo>
                <a:cubicBezTo>
                  <a:pt x="947420" y="306070"/>
                  <a:pt x="1101090" y="269240"/>
                  <a:pt x="1226820" y="224790"/>
                </a:cubicBezTo>
                <a:cubicBezTo>
                  <a:pt x="1339850" y="184150"/>
                  <a:pt x="1457960" y="139700"/>
                  <a:pt x="1545590" y="96520"/>
                </a:cubicBezTo>
                <a:cubicBezTo>
                  <a:pt x="1609090" y="66040"/>
                  <a:pt x="1668780" y="12700"/>
                  <a:pt x="1705610" y="3810"/>
                </a:cubicBezTo>
                <a:cubicBezTo>
                  <a:pt x="1723390" y="0"/>
                  <a:pt x="1733550" y="1270"/>
                  <a:pt x="1746250" y="5080"/>
                </a:cubicBezTo>
                <a:cubicBezTo>
                  <a:pt x="1762760" y="11430"/>
                  <a:pt x="1784350" y="26670"/>
                  <a:pt x="1794510" y="41910"/>
                </a:cubicBezTo>
                <a:cubicBezTo>
                  <a:pt x="1804670" y="58420"/>
                  <a:pt x="1809750" y="82550"/>
                  <a:pt x="1805940" y="101600"/>
                </a:cubicBezTo>
                <a:cubicBezTo>
                  <a:pt x="1802130" y="120650"/>
                  <a:pt x="1775460" y="153670"/>
                  <a:pt x="1775460" y="15367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3"/>
          <p:cNvSpPr/>
          <p:nvPr/>
        </p:nvSpPr>
        <p:spPr>
          <a:xfrm>
            <a:off x="8939213" y="8965883"/>
            <a:ext cx="681990" cy="970598"/>
          </a:xfrm>
          <a:custGeom>
            <a:rect b="b" l="l" r="r" t="t"/>
            <a:pathLst>
              <a:path extrusionOk="0" h="1294130" w="909320">
                <a:moveTo>
                  <a:pt x="170180" y="63500"/>
                </a:moveTo>
                <a:cubicBezTo>
                  <a:pt x="335280" y="577850"/>
                  <a:pt x="342900" y="585470"/>
                  <a:pt x="367030" y="617220"/>
                </a:cubicBezTo>
                <a:cubicBezTo>
                  <a:pt x="408940" y="676910"/>
                  <a:pt x="491490" y="770890"/>
                  <a:pt x="570230" y="852170"/>
                </a:cubicBezTo>
                <a:cubicBezTo>
                  <a:pt x="662940" y="948690"/>
                  <a:pt x="858520" y="1084580"/>
                  <a:pt x="895350" y="1150620"/>
                </a:cubicBezTo>
                <a:cubicBezTo>
                  <a:pt x="908050" y="1174750"/>
                  <a:pt x="909320" y="1191260"/>
                  <a:pt x="906780" y="1210310"/>
                </a:cubicBezTo>
                <a:cubicBezTo>
                  <a:pt x="904240" y="1229360"/>
                  <a:pt x="894080" y="1250950"/>
                  <a:pt x="880110" y="1264920"/>
                </a:cubicBezTo>
                <a:cubicBezTo>
                  <a:pt x="867410" y="1277620"/>
                  <a:pt x="842010" y="1287780"/>
                  <a:pt x="826770" y="1291590"/>
                </a:cubicBezTo>
                <a:cubicBezTo>
                  <a:pt x="815340" y="1294130"/>
                  <a:pt x="806450" y="1294130"/>
                  <a:pt x="796290" y="1291590"/>
                </a:cubicBezTo>
                <a:cubicBezTo>
                  <a:pt x="779780" y="1286510"/>
                  <a:pt x="755650" y="1276350"/>
                  <a:pt x="742950" y="1261110"/>
                </a:cubicBezTo>
                <a:cubicBezTo>
                  <a:pt x="730250" y="1247140"/>
                  <a:pt x="721360" y="1221740"/>
                  <a:pt x="718820" y="1206500"/>
                </a:cubicBezTo>
                <a:cubicBezTo>
                  <a:pt x="716280" y="1195070"/>
                  <a:pt x="717550" y="1186180"/>
                  <a:pt x="721360" y="1176020"/>
                </a:cubicBezTo>
                <a:cubicBezTo>
                  <a:pt x="726440" y="1160780"/>
                  <a:pt x="741680" y="1135380"/>
                  <a:pt x="753110" y="1125220"/>
                </a:cubicBezTo>
                <a:cubicBezTo>
                  <a:pt x="762000" y="1116330"/>
                  <a:pt x="768350" y="1112520"/>
                  <a:pt x="779780" y="1108710"/>
                </a:cubicBezTo>
                <a:cubicBezTo>
                  <a:pt x="795020" y="1104900"/>
                  <a:pt x="821690" y="1102360"/>
                  <a:pt x="839470" y="1107440"/>
                </a:cubicBezTo>
                <a:cubicBezTo>
                  <a:pt x="858520" y="1112520"/>
                  <a:pt x="878840" y="1130300"/>
                  <a:pt x="889000" y="1141730"/>
                </a:cubicBezTo>
                <a:cubicBezTo>
                  <a:pt x="896620" y="1150620"/>
                  <a:pt x="900430" y="1158240"/>
                  <a:pt x="902970" y="1169670"/>
                </a:cubicBezTo>
                <a:cubicBezTo>
                  <a:pt x="906780" y="1184910"/>
                  <a:pt x="908050" y="1211580"/>
                  <a:pt x="901700" y="1229360"/>
                </a:cubicBezTo>
                <a:cubicBezTo>
                  <a:pt x="895350" y="1248410"/>
                  <a:pt x="880110" y="1267460"/>
                  <a:pt x="864870" y="1277620"/>
                </a:cubicBezTo>
                <a:cubicBezTo>
                  <a:pt x="848360" y="1287780"/>
                  <a:pt x="825500" y="1294130"/>
                  <a:pt x="806450" y="1292860"/>
                </a:cubicBezTo>
                <a:cubicBezTo>
                  <a:pt x="787400" y="1290320"/>
                  <a:pt x="774700" y="1283970"/>
                  <a:pt x="750570" y="1268730"/>
                </a:cubicBezTo>
                <a:cubicBezTo>
                  <a:pt x="690880" y="1230630"/>
                  <a:pt x="560070" y="1108710"/>
                  <a:pt x="472440" y="1019810"/>
                </a:cubicBezTo>
                <a:cubicBezTo>
                  <a:pt x="383540" y="930910"/>
                  <a:pt x="283210" y="821690"/>
                  <a:pt x="222250" y="735330"/>
                </a:cubicBezTo>
                <a:cubicBezTo>
                  <a:pt x="177800" y="671830"/>
                  <a:pt x="154940" y="633730"/>
                  <a:pt x="124460" y="558800"/>
                </a:cubicBezTo>
                <a:cubicBezTo>
                  <a:pt x="77470" y="441960"/>
                  <a:pt x="0" y="171450"/>
                  <a:pt x="3810" y="90170"/>
                </a:cubicBezTo>
                <a:cubicBezTo>
                  <a:pt x="3810" y="62230"/>
                  <a:pt x="10160" y="46990"/>
                  <a:pt x="22860" y="33020"/>
                </a:cubicBezTo>
                <a:cubicBezTo>
                  <a:pt x="34290" y="17780"/>
                  <a:pt x="55880" y="6350"/>
                  <a:pt x="74930" y="2540"/>
                </a:cubicBezTo>
                <a:cubicBezTo>
                  <a:pt x="93980" y="0"/>
                  <a:pt x="118110" y="5080"/>
                  <a:pt x="134620" y="15240"/>
                </a:cubicBezTo>
                <a:cubicBezTo>
                  <a:pt x="149860" y="25400"/>
                  <a:pt x="170180" y="63500"/>
                  <a:pt x="170180" y="6350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3"/>
          <p:cNvSpPr/>
          <p:nvPr/>
        </p:nvSpPr>
        <p:spPr>
          <a:xfrm>
            <a:off x="9691687" y="9910763"/>
            <a:ext cx="121920" cy="125730"/>
          </a:xfrm>
          <a:custGeom>
            <a:rect b="b" l="l" r="r" t="t"/>
            <a:pathLst>
              <a:path extrusionOk="0" h="167640" w="162560">
                <a:moveTo>
                  <a:pt x="162560" y="58420"/>
                </a:moveTo>
                <a:cubicBezTo>
                  <a:pt x="158750" y="116840"/>
                  <a:pt x="138430" y="148590"/>
                  <a:pt x="116840" y="158750"/>
                </a:cubicBezTo>
                <a:cubicBezTo>
                  <a:pt x="96520" y="167640"/>
                  <a:pt x="58420" y="161290"/>
                  <a:pt x="40640" y="153670"/>
                </a:cubicBezTo>
                <a:cubicBezTo>
                  <a:pt x="27940" y="147320"/>
                  <a:pt x="19050" y="137160"/>
                  <a:pt x="12700" y="125730"/>
                </a:cubicBezTo>
                <a:cubicBezTo>
                  <a:pt x="6350" y="114300"/>
                  <a:pt x="0" y="102870"/>
                  <a:pt x="1270" y="87630"/>
                </a:cubicBezTo>
                <a:cubicBezTo>
                  <a:pt x="2540" y="68580"/>
                  <a:pt x="17780" y="31750"/>
                  <a:pt x="33020" y="17780"/>
                </a:cubicBezTo>
                <a:cubicBezTo>
                  <a:pt x="41910" y="7620"/>
                  <a:pt x="54610" y="2540"/>
                  <a:pt x="68580" y="1270"/>
                </a:cubicBezTo>
                <a:cubicBezTo>
                  <a:pt x="88900" y="0"/>
                  <a:pt x="142240" y="24130"/>
                  <a:pt x="142240" y="2413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3"/>
          <p:cNvSpPr/>
          <p:nvPr/>
        </p:nvSpPr>
        <p:spPr>
          <a:xfrm>
            <a:off x="6816091" y="6262688"/>
            <a:ext cx="1163955" cy="642938"/>
          </a:xfrm>
          <a:custGeom>
            <a:rect b="b" l="l" r="r" t="t"/>
            <a:pathLst>
              <a:path extrusionOk="0" h="857250" w="1551940">
                <a:moveTo>
                  <a:pt x="123190" y="8890"/>
                </a:moveTo>
                <a:cubicBezTo>
                  <a:pt x="278130" y="78740"/>
                  <a:pt x="505460" y="128270"/>
                  <a:pt x="612140" y="167640"/>
                </a:cubicBezTo>
                <a:cubicBezTo>
                  <a:pt x="680720" y="194310"/>
                  <a:pt x="709930" y="218440"/>
                  <a:pt x="777240" y="247650"/>
                </a:cubicBezTo>
                <a:cubicBezTo>
                  <a:pt x="877570" y="290830"/>
                  <a:pt x="1083310" y="353060"/>
                  <a:pt x="1162050" y="392430"/>
                </a:cubicBezTo>
                <a:cubicBezTo>
                  <a:pt x="1200150" y="411480"/>
                  <a:pt x="1207770" y="417830"/>
                  <a:pt x="1240790" y="444500"/>
                </a:cubicBezTo>
                <a:cubicBezTo>
                  <a:pt x="1310640" y="497840"/>
                  <a:pt x="1506220" y="656590"/>
                  <a:pt x="1539240" y="718820"/>
                </a:cubicBezTo>
                <a:cubicBezTo>
                  <a:pt x="1551940" y="744220"/>
                  <a:pt x="1549400" y="763270"/>
                  <a:pt x="1546860" y="779780"/>
                </a:cubicBezTo>
                <a:cubicBezTo>
                  <a:pt x="1545590" y="791210"/>
                  <a:pt x="1543050" y="798830"/>
                  <a:pt x="1536700" y="807720"/>
                </a:cubicBezTo>
                <a:cubicBezTo>
                  <a:pt x="1526540" y="821690"/>
                  <a:pt x="1506220" y="840740"/>
                  <a:pt x="1490980" y="848360"/>
                </a:cubicBezTo>
                <a:cubicBezTo>
                  <a:pt x="1480820" y="853440"/>
                  <a:pt x="1471930" y="854710"/>
                  <a:pt x="1461770" y="855980"/>
                </a:cubicBezTo>
                <a:cubicBezTo>
                  <a:pt x="1451610" y="855980"/>
                  <a:pt x="1441450" y="855980"/>
                  <a:pt x="1431290" y="853440"/>
                </a:cubicBezTo>
                <a:cubicBezTo>
                  <a:pt x="1416050" y="847090"/>
                  <a:pt x="1391920" y="835660"/>
                  <a:pt x="1380490" y="820420"/>
                </a:cubicBezTo>
                <a:cubicBezTo>
                  <a:pt x="1367790" y="805180"/>
                  <a:pt x="1360170" y="782320"/>
                  <a:pt x="1360170" y="763270"/>
                </a:cubicBezTo>
                <a:cubicBezTo>
                  <a:pt x="1358900" y="744220"/>
                  <a:pt x="1369060" y="720090"/>
                  <a:pt x="1377950" y="706120"/>
                </a:cubicBezTo>
                <a:cubicBezTo>
                  <a:pt x="1383030" y="695960"/>
                  <a:pt x="1389380" y="689610"/>
                  <a:pt x="1399540" y="684530"/>
                </a:cubicBezTo>
                <a:cubicBezTo>
                  <a:pt x="1413510" y="675640"/>
                  <a:pt x="1437640" y="665480"/>
                  <a:pt x="1456690" y="666750"/>
                </a:cubicBezTo>
                <a:cubicBezTo>
                  <a:pt x="1475740" y="666750"/>
                  <a:pt x="1498600" y="675640"/>
                  <a:pt x="1513840" y="687070"/>
                </a:cubicBezTo>
                <a:cubicBezTo>
                  <a:pt x="1529080" y="699770"/>
                  <a:pt x="1541780" y="720090"/>
                  <a:pt x="1545590" y="739140"/>
                </a:cubicBezTo>
                <a:cubicBezTo>
                  <a:pt x="1550670" y="756920"/>
                  <a:pt x="1545590" y="783590"/>
                  <a:pt x="1540510" y="798830"/>
                </a:cubicBezTo>
                <a:cubicBezTo>
                  <a:pt x="1536700" y="810260"/>
                  <a:pt x="1532890" y="816610"/>
                  <a:pt x="1524000" y="824230"/>
                </a:cubicBezTo>
                <a:cubicBezTo>
                  <a:pt x="1512570" y="835660"/>
                  <a:pt x="1490980" y="850900"/>
                  <a:pt x="1471930" y="854710"/>
                </a:cubicBezTo>
                <a:cubicBezTo>
                  <a:pt x="1452880" y="857250"/>
                  <a:pt x="1433830" y="855980"/>
                  <a:pt x="1412240" y="845820"/>
                </a:cubicBezTo>
                <a:cubicBezTo>
                  <a:pt x="1376680" y="830580"/>
                  <a:pt x="1322070" y="778510"/>
                  <a:pt x="1287780" y="744220"/>
                </a:cubicBezTo>
                <a:cubicBezTo>
                  <a:pt x="1258570" y="715010"/>
                  <a:pt x="1245870" y="684530"/>
                  <a:pt x="1215390" y="656590"/>
                </a:cubicBezTo>
                <a:cubicBezTo>
                  <a:pt x="1177290" y="622300"/>
                  <a:pt x="1141730" y="594360"/>
                  <a:pt x="1075690" y="556260"/>
                </a:cubicBezTo>
                <a:cubicBezTo>
                  <a:pt x="942340" y="481330"/>
                  <a:pt x="579120" y="328930"/>
                  <a:pt x="434340" y="281940"/>
                </a:cubicBezTo>
                <a:cubicBezTo>
                  <a:pt x="363220" y="260350"/>
                  <a:pt x="327660" y="265430"/>
                  <a:pt x="270510" y="247650"/>
                </a:cubicBezTo>
                <a:cubicBezTo>
                  <a:pt x="200660" y="227330"/>
                  <a:pt x="90170" y="189230"/>
                  <a:pt x="48260" y="160020"/>
                </a:cubicBezTo>
                <a:cubicBezTo>
                  <a:pt x="26670" y="146050"/>
                  <a:pt x="13970" y="133350"/>
                  <a:pt x="7620" y="116840"/>
                </a:cubicBezTo>
                <a:cubicBezTo>
                  <a:pt x="0" y="99060"/>
                  <a:pt x="0" y="73660"/>
                  <a:pt x="6350" y="57150"/>
                </a:cubicBezTo>
                <a:cubicBezTo>
                  <a:pt x="12700" y="39370"/>
                  <a:pt x="30480" y="20320"/>
                  <a:pt x="44450" y="11430"/>
                </a:cubicBezTo>
                <a:cubicBezTo>
                  <a:pt x="57150" y="3810"/>
                  <a:pt x="71120" y="1270"/>
                  <a:pt x="83820" y="0"/>
                </a:cubicBezTo>
                <a:cubicBezTo>
                  <a:pt x="96520" y="0"/>
                  <a:pt x="123190" y="8890"/>
                  <a:pt x="123190" y="889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3"/>
          <p:cNvSpPr/>
          <p:nvPr/>
        </p:nvSpPr>
        <p:spPr>
          <a:xfrm>
            <a:off x="5421630" y="9690736"/>
            <a:ext cx="1003935" cy="413385"/>
          </a:xfrm>
          <a:custGeom>
            <a:rect b="b" l="l" r="r" t="t"/>
            <a:pathLst>
              <a:path extrusionOk="0" h="551180" w="1338580">
                <a:moveTo>
                  <a:pt x="1290320" y="162560"/>
                </a:moveTo>
                <a:cubicBezTo>
                  <a:pt x="981710" y="293370"/>
                  <a:pt x="933450" y="289560"/>
                  <a:pt x="855980" y="311150"/>
                </a:cubicBezTo>
                <a:cubicBezTo>
                  <a:pt x="731520" y="345440"/>
                  <a:pt x="519430" y="440690"/>
                  <a:pt x="381000" y="482600"/>
                </a:cubicBezTo>
                <a:cubicBezTo>
                  <a:pt x="278130" y="514350"/>
                  <a:pt x="161290" y="548640"/>
                  <a:pt x="102870" y="548640"/>
                </a:cubicBezTo>
                <a:cubicBezTo>
                  <a:pt x="77470" y="549910"/>
                  <a:pt x="60960" y="546100"/>
                  <a:pt x="45720" y="535940"/>
                </a:cubicBezTo>
                <a:cubicBezTo>
                  <a:pt x="29210" y="527050"/>
                  <a:pt x="13970" y="505460"/>
                  <a:pt x="7620" y="491490"/>
                </a:cubicBezTo>
                <a:cubicBezTo>
                  <a:pt x="2540" y="481330"/>
                  <a:pt x="0" y="473710"/>
                  <a:pt x="1270" y="462280"/>
                </a:cubicBezTo>
                <a:cubicBezTo>
                  <a:pt x="1270" y="445770"/>
                  <a:pt x="6350" y="420370"/>
                  <a:pt x="16510" y="405130"/>
                </a:cubicBezTo>
                <a:cubicBezTo>
                  <a:pt x="26670" y="388620"/>
                  <a:pt x="45720" y="374650"/>
                  <a:pt x="63500" y="368300"/>
                </a:cubicBezTo>
                <a:cubicBezTo>
                  <a:pt x="81280" y="363220"/>
                  <a:pt x="107950" y="364490"/>
                  <a:pt x="123190" y="368300"/>
                </a:cubicBezTo>
                <a:cubicBezTo>
                  <a:pt x="134620" y="372110"/>
                  <a:pt x="140970" y="375920"/>
                  <a:pt x="149860" y="383540"/>
                </a:cubicBezTo>
                <a:cubicBezTo>
                  <a:pt x="161290" y="393700"/>
                  <a:pt x="177800" y="414020"/>
                  <a:pt x="182880" y="431800"/>
                </a:cubicBezTo>
                <a:cubicBezTo>
                  <a:pt x="187960" y="450850"/>
                  <a:pt x="184150" y="476250"/>
                  <a:pt x="180340" y="491490"/>
                </a:cubicBezTo>
                <a:cubicBezTo>
                  <a:pt x="176530" y="501650"/>
                  <a:pt x="172720" y="509270"/>
                  <a:pt x="163830" y="516890"/>
                </a:cubicBezTo>
                <a:cubicBezTo>
                  <a:pt x="152400" y="528320"/>
                  <a:pt x="132080" y="543560"/>
                  <a:pt x="113030" y="547370"/>
                </a:cubicBezTo>
                <a:cubicBezTo>
                  <a:pt x="95250" y="551180"/>
                  <a:pt x="71120" y="548640"/>
                  <a:pt x="54610" y="541020"/>
                </a:cubicBezTo>
                <a:cubicBezTo>
                  <a:pt x="36830" y="533400"/>
                  <a:pt x="20320" y="513080"/>
                  <a:pt x="11430" y="500380"/>
                </a:cubicBezTo>
                <a:cubicBezTo>
                  <a:pt x="5080" y="490220"/>
                  <a:pt x="2540" y="482600"/>
                  <a:pt x="1270" y="471170"/>
                </a:cubicBezTo>
                <a:cubicBezTo>
                  <a:pt x="0" y="455930"/>
                  <a:pt x="2540" y="429260"/>
                  <a:pt x="11430" y="412750"/>
                </a:cubicBezTo>
                <a:cubicBezTo>
                  <a:pt x="20320" y="396240"/>
                  <a:pt x="33020" y="383540"/>
                  <a:pt x="54610" y="372110"/>
                </a:cubicBezTo>
                <a:cubicBezTo>
                  <a:pt x="96520" y="350520"/>
                  <a:pt x="175260" y="353060"/>
                  <a:pt x="259080" y="330200"/>
                </a:cubicBezTo>
                <a:cubicBezTo>
                  <a:pt x="400050" y="292100"/>
                  <a:pt x="671830" y="176530"/>
                  <a:pt x="817880" y="137160"/>
                </a:cubicBezTo>
                <a:cubicBezTo>
                  <a:pt x="909320" y="113030"/>
                  <a:pt x="975360" y="118110"/>
                  <a:pt x="1046480" y="93980"/>
                </a:cubicBezTo>
                <a:cubicBezTo>
                  <a:pt x="1113790" y="72390"/>
                  <a:pt x="1187450" y="11430"/>
                  <a:pt x="1234440" y="3810"/>
                </a:cubicBezTo>
                <a:cubicBezTo>
                  <a:pt x="1258570" y="0"/>
                  <a:pt x="1277620" y="2540"/>
                  <a:pt x="1294130" y="12700"/>
                </a:cubicBezTo>
                <a:cubicBezTo>
                  <a:pt x="1310640" y="21590"/>
                  <a:pt x="1325880" y="40640"/>
                  <a:pt x="1332230" y="58420"/>
                </a:cubicBezTo>
                <a:cubicBezTo>
                  <a:pt x="1338580" y="76200"/>
                  <a:pt x="1338580" y="100330"/>
                  <a:pt x="1330960" y="118110"/>
                </a:cubicBezTo>
                <a:cubicBezTo>
                  <a:pt x="1324610" y="135890"/>
                  <a:pt x="1290320" y="162560"/>
                  <a:pt x="1290320" y="16256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3"/>
          <p:cNvSpPr txBox="1"/>
          <p:nvPr/>
        </p:nvSpPr>
        <p:spPr>
          <a:xfrm>
            <a:off x="623850" y="485925"/>
            <a:ext cx="17040300" cy="815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Font typeface="Arial"/>
              <a:buNone/>
            </a:pPr>
            <a:r>
              <a:rPr lang="en-US" sz="5300">
                <a:solidFill>
                  <a:srgbClr val="3B365F"/>
                </a:solidFill>
                <a:latin typeface="Times New Roman"/>
                <a:ea typeface="Times New Roman"/>
                <a:cs typeface="Times New Roman"/>
                <a:sym typeface="Times New Roman"/>
              </a:rPr>
              <a:t>The Discrepancy In The Significance Of The Treatment Effect</a:t>
            </a:r>
            <a:r>
              <a:rPr lang="en-US" sz="5200">
                <a:solidFill>
                  <a:srgbClr val="3B365F"/>
                </a:solidFill>
                <a:latin typeface="Times New Roman"/>
                <a:ea typeface="Times New Roman"/>
                <a:cs typeface="Times New Roman"/>
                <a:sym typeface="Times New Roman"/>
              </a:rPr>
              <a:t> </a:t>
            </a:r>
            <a:endParaRPr sz="400">
              <a:latin typeface="Times New Roman"/>
              <a:ea typeface="Times New Roman"/>
              <a:cs typeface="Times New Roman"/>
              <a:sym typeface="Times New Roman"/>
            </a:endParaRPr>
          </a:p>
        </p:txBody>
      </p:sp>
      <p:sp>
        <p:nvSpPr>
          <p:cNvPr id="338" name="Google Shape;338;p33"/>
          <p:cNvSpPr txBox="1"/>
          <p:nvPr/>
        </p:nvSpPr>
        <p:spPr>
          <a:xfrm>
            <a:off x="2470963" y="2653800"/>
            <a:ext cx="6412500" cy="3508500"/>
          </a:xfrm>
          <a:prstGeom prst="rect">
            <a:avLst/>
          </a:prstGeom>
          <a:noFill/>
          <a:ln>
            <a:noFill/>
          </a:ln>
        </p:spPr>
        <p:txBody>
          <a:bodyPr anchorCtr="0" anchor="t" bIns="91425" lIns="91425" spcFirstLastPara="1" rIns="91425" wrap="square" tIns="91425">
            <a:spAutoFit/>
          </a:bodyPr>
          <a:lstStyle/>
          <a:p>
            <a:pPr indent="-380936" lvl="0" marL="457200" rtl="0" algn="l">
              <a:lnSpc>
                <a:spcPct val="140016"/>
              </a:lnSpc>
              <a:spcBef>
                <a:spcPts val="0"/>
              </a:spcBef>
              <a:spcAft>
                <a:spcPts val="0"/>
              </a:spcAft>
              <a:buClr>
                <a:srgbClr val="3B365F"/>
              </a:buClr>
              <a:buSzPts val="2399"/>
              <a:buFont typeface="Times New Roman"/>
              <a:buChar char="●"/>
            </a:pPr>
            <a:r>
              <a:rPr lang="en-US" sz="2699">
                <a:solidFill>
                  <a:srgbClr val="3B365F"/>
                </a:solidFill>
                <a:latin typeface="Times New Roman"/>
                <a:ea typeface="Times New Roman"/>
                <a:cs typeface="Times New Roman"/>
                <a:sym typeface="Times New Roman"/>
              </a:rPr>
              <a:t>When other variables are added to the model, the treatment effect became non-significant because these variables explain part of the outcome variation that was </a:t>
            </a:r>
            <a:r>
              <a:rPr lang="en-US" sz="2699">
                <a:solidFill>
                  <a:srgbClr val="3B365F"/>
                </a:solidFill>
                <a:latin typeface="Times New Roman"/>
                <a:ea typeface="Times New Roman"/>
                <a:cs typeface="Times New Roman"/>
                <a:sym typeface="Times New Roman"/>
              </a:rPr>
              <a:t>previously</a:t>
            </a:r>
            <a:r>
              <a:rPr lang="en-US" sz="2699">
                <a:solidFill>
                  <a:srgbClr val="3B365F"/>
                </a:solidFill>
                <a:latin typeface="Times New Roman"/>
                <a:ea typeface="Times New Roman"/>
                <a:cs typeface="Times New Roman"/>
                <a:sym typeface="Times New Roman"/>
              </a:rPr>
              <a:t> attributed to the treatment.</a:t>
            </a:r>
            <a:endParaRPr sz="2699">
              <a:solidFill>
                <a:srgbClr val="3B365F"/>
              </a:solidFill>
              <a:latin typeface="Times New Roman"/>
              <a:ea typeface="Times New Roman"/>
              <a:cs typeface="Times New Roman"/>
              <a:sym typeface="Times New Roman"/>
            </a:endParaRPr>
          </a:p>
        </p:txBody>
      </p:sp>
      <p:sp>
        <p:nvSpPr>
          <p:cNvPr id="339" name="Google Shape;339;p33"/>
          <p:cNvSpPr txBox="1"/>
          <p:nvPr/>
        </p:nvSpPr>
        <p:spPr>
          <a:xfrm>
            <a:off x="10240300" y="3006575"/>
            <a:ext cx="5914200" cy="2926800"/>
          </a:xfrm>
          <a:prstGeom prst="rect">
            <a:avLst/>
          </a:prstGeom>
          <a:noFill/>
          <a:ln>
            <a:noFill/>
          </a:ln>
        </p:spPr>
        <p:txBody>
          <a:bodyPr anchorCtr="0" anchor="t" bIns="91425" lIns="91425" spcFirstLastPara="1" rIns="91425" wrap="square" tIns="91425">
            <a:spAutoFit/>
          </a:bodyPr>
          <a:lstStyle/>
          <a:p>
            <a:pPr indent="-380936" lvl="0" marL="457200" rtl="0" algn="l">
              <a:lnSpc>
                <a:spcPct val="140016"/>
              </a:lnSpc>
              <a:spcBef>
                <a:spcPts val="0"/>
              </a:spcBef>
              <a:spcAft>
                <a:spcPts val="0"/>
              </a:spcAft>
              <a:buClr>
                <a:srgbClr val="3B365F"/>
              </a:buClr>
              <a:buSzPts val="2399"/>
              <a:buFont typeface="Times New Roman"/>
              <a:buChar char="●"/>
            </a:pPr>
            <a:r>
              <a:rPr lang="en-US" sz="2699">
                <a:solidFill>
                  <a:srgbClr val="3B365F"/>
                </a:solidFill>
                <a:latin typeface="Times New Roman"/>
                <a:ea typeface="Times New Roman"/>
                <a:cs typeface="Times New Roman"/>
                <a:sym typeface="Times New Roman"/>
              </a:rPr>
              <a:t>The estimate of chemotherapy (β = -0.03) is very small, and its confidence interval (-0.04, -0.02) does not include zero, suggesting a precise but tiny effect.</a:t>
            </a:r>
            <a:endParaRPr sz="2699">
              <a:solidFill>
                <a:srgbClr val="3B365F"/>
              </a:solidFill>
              <a:latin typeface="Times New Roman"/>
              <a:ea typeface="Times New Roman"/>
              <a:cs typeface="Times New Roman"/>
              <a:sym typeface="Times New Roman"/>
            </a:endParaRPr>
          </a:p>
        </p:txBody>
      </p:sp>
      <p:sp>
        <p:nvSpPr>
          <p:cNvPr id="340" name="Google Shape;340;p33"/>
          <p:cNvSpPr txBox="1"/>
          <p:nvPr/>
        </p:nvSpPr>
        <p:spPr>
          <a:xfrm>
            <a:off x="2628637" y="7006013"/>
            <a:ext cx="5004600" cy="2345100"/>
          </a:xfrm>
          <a:prstGeom prst="rect">
            <a:avLst/>
          </a:prstGeom>
          <a:noFill/>
          <a:ln>
            <a:noFill/>
          </a:ln>
        </p:spPr>
        <p:txBody>
          <a:bodyPr anchorCtr="0" anchor="t" bIns="91425" lIns="91425" spcFirstLastPara="1" rIns="91425" wrap="square" tIns="91425">
            <a:spAutoFit/>
          </a:bodyPr>
          <a:lstStyle/>
          <a:p>
            <a:pPr indent="-380936" lvl="0" marL="457200" rtl="0" algn="l">
              <a:lnSpc>
                <a:spcPct val="140016"/>
              </a:lnSpc>
              <a:spcBef>
                <a:spcPts val="0"/>
              </a:spcBef>
              <a:spcAft>
                <a:spcPts val="0"/>
              </a:spcAft>
              <a:buClr>
                <a:srgbClr val="3B365F"/>
              </a:buClr>
              <a:buSzPts val="2399"/>
              <a:buFont typeface="Times New Roman"/>
              <a:buChar char="●"/>
            </a:pPr>
            <a:r>
              <a:rPr lang="en-US" sz="2699">
                <a:solidFill>
                  <a:srgbClr val="3B365F"/>
                </a:solidFill>
                <a:latin typeface="Times New Roman"/>
                <a:ea typeface="Times New Roman"/>
                <a:cs typeface="Times New Roman"/>
                <a:sym typeface="Times New Roman"/>
              </a:rPr>
              <a:t>In a</a:t>
            </a:r>
            <a:r>
              <a:rPr lang="en-US" sz="2699">
                <a:solidFill>
                  <a:srgbClr val="3B365F"/>
                </a:solidFill>
                <a:latin typeface="Times New Roman"/>
                <a:ea typeface="Times New Roman"/>
                <a:cs typeface="Times New Roman"/>
                <a:sym typeface="Times New Roman"/>
              </a:rPr>
              <a:t> multivariate model, this small effect may be overshadowed by stronger predictors.</a:t>
            </a:r>
            <a:endParaRPr sz="2699">
              <a:solidFill>
                <a:srgbClr val="3B365F"/>
              </a:solidFill>
              <a:latin typeface="Times New Roman"/>
              <a:ea typeface="Times New Roman"/>
              <a:cs typeface="Times New Roman"/>
              <a:sym typeface="Times New Roman"/>
            </a:endParaRPr>
          </a:p>
        </p:txBody>
      </p:sp>
      <p:sp>
        <p:nvSpPr>
          <p:cNvPr id="341" name="Google Shape;341;p33"/>
          <p:cNvSpPr txBox="1"/>
          <p:nvPr/>
        </p:nvSpPr>
        <p:spPr>
          <a:xfrm>
            <a:off x="9404700" y="6905625"/>
            <a:ext cx="5610600" cy="2926800"/>
          </a:xfrm>
          <a:prstGeom prst="rect">
            <a:avLst/>
          </a:prstGeom>
          <a:noFill/>
          <a:ln>
            <a:noFill/>
          </a:ln>
        </p:spPr>
        <p:txBody>
          <a:bodyPr anchorCtr="0" anchor="t" bIns="91425" lIns="91425" spcFirstLastPara="1" rIns="91425" wrap="square" tIns="91425">
            <a:spAutoFit/>
          </a:bodyPr>
          <a:lstStyle/>
          <a:p>
            <a:pPr indent="-380936" lvl="0" marL="457200" rtl="0" algn="l">
              <a:lnSpc>
                <a:spcPct val="140016"/>
              </a:lnSpc>
              <a:spcBef>
                <a:spcPts val="0"/>
              </a:spcBef>
              <a:spcAft>
                <a:spcPts val="0"/>
              </a:spcAft>
              <a:buClr>
                <a:srgbClr val="3B365F"/>
              </a:buClr>
              <a:buSzPts val="2399"/>
              <a:buFont typeface="Times New Roman"/>
              <a:buChar char="●"/>
            </a:pPr>
            <a:r>
              <a:rPr lang="en-US" sz="2699">
                <a:solidFill>
                  <a:srgbClr val="3B365F"/>
                </a:solidFill>
                <a:latin typeface="Times New Roman"/>
                <a:ea typeface="Times New Roman"/>
                <a:cs typeface="Times New Roman"/>
                <a:sym typeface="Times New Roman"/>
              </a:rPr>
              <a:t>The treatment likely has minimal or no independent effect when accounting for patient characteristics like cancer stage dukes C and D.</a:t>
            </a:r>
            <a:endParaRPr sz="2699">
              <a:solidFill>
                <a:srgbClr val="3B365F"/>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345" name="Shape 345"/>
        <p:cNvGrpSpPr/>
        <p:nvPr/>
      </p:nvGrpSpPr>
      <p:grpSpPr>
        <a:xfrm>
          <a:off x="0" y="0"/>
          <a:ext cx="0" cy="0"/>
          <a:chOff x="0" y="0"/>
          <a:chExt cx="0" cy="0"/>
        </a:xfrm>
      </p:grpSpPr>
      <p:sp>
        <p:nvSpPr>
          <p:cNvPr id="346" name="Google Shape;346;p34"/>
          <p:cNvSpPr txBox="1"/>
          <p:nvPr/>
        </p:nvSpPr>
        <p:spPr>
          <a:xfrm>
            <a:off x="3729150" y="556625"/>
            <a:ext cx="10829700" cy="815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Font typeface="Arial"/>
              <a:buNone/>
            </a:pPr>
            <a:r>
              <a:rPr lang="en-US" sz="5300">
                <a:solidFill>
                  <a:srgbClr val="3B365F"/>
                </a:solidFill>
                <a:latin typeface="Times New Roman"/>
                <a:ea typeface="Times New Roman"/>
                <a:cs typeface="Times New Roman"/>
                <a:sym typeface="Times New Roman"/>
              </a:rPr>
              <a:t>Wang Chang Nonparametric Estimator </a:t>
            </a:r>
            <a:endParaRPr sz="400">
              <a:latin typeface="Times New Roman"/>
              <a:ea typeface="Times New Roman"/>
              <a:cs typeface="Times New Roman"/>
              <a:sym typeface="Times New Roman"/>
            </a:endParaRPr>
          </a:p>
        </p:txBody>
      </p:sp>
      <p:sp>
        <p:nvSpPr>
          <p:cNvPr id="347" name="Google Shape;347;p34"/>
          <p:cNvSpPr/>
          <p:nvPr/>
        </p:nvSpPr>
        <p:spPr>
          <a:xfrm rot="8465220">
            <a:off x="174983" y="8361877"/>
            <a:ext cx="3120196" cy="3609522"/>
          </a:xfrm>
          <a:custGeom>
            <a:rect b="b" l="l" r="r" t="t"/>
            <a:pathLst>
              <a:path extrusionOk="0" h="3815463" w="3531385">
                <a:moveTo>
                  <a:pt x="0" y="0"/>
                </a:moveTo>
                <a:lnTo>
                  <a:pt x="3531386" y="0"/>
                </a:lnTo>
                <a:lnTo>
                  <a:pt x="3531386" y="3815463"/>
                </a:lnTo>
                <a:lnTo>
                  <a:pt x="0" y="3815463"/>
                </a:lnTo>
                <a:lnTo>
                  <a:pt x="0" y="0"/>
                </a:lnTo>
                <a:close/>
              </a:path>
            </a:pathLst>
          </a:custGeom>
          <a:blipFill rotWithShape="1">
            <a:blip r:embed="rId3">
              <a:alphaModFix/>
            </a:blip>
            <a:stretch>
              <a:fillRect b="0" l="0" r="0" t="0"/>
            </a:stretch>
          </a:blipFill>
          <a:ln>
            <a:noFill/>
          </a:ln>
        </p:spPr>
      </p:sp>
      <p:sp>
        <p:nvSpPr>
          <p:cNvPr id="348" name="Google Shape;348;p34"/>
          <p:cNvSpPr txBox="1"/>
          <p:nvPr/>
        </p:nvSpPr>
        <p:spPr>
          <a:xfrm>
            <a:off x="1520850" y="2099150"/>
            <a:ext cx="15246300" cy="2114400"/>
          </a:xfrm>
          <a:prstGeom prst="rect">
            <a:avLst/>
          </a:prstGeom>
          <a:noFill/>
          <a:ln>
            <a:noFill/>
          </a:ln>
        </p:spPr>
        <p:txBody>
          <a:bodyPr anchorCtr="0" anchor="t" bIns="91425" lIns="91425" spcFirstLastPara="1" rIns="91425" wrap="square" tIns="91425">
            <a:spAutoFit/>
          </a:bodyPr>
          <a:lstStyle/>
          <a:p>
            <a:pPr indent="-380936" lvl="0" marL="457200" rtl="0" algn="l">
              <a:lnSpc>
                <a:spcPct val="140016"/>
              </a:lnSpc>
              <a:spcBef>
                <a:spcPts val="0"/>
              </a:spcBef>
              <a:spcAft>
                <a:spcPts val="0"/>
              </a:spcAft>
              <a:buClr>
                <a:srgbClr val="3B365F"/>
              </a:buClr>
              <a:buSzPts val="2399"/>
              <a:buFont typeface="Times New Roman"/>
              <a:buChar char="●"/>
            </a:pPr>
            <a:r>
              <a:rPr lang="en-US" sz="3299">
                <a:solidFill>
                  <a:srgbClr val="3B365F"/>
                </a:solidFill>
                <a:latin typeface="Times New Roman"/>
                <a:ea typeface="Times New Roman"/>
                <a:cs typeface="Times New Roman"/>
                <a:sym typeface="Times New Roman"/>
              </a:rPr>
              <a:t>The Wang-Chang nonparametric estimator is designed to estimate the marginal survival function for recurrent event data. </a:t>
            </a:r>
            <a:endParaRPr sz="3299">
              <a:solidFill>
                <a:srgbClr val="3B365F"/>
              </a:solidFill>
              <a:latin typeface="Times New Roman"/>
              <a:ea typeface="Times New Roman"/>
              <a:cs typeface="Times New Roman"/>
              <a:sym typeface="Times New Roman"/>
            </a:endParaRPr>
          </a:p>
          <a:p>
            <a:pPr indent="-380936" lvl="0" marL="457200" rtl="0" algn="l">
              <a:lnSpc>
                <a:spcPct val="140016"/>
              </a:lnSpc>
              <a:spcBef>
                <a:spcPts val="0"/>
              </a:spcBef>
              <a:spcAft>
                <a:spcPts val="0"/>
              </a:spcAft>
              <a:buClr>
                <a:srgbClr val="3B365F"/>
              </a:buClr>
              <a:buSzPts val="2399"/>
              <a:buFont typeface="Times New Roman"/>
              <a:buChar char="●"/>
            </a:pPr>
            <a:r>
              <a:rPr lang="en-US" sz="3299">
                <a:solidFill>
                  <a:srgbClr val="3B365F"/>
                </a:solidFill>
                <a:latin typeface="Times New Roman"/>
                <a:ea typeface="Times New Roman"/>
                <a:cs typeface="Times New Roman"/>
                <a:sym typeface="Times New Roman"/>
              </a:rPr>
              <a:t>It is a reference to which we compare our gamma Additive Frailty Model</a:t>
            </a:r>
            <a:endParaRPr sz="3299">
              <a:solidFill>
                <a:srgbClr val="3B365F"/>
              </a:solidFill>
              <a:latin typeface="Times New Roman"/>
              <a:ea typeface="Times New Roman"/>
              <a:cs typeface="Times New Roman"/>
              <a:sym typeface="Times New Roman"/>
            </a:endParaRPr>
          </a:p>
        </p:txBody>
      </p:sp>
      <p:pic>
        <p:nvPicPr>
          <p:cNvPr id="349" name="Google Shape;349;p34"/>
          <p:cNvPicPr preferRelativeResize="0"/>
          <p:nvPr/>
        </p:nvPicPr>
        <p:blipFill rotWithShape="1">
          <a:blip r:embed="rId4">
            <a:alphaModFix/>
          </a:blip>
          <a:srcRect b="0" l="0" r="0" t="0"/>
          <a:stretch/>
        </p:blipFill>
        <p:spPr>
          <a:xfrm>
            <a:off x="2206450" y="4478682"/>
            <a:ext cx="13875100" cy="3958189"/>
          </a:xfrm>
          <a:prstGeom prst="rect">
            <a:avLst/>
          </a:prstGeom>
          <a:noFill/>
          <a:ln cap="flat" cmpd="sng" w="28575">
            <a:solidFill>
              <a:schemeClr val="dk1"/>
            </a:solidFill>
            <a:prstDash val="solid"/>
            <a:round/>
            <a:headEnd len="sm" w="sm" type="none"/>
            <a:tailEnd len="sm" w="sm" type="none"/>
          </a:ln>
        </p:spPr>
      </p:pic>
      <p:sp>
        <p:nvSpPr>
          <p:cNvPr id="350" name="Google Shape;350;p34"/>
          <p:cNvSpPr txBox="1"/>
          <p:nvPr/>
        </p:nvSpPr>
        <p:spPr>
          <a:xfrm>
            <a:off x="6544200" y="8833525"/>
            <a:ext cx="5199600" cy="1145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lang="en-US" sz="2600">
                <a:solidFill>
                  <a:srgbClr val="3B365F"/>
                </a:solidFill>
                <a:latin typeface="Cambria Math"/>
                <a:ea typeface="Cambria Math"/>
                <a:cs typeface="Cambria Math"/>
                <a:sym typeface="Cambria Math"/>
              </a:rPr>
              <a:t>R*(t) = risk set at time t</a:t>
            </a:r>
            <a:endParaRPr sz="2600">
              <a:solidFill>
                <a:srgbClr val="3B365F"/>
              </a:solidFill>
              <a:latin typeface="Cambria Math"/>
              <a:ea typeface="Cambria Math"/>
              <a:cs typeface="Cambria Math"/>
              <a:sym typeface="Cambria Math"/>
            </a:endParaRPr>
          </a:p>
          <a:p>
            <a:pPr indent="0" lvl="0" marL="0" rtl="0" algn="l">
              <a:lnSpc>
                <a:spcPct val="140000"/>
              </a:lnSpc>
              <a:spcBef>
                <a:spcPts val="0"/>
              </a:spcBef>
              <a:spcAft>
                <a:spcPts val="0"/>
              </a:spcAft>
              <a:buNone/>
            </a:pPr>
            <a:r>
              <a:rPr lang="en-US" sz="2600">
                <a:solidFill>
                  <a:srgbClr val="3B365F"/>
                </a:solidFill>
                <a:latin typeface="Cambria Math"/>
                <a:ea typeface="Cambria Math"/>
                <a:cs typeface="Cambria Math"/>
                <a:sym typeface="Cambria Math"/>
              </a:rPr>
              <a:t>d*(t) = number of events at time t</a:t>
            </a:r>
            <a:endParaRPr sz="2600">
              <a:solidFill>
                <a:srgbClr val="3B365F"/>
              </a:solidFill>
              <a:latin typeface="Cambria Math"/>
              <a:ea typeface="Cambria Math"/>
              <a:cs typeface="Cambria Math"/>
              <a:sym typeface="Cambria Math"/>
            </a:endParaRPr>
          </a:p>
        </p:txBody>
      </p:sp>
      <p:sp>
        <p:nvSpPr>
          <p:cNvPr id="351" name="Google Shape;351;p34"/>
          <p:cNvSpPr/>
          <p:nvPr/>
        </p:nvSpPr>
        <p:spPr>
          <a:xfrm flipH="1">
            <a:off x="15129919" y="-1661476"/>
            <a:ext cx="6575306" cy="5056926"/>
          </a:xfrm>
          <a:custGeom>
            <a:rect b="b" l="l" r="r" t="t"/>
            <a:pathLst>
              <a:path extrusionOk="0" h="9070719" w="14451223">
                <a:moveTo>
                  <a:pt x="14451224" y="0"/>
                </a:moveTo>
                <a:lnTo>
                  <a:pt x="0" y="0"/>
                </a:lnTo>
                <a:lnTo>
                  <a:pt x="0" y="9070718"/>
                </a:lnTo>
                <a:lnTo>
                  <a:pt x="14451224" y="9070718"/>
                </a:lnTo>
                <a:lnTo>
                  <a:pt x="14451224" y="0"/>
                </a:lnTo>
                <a:close/>
              </a:path>
            </a:pathLst>
          </a:custGeom>
          <a:blipFill rotWithShape="1">
            <a:blip r:embed="rId5">
              <a:alphaModFix/>
            </a:blip>
            <a:stretch>
              <a:fillRect b="0" l="0" r="0" t="0"/>
            </a:stretch>
          </a:blipFill>
          <a:ln>
            <a:noFill/>
          </a:ln>
        </p:spPr>
      </p:sp>
      <p:sp>
        <p:nvSpPr>
          <p:cNvPr id="352" name="Google Shape;352;p34"/>
          <p:cNvSpPr/>
          <p:nvPr/>
        </p:nvSpPr>
        <p:spPr>
          <a:xfrm>
            <a:off x="-1" y="84224"/>
            <a:ext cx="2843523" cy="2712718"/>
          </a:xfrm>
          <a:custGeom>
            <a:rect b="b" l="l" r="r" t="t"/>
            <a:pathLst>
              <a:path extrusionOk="0" h="3807323" w="3778768">
                <a:moveTo>
                  <a:pt x="0" y="0"/>
                </a:moveTo>
                <a:lnTo>
                  <a:pt x="3778768" y="0"/>
                </a:lnTo>
                <a:lnTo>
                  <a:pt x="3778768" y="3807323"/>
                </a:lnTo>
                <a:lnTo>
                  <a:pt x="0" y="3807323"/>
                </a:lnTo>
                <a:lnTo>
                  <a:pt x="0" y="0"/>
                </a:lnTo>
                <a:close/>
              </a:path>
            </a:pathLst>
          </a:custGeom>
          <a:blipFill rotWithShape="1">
            <a:blip r:embed="rId6">
              <a:alphaModFix/>
            </a:blip>
            <a:stretch>
              <a:fillRect b="0" l="0" r="0" t="0"/>
            </a:stretch>
          </a:blipFill>
          <a:ln>
            <a:noFill/>
          </a:ln>
        </p:spPr>
      </p:sp>
      <p:sp>
        <p:nvSpPr>
          <p:cNvPr id="353" name="Google Shape;353;p34"/>
          <p:cNvSpPr/>
          <p:nvPr/>
        </p:nvSpPr>
        <p:spPr>
          <a:xfrm rot="-594482">
            <a:off x="13961076" y="5389174"/>
            <a:ext cx="5662803" cy="5229269"/>
          </a:xfrm>
          <a:custGeom>
            <a:rect b="b" l="l" r="r" t="t"/>
            <a:pathLst>
              <a:path extrusionOk="0" h="10202966" w="9743832">
                <a:moveTo>
                  <a:pt x="0" y="0"/>
                </a:moveTo>
                <a:lnTo>
                  <a:pt x="9743832" y="0"/>
                </a:lnTo>
                <a:lnTo>
                  <a:pt x="9743832" y="10202965"/>
                </a:lnTo>
                <a:lnTo>
                  <a:pt x="0" y="10202965"/>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357" name="Shape 357"/>
        <p:cNvGrpSpPr/>
        <p:nvPr/>
      </p:nvGrpSpPr>
      <p:grpSpPr>
        <a:xfrm>
          <a:off x="0" y="0"/>
          <a:ext cx="0" cy="0"/>
          <a:chOff x="0" y="0"/>
          <a:chExt cx="0" cy="0"/>
        </a:xfrm>
      </p:grpSpPr>
      <p:sp>
        <p:nvSpPr>
          <p:cNvPr id="358" name="Google Shape;358;p35"/>
          <p:cNvSpPr/>
          <p:nvPr/>
        </p:nvSpPr>
        <p:spPr>
          <a:xfrm rot="283679">
            <a:off x="10866161" y="2112388"/>
            <a:ext cx="9752658" cy="10212208"/>
          </a:xfrm>
          <a:custGeom>
            <a:rect b="b" l="l" r="r" t="t"/>
            <a:pathLst>
              <a:path extrusionOk="0" h="10202966" w="9743832">
                <a:moveTo>
                  <a:pt x="0" y="0"/>
                </a:moveTo>
                <a:lnTo>
                  <a:pt x="9743832" y="0"/>
                </a:lnTo>
                <a:lnTo>
                  <a:pt x="9743832" y="10202965"/>
                </a:lnTo>
                <a:lnTo>
                  <a:pt x="0" y="10202965"/>
                </a:lnTo>
                <a:lnTo>
                  <a:pt x="0" y="0"/>
                </a:lnTo>
                <a:close/>
              </a:path>
            </a:pathLst>
          </a:custGeom>
          <a:blipFill rotWithShape="1">
            <a:blip r:embed="rId3">
              <a:alphaModFix/>
            </a:blip>
            <a:stretch>
              <a:fillRect b="0" l="0" r="0" t="0"/>
            </a:stretch>
          </a:blipFill>
          <a:ln>
            <a:noFill/>
          </a:ln>
        </p:spPr>
      </p:sp>
      <p:sp>
        <p:nvSpPr>
          <p:cNvPr id="359" name="Google Shape;359;p35"/>
          <p:cNvSpPr/>
          <p:nvPr/>
        </p:nvSpPr>
        <p:spPr>
          <a:xfrm flipH="1">
            <a:off x="-2629112" y="5105400"/>
            <a:ext cx="13319062" cy="8263437"/>
          </a:xfrm>
          <a:custGeom>
            <a:rect b="b" l="l" r="r" t="t"/>
            <a:pathLst>
              <a:path extrusionOk="0" h="9664839" w="15397760">
                <a:moveTo>
                  <a:pt x="15397760" y="0"/>
                </a:moveTo>
                <a:lnTo>
                  <a:pt x="0" y="0"/>
                </a:lnTo>
                <a:lnTo>
                  <a:pt x="0" y="9664839"/>
                </a:lnTo>
                <a:lnTo>
                  <a:pt x="15397760" y="9664839"/>
                </a:lnTo>
                <a:lnTo>
                  <a:pt x="15397760" y="0"/>
                </a:lnTo>
                <a:close/>
              </a:path>
            </a:pathLst>
          </a:custGeom>
          <a:blipFill rotWithShape="1">
            <a:blip r:embed="rId4">
              <a:alphaModFix/>
            </a:blip>
            <a:stretch>
              <a:fillRect b="0" l="0" r="0" t="0"/>
            </a:stretch>
          </a:blipFill>
          <a:ln>
            <a:noFill/>
          </a:ln>
        </p:spPr>
      </p:sp>
      <p:sp>
        <p:nvSpPr>
          <p:cNvPr id="360" name="Google Shape;360;p35"/>
          <p:cNvSpPr/>
          <p:nvPr/>
        </p:nvSpPr>
        <p:spPr>
          <a:xfrm flipH="1">
            <a:off x="8515390" y="-2556916"/>
            <a:ext cx="14451223" cy="9070719"/>
          </a:xfrm>
          <a:custGeom>
            <a:rect b="b" l="l" r="r" t="t"/>
            <a:pathLst>
              <a:path extrusionOk="0" h="9070719" w="14451223">
                <a:moveTo>
                  <a:pt x="14451224" y="0"/>
                </a:moveTo>
                <a:lnTo>
                  <a:pt x="0" y="0"/>
                </a:lnTo>
                <a:lnTo>
                  <a:pt x="0" y="9070718"/>
                </a:lnTo>
                <a:lnTo>
                  <a:pt x="14451224" y="9070718"/>
                </a:lnTo>
                <a:lnTo>
                  <a:pt x="14451224" y="0"/>
                </a:lnTo>
                <a:close/>
              </a:path>
            </a:pathLst>
          </a:custGeom>
          <a:blipFill rotWithShape="1">
            <a:blip r:embed="rId4">
              <a:alphaModFix/>
            </a:blip>
            <a:stretch>
              <a:fillRect b="0" l="0" r="0" t="0"/>
            </a:stretch>
          </a:blipFill>
          <a:ln>
            <a:noFill/>
          </a:ln>
        </p:spPr>
      </p:sp>
      <p:sp>
        <p:nvSpPr>
          <p:cNvPr id="361" name="Google Shape;361;p35"/>
          <p:cNvSpPr/>
          <p:nvPr/>
        </p:nvSpPr>
        <p:spPr>
          <a:xfrm flipH="1" rot="-1011006">
            <a:off x="14412018" y="6678173"/>
            <a:ext cx="2660957" cy="3492904"/>
          </a:xfrm>
          <a:custGeom>
            <a:rect b="b" l="l" r="r" t="t"/>
            <a:pathLst>
              <a:path extrusionOk="0" h="3491322" w="2659752">
                <a:moveTo>
                  <a:pt x="2659752" y="0"/>
                </a:moveTo>
                <a:lnTo>
                  <a:pt x="0" y="0"/>
                </a:lnTo>
                <a:lnTo>
                  <a:pt x="0" y="3491321"/>
                </a:lnTo>
                <a:lnTo>
                  <a:pt x="2659752" y="3491321"/>
                </a:lnTo>
                <a:lnTo>
                  <a:pt x="2659752" y="0"/>
                </a:lnTo>
                <a:close/>
              </a:path>
            </a:pathLst>
          </a:custGeom>
          <a:blipFill rotWithShape="1">
            <a:blip r:embed="rId5">
              <a:alphaModFix/>
            </a:blip>
            <a:stretch>
              <a:fillRect b="0" l="0" r="0" t="0"/>
            </a:stretch>
          </a:blipFill>
          <a:ln>
            <a:noFill/>
          </a:ln>
        </p:spPr>
      </p:sp>
      <p:sp>
        <p:nvSpPr>
          <p:cNvPr id="362" name="Google Shape;362;p35"/>
          <p:cNvSpPr/>
          <p:nvPr/>
        </p:nvSpPr>
        <p:spPr>
          <a:xfrm>
            <a:off x="8833485" y="765810"/>
            <a:ext cx="728663" cy="3032760"/>
          </a:xfrm>
          <a:custGeom>
            <a:rect b="b" l="l" r="r" t="t"/>
            <a:pathLst>
              <a:path extrusionOk="0" h="4043680" w="971550">
                <a:moveTo>
                  <a:pt x="194310" y="83820"/>
                </a:moveTo>
                <a:cubicBezTo>
                  <a:pt x="205740" y="1664970"/>
                  <a:pt x="218440" y="1770380"/>
                  <a:pt x="234950" y="1847850"/>
                </a:cubicBezTo>
                <a:cubicBezTo>
                  <a:pt x="243840" y="1891030"/>
                  <a:pt x="259080" y="1913890"/>
                  <a:pt x="265430" y="1945640"/>
                </a:cubicBezTo>
                <a:cubicBezTo>
                  <a:pt x="271780" y="1976120"/>
                  <a:pt x="264160" y="2006600"/>
                  <a:pt x="273050" y="2037080"/>
                </a:cubicBezTo>
                <a:cubicBezTo>
                  <a:pt x="281940" y="2073910"/>
                  <a:pt x="308610" y="2104390"/>
                  <a:pt x="326390" y="2148840"/>
                </a:cubicBezTo>
                <a:cubicBezTo>
                  <a:pt x="351790" y="2211070"/>
                  <a:pt x="382270" y="2302510"/>
                  <a:pt x="402590" y="2376170"/>
                </a:cubicBezTo>
                <a:cubicBezTo>
                  <a:pt x="420370" y="2444750"/>
                  <a:pt x="427990" y="2520950"/>
                  <a:pt x="443230" y="2576830"/>
                </a:cubicBezTo>
                <a:cubicBezTo>
                  <a:pt x="454660" y="2618740"/>
                  <a:pt x="463550" y="2649220"/>
                  <a:pt x="480060" y="2683510"/>
                </a:cubicBezTo>
                <a:cubicBezTo>
                  <a:pt x="496570" y="2720340"/>
                  <a:pt x="523240" y="2741930"/>
                  <a:pt x="544830" y="2788920"/>
                </a:cubicBezTo>
                <a:cubicBezTo>
                  <a:pt x="580390" y="2868930"/>
                  <a:pt x="614680" y="3035300"/>
                  <a:pt x="648970" y="3133090"/>
                </a:cubicBezTo>
                <a:cubicBezTo>
                  <a:pt x="675640" y="3205480"/>
                  <a:pt x="712470" y="3265170"/>
                  <a:pt x="725170" y="3322320"/>
                </a:cubicBezTo>
                <a:cubicBezTo>
                  <a:pt x="736600" y="3369310"/>
                  <a:pt x="727710" y="3411220"/>
                  <a:pt x="735330" y="3451860"/>
                </a:cubicBezTo>
                <a:cubicBezTo>
                  <a:pt x="741680" y="3487420"/>
                  <a:pt x="748030" y="3511550"/>
                  <a:pt x="765810" y="3550920"/>
                </a:cubicBezTo>
                <a:cubicBezTo>
                  <a:pt x="795020" y="3620770"/>
                  <a:pt x="880110" y="3742690"/>
                  <a:pt x="915670" y="3818890"/>
                </a:cubicBezTo>
                <a:cubicBezTo>
                  <a:pt x="939800" y="3870960"/>
                  <a:pt x="971550" y="3916680"/>
                  <a:pt x="967740" y="3954780"/>
                </a:cubicBezTo>
                <a:cubicBezTo>
                  <a:pt x="965200" y="3982720"/>
                  <a:pt x="944880" y="4014470"/>
                  <a:pt x="925830" y="4028440"/>
                </a:cubicBezTo>
                <a:cubicBezTo>
                  <a:pt x="910590" y="4039870"/>
                  <a:pt x="887730" y="4043680"/>
                  <a:pt x="869950" y="4041140"/>
                </a:cubicBezTo>
                <a:cubicBezTo>
                  <a:pt x="850900" y="4039870"/>
                  <a:pt x="829310" y="4032250"/>
                  <a:pt x="816610" y="4018280"/>
                </a:cubicBezTo>
                <a:cubicBezTo>
                  <a:pt x="800100" y="4001770"/>
                  <a:pt x="783590" y="3963670"/>
                  <a:pt x="787400" y="3938270"/>
                </a:cubicBezTo>
                <a:cubicBezTo>
                  <a:pt x="791210" y="3914140"/>
                  <a:pt x="817880" y="3882390"/>
                  <a:pt x="838200" y="3869690"/>
                </a:cubicBezTo>
                <a:cubicBezTo>
                  <a:pt x="854710" y="3859530"/>
                  <a:pt x="876300" y="3856990"/>
                  <a:pt x="895350" y="3862070"/>
                </a:cubicBezTo>
                <a:cubicBezTo>
                  <a:pt x="918210" y="3868420"/>
                  <a:pt x="949960" y="3895090"/>
                  <a:pt x="961390" y="3916680"/>
                </a:cubicBezTo>
                <a:cubicBezTo>
                  <a:pt x="970280" y="3933190"/>
                  <a:pt x="970280" y="3956050"/>
                  <a:pt x="965200" y="3973830"/>
                </a:cubicBezTo>
                <a:cubicBezTo>
                  <a:pt x="960120" y="3991610"/>
                  <a:pt x="948690" y="4010660"/>
                  <a:pt x="933450" y="4022090"/>
                </a:cubicBezTo>
                <a:cubicBezTo>
                  <a:pt x="919480" y="4033520"/>
                  <a:pt x="897890" y="4041140"/>
                  <a:pt x="878840" y="4042410"/>
                </a:cubicBezTo>
                <a:cubicBezTo>
                  <a:pt x="861060" y="4042410"/>
                  <a:pt x="844550" y="4041140"/>
                  <a:pt x="824230" y="4024630"/>
                </a:cubicBezTo>
                <a:cubicBezTo>
                  <a:pt x="770890" y="3980180"/>
                  <a:pt x="674370" y="3763010"/>
                  <a:pt x="628650" y="3658870"/>
                </a:cubicBezTo>
                <a:cubicBezTo>
                  <a:pt x="595630" y="3583940"/>
                  <a:pt x="568960" y="3519170"/>
                  <a:pt x="557530" y="3460750"/>
                </a:cubicBezTo>
                <a:cubicBezTo>
                  <a:pt x="548640" y="3418840"/>
                  <a:pt x="558800" y="3388360"/>
                  <a:pt x="549910" y="3346450"/>
                </a:cubicBezTo>
                <a:cubicBezTo>
                  <a:pt x="537210" y="3291840"/>
                  <a:pt x="500380" y="3230880"/>
                  <a:pt x="476250" y="3162300"/>
                </a:cubicBezTo>
                <a:cubicBezTo>
                  <a:pt x="447040" y="3077210"/>
                  <a:pt x="424180" y="2947670"/>
                  <a:pt x="391160" y="2874010"/>
                </a:cubicBezTo>
                <a:cubicBezTo>
                  <a:pt x="368300" y="2823210"/>
                  <a:pt x="339090" y="2799080"/>
                  <a:pt x="317500" y="2753360"/>
                </a:cubicBezTo>
                <a:cubicBezTo>
                  <a:pt x="292100" y="2700020"/>
                  <a:pt x="264160" y="2626360"/>
                  <a:pt x="252730" y="2570480"/>
                </a:cubicBezTo>
                <a:cubicBezTo>
                  <a:pt x="242570" y="2524760"/>
                  <a:pt x="252730" y="2496820"/>
                  <a:pt x="240030" y="2443480"/>
                </a:cubicBezTo>
                <a:cubicBezTo>
                  <a:pt x="219710" y="2348230"/>
                  <a:pt x="135890" y="2195830"/>
                  <a:pt x="101600" y="2053590"/>
                </a:cubicBezTo>
                <a:cubicBezTo>
                  <a:pt x="60960" y="1891030"/>
                  <a:pt x="40640" y="1738630"/>
                  <a:pt x="25400" y="1516380"/>
                </a:cubicBezTo>
                <a:cubicBezTo>
                  <a:pt x="0" y="1154430"/>
                  <a:pt x="0" y="240030"/>
                  <a:pt x="29210" y="83820"/>
                </a:cubicBezTo>
                <a:cubicBezTo>
                  <a:pt x="34290" y="52070"/>
                  <a:pt x="38100" y="43180"/>
                  <a:pt x="49530" y="29210"/>
                </a:cubicBezTo>
                <a:cubicBezTo>
                  <a:pt x="62230" y="15240"/>
                  <a:pt x="82550" y="2540"/>
                  <a:pt x="101600" y="1270"/>
                </a:cubicBezTo>
                <a:cubicBezTo>
                  <a:pt x="123190" y="0"/>
                  <a:pt x="157480" y="13970"/>
                  <a:pt x="173990" y="29210"/>
                </a:cubicBezTo>
                <a:cubicBezTo>
                  <a:pt x="186690" y="43180"/>
                  <a:pt x="194310" y="83820"/>
                  <a:pt x="194310" y="8382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5"/>
          <p:cNvSpPr/>
          <p:nvPr/>
        </p:nvSpPr>
        <p:spPr>
          <a:xfrm>
            <a:off x="9659302" y="4040505"/>
            <a:ext cx="120968" cy="125730"/>
          </a:xfrm>
          <a:custGeom>
            <a:rect b="b" l="l" r="r" t="t"/>
            <a:pathLst>
              <a:path extrusionOk="0" h="167640" w="161290">
                <a:moveTo>
                  <a:pt x="161290" y="58420"/>
                </a:moveTo>
                <a:cubicBezTo>
                  <a:pt x="139700" y="146050"/>
                  <a:pt x="128270" y="152400"/>
                  <a:pt x="116840" y="158750"/>
                </a:cubicBezTo>
                <a:cubicBezTo>
                  <a:pt x="105410" y="163830"/>
                  <a:pt x="91440" y="167640"/>
                  <a:pt x="77470" y="165100"/>
                </a:cubicBezTo>
                <a:cubicBezTo>
                  <a:pt x="58420" y="161290"/>
                  <a:pt x="24130" y="140970"/>
                  <a:pt x="11430" y="125730"/>
                </a:cubicBezTo>
                <a:cubicBezTo>
                  <a:pt x="2540" y="114300"/>
                  <a:pt x="0" y="102870"/>
                  <a:pt x="0" y="87630"/>
                </a:cubicBezTo>
                <a:cubicBezTo>
                  <a:pt x="1270" y="68580"/>
                  <a:pt x="17780" y="31750"/>
                  <a:pt x="31750" y="17780"/>
                </a:cubicBezTo>
                <a:cubicBezTo>
                  <a:pt x="41910" y="7620"/>
                  <a:pt x="53340" y="2540"/>
                  <a:pt x="67310" y="1270"/>
                </a:cubicBezTo>
                <a:cubicBezTo>
                  <a:pt x="87630" y="0"/>
                  <a:pt x="140970" y="24130"/>
                  <a:pt x="140970" y="2413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5"/>
          <p:cNvSpPr/>
          <p:nvPr/>
        </p:nvSpPr>
        <p:spPr>
          <a:xfrm rot="-863616">
            <a:off x="9553852" y="7295549"/>
            <a:ext cx="839330" cy="2476861"/>
          </a:xfrm>
          <a:custGeom>
            <a:rect b="b" l="l" r="r" t="t"/>
            <a:pathLst>
              <a:path extrusionOk="0" h="3262630" w="1438910">
                <a:moveTo>
                  <a:pt x="148590" y="34290"/>
                </a:moveTo>
                <a:cubicBezTo>
                  <a:pt x="502920" y="439420"/>
                  <a:pt x="553720" y="467360"/>
                  <a:pt x="615950" y="529590"/>
                </a:cubicBezTo>
                <a:cubicBezTo>
                  <a:pt x="693420" y="608330"/>
                  <a:pt x="821690" y="746760"/>
                  <a:pt x="861060" y="817880"/>
                </a:cubicBezTo>
                <a:cubicBezTo>
                  <a:pt x="880110" y="852170"/>
                  <a:pt x="871220" y="868680"/>
                  <a:pt x="889000" y="901700"/>
                </a:cubicBezTo>
                <a:cubicBezTo>
                  <a:pt x="919480" y="958850"/>
                  <a:pt x="1017270" y="1054100"/>
                  <a:pt x="1057910" y="1113790"/>
                </a:cubicBezTo>
                <a:cubicBezTo>
                  <a:pt x="1084580" y="1155700"/>
                  <a:pt x="1101090" y="1184910"/>
                  <a:pt x="1116330" y="1223010"/>
                </a:cubicBezTo>
                <a:cubicBezTo>
                  <a:pt x="1132840" y="1259840"/>
                  <a:pt x="1135380" y="1303020"/>
                  <a:pt x="1151890" y="1337310"/>
                </a:cubicBezTo>
                <a:cubicBezTo>
                  <a:pt x="1169670" y="1372870"/>
                  <a:pt x="1196340" y="1394460"/>
                  <a:pt x="1217930" y="1432560"/>
                </a:cubicBezTo>
                <a:cubicBezTo>
                  <a:pt x="1247140" y="1485900"/>
                  <a:pt x="1280160" y="1543050"/>
                  <a:pt x="1306830" y="1628140"/>
                </a:cubicBezTo>
                <a:cubicBezTo>
                  <a:pt x="1350010" y="1766570"/>
                  <a:pt x="1391920" y="1985010"/>
                  <a:pt x="1412240" y="2202180"/>
                </a:cubicBezTo>
                <a:cubicBezTo>
                  <a:pt x="1438910" y="2481580"/>
                  <a:pt x="1438910" y="3046730"/>
                  <a:pt x="1418590" y="3169920"/>
                </a:cubicBezTo>
                <a:cubicBezTo>
                  <a:pt x="1413510" y="3200400"/>
                  <a:pt x="1410970" y="3210560"/>
                  <a:pt x="1400810" y="3224530"/>
                </a:cubicBezTo>
                <a:cubicBezTo>
                  <a:pt x="1389380" y="3238500"/>
                  <a:pt x="1371600" y="3252470"/>
                  <a:pt x="1352550" y="3256280"/>
                </a:cubicBezTo>
                <a:cubicBezTo>
                  <a:pt x="1329690" y="3261360"/>
                  <a:pt x="1289050" y="3255010"/>
                  <a:pt x="1270000" y="3238500"/>
                </a:cubicBezTo>
                <a:cubicBezTo>
                  <a:pt x="1252220" y="3221990"/>
                  <a:pt x="1238250" y="3183890"/>
                  <a:pt x="1239520" y="3159760"/>
                </a:cubicBezTo>
                <a:cubicBezTo>
                  <a:pt x="1239520" y="3140710"/>
                  <a:pt x="1250950" y="3121660"/>
                  <a:pt x="1263650" y="3107690"/>
                </a:cubicBezTo>
                <a:cubicBezTo>
                  <a:pt x="1276350" y="3094990"/>
                  <a:pt x="1295400" y="3082290"/>
                  <a:pt x="1314450" y="3081020"/>
                </a:cubicBezTo>
                <a:cubicBezTo>
                  <a:pt x="1337310" y="3079750"/>
                  <a:pt x="1376680" y="3089910"/>
                  <a:pt x="1394460" y="3107690"/>
                </a:cubicBezTo>
                <a:cubicBezTo>
                  <a:pt x="1410970" y="3125470"/>
                  <a:pt x="1422400" y="3164840"/>
                  <a:pt x="1417320" y="3188970"/>
                </a:cubicBezTo>
                <a:cubicBezTo>
                  <a:pt x="1410970" y="3213100"/>
                  <a:pt x="1383030" y="3243580"/>
                  <a:pt x="1362710" y="3253740"/>
                </a:cubicBezTo>
                <a:cubicBezTo>
                  <a:pt x="1344930" y="3262630"/>
                  <a:pt x="1322070" y="3261360"/>
                  <a:pt x="1304290" y="3256280"/>
                </a:cubicBezTo>
                <a:cubicBezTo>
                  <a:pt x="1287780" y="3251200"/>
                  <a:pt x="1268730" y="3238500"/>
                  <a:pt x="1257300" y="3224530"/>
                </a:cubicBezTo>
                <a:cubicBezTo>
                  <a:pt x="1245870" y="3210560"/>
                  <a:pt x="1243330" y="3200400"/>
                  <a:pt x="1238250" y="3169920"/>
                </a:cubicBezTo>
                <a:cubicBezTo>
                  <a:pt x="1219200" y="3048000"/>
                  <a:pt x="1262380" y="2482850"/>
                  <a:pt x="1239520" y="2214880"/>
                </a:cubicBezTo>
                <a:cubicBezTo>
                  <a:pt x="1221740" y="2016760"/>
                  <a:pt x="1191260" y="1837690"/>
                  <a:pt x="1148080" y="1703070"/>
                </a:cubicBezTo>
                <a:cubicBezTo>
                  <a:pt x="1117600" y="1610360"/>
                  <a:pt x="1070610" y="1530350"/>
                  <a:pt x="1038860" y="1477010"/>
                </a:cubicBezTo>
                <a:cubicBezTo>
                  <a:pt x="1019810" y="1443990"/>
                  <a:pt x="1000760" y="1430020"/>
                  <a:pt x="988060" y="1402080"/>
                </a:cubicBezTo>
                <a:cubicBezTo>
                  <a:pt x="974090" y="1372870"/>
                  <a:pt x="972820" y="1334770"/>
                  <a:pt x="958850" y="1304290"/>
                </a:cubicBezTo>
                <a:cubicBezTo>
                  <a:pt x="946150" y="1272540"/>
                  <a:pt x="933450" y="1249680"/>
                  <a:pt x="910590" y="1212850"/>
                </a:cubicBezTo>
                <a:cubicBezTo>
                  <a:pt x="871220" y="1148080"/>
                  <a:pt x="769620" y="1021080"/>
                  <a:pt x="732790" y="956310"/>
                </a:cubicBezTo>
                <a:cubicBezTo>
                  <a:pt x="711200" y="920750"/>
                  <a:pt x="712470" y="902970"/>
                  <a:pt x="690880" y="868680"/>
                </a:cubicBezTo>
                <a:cubicBezTo>
                  <a:pt x="652780" y="810260"/>
                  <a:pt x="572770" y="721360"/>
                  <a:pt x="502920" y="646430"/>
                </a:cubicBezTo>
                <a:cubicBezTo>
                  <a:pt x="425450" y="563880"/>
                  <a:pt x="323850" y="485140"/>
                  <a:pt x="242570" y="397510"/>
                </a:cubicBezTo>
                <a:cubicBezTo>
                  <a:pt x="162560" y="313690"/>
                  <a:pt x="48260" y="190500"/>
                  <a:pt x="17780" y="132080"/>
                </a:cubicBezTo>
                <a:cubicBezTo>
                  <a:pt x="5080" y="109220"/>
                  <a:pt x="0" y="93980"/>
                  <a:pt x="1270" y="76200"/>
                </a:cubicBezTo>
                <a:cubicBezTo>
                  <a:pt x="2540" y="58420"/>
                  <a:pt x="12700" y="36830"/>
                  <a:pt x="26670" y="24130"/>
                </a:cubicBezTo>
                <a:cubicBezTo>
                  <a:pt x="43180" y="10160"/>
                  <a:pt x="78740" y="0"/>
                  <a:pt x="100330" y="2540"/>
                </a:cubicBezTo>
                <a:cubicBezTo>
                  <a:pt x="118110" y="5080"/>
                  <a:pt x="148590" y="34290"/>
                  <a:pt x="148590" y="3429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5"/>
          <p:cNvSpPr/>
          <p:nvPr/>
        </p:nvSpPr>
        <p:spPr>
          <a:xfrm>
            <a:off x="13654088" y="9420225"/>
            <a:ext cx="120015" cy="122873"/>
          </a:xfrm>
          <a:custGeom>
            <a:rect b="b" l="l" r="r" t="t"/>
            <a:pathLst>
              <a:path extrusionOk="0" h="163830" w="160020">
                <a:moveTo>
                  <a:pt x="160020" y="58420"/>
                </a:moveTo>
                <a:cubicBezTo>
                  <a:pt x="139700" y="146050"/>
                  <a:pt x="129540" y="153670"/>
                  <a:pt x="115570" y="157480"/>
                </a:cubicBezTo>
                <a:cubicBezTo>
                  <a:pt x="96520" y="163830"/>
                  <a:pt x="57150" y="161290"/>
                  <a:pt x="39370" y="153670"/>
                </a:cubicBezTo>
                <a:cubicBezTo>
                  <a:pt x="25400" y="147320"/>
                  <a:pt x="16510" y="138430"/>
                  <a:pt x="11430" y="125730"/>
                </a:cubicBezTo>
                <a:cubicBezTo>
                  <a:pt x="2540" y="106680"/>
                  <a:pt x="0" y="67310"/>
                  <a:pt x="6350" y="48260"/>
                </a:cubicBezTo>
                <a:cubicBezTo>
                  <a:pt x="10160" y="35560"/>
                  <a:pt x="19050" y="25400"/>
                  <a:pt x="30480" y="17780"/>
                </a:cubicBezTo>
                <a:cubicBezTo>
                  <a:pt x="48260" y="7620"/>
                  <a:pt x="86360" y="0"/>
                  <a:pt x="106680" y="3810"/>
                </a:cubicBezTo>
                <a:cubicBezTo>
                  <a:pt x="120650" y="6350"/>
                  <a:pt x="139700" y="24130"/>
                  <a:pt x="139700" y="24130"/>
                </a:cubicBezTo>
              </a:path>
            </a:pathLst>
          </a:custGeom>
          <a:solidFill>
            <a:srgbClr val="94A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5"/>
          <p:cNvSpPr txBox="1"/>
          <p:nvPr/>
        </p:nvSpPr>
        <p:spPr>
          <a:xfrm>
            <a:off x="9808400" y="765800"/>
            <a:ext cx="7811400" cy="36204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Font typeface="Arial"/>
              <a:buNone/>
            </a:pPr>
            <a:r>
              <a:rPr lang="en-US" sz="4200">
                <a:solidFill>
                  <a:srgbClr val="3B365F"/>
                </a:solidFill>
                <a:latin typeface="Times New Roman"/>
                <a:ea typeface="Times New Roman"/>
                <a:cs typeface="Times New Roman"/>
                <a:sym typeface="Times New Roman"/>
              </a:rPr>
              <a:t>Comparison Of The Survival Curves Estimated By The Gamma Additive Frailty Model With The Curves Estimated By The Nonparametric Estimator.  </a:t>
            </a:r>
            <a:r>
              <a:rPr lang="en-US" sz="4200">
                <a:solidFill>
                  <a:srgbClr val="3B365F"/>
                </a:solidFill>
                <a:latin typeface="Times New Roman"/>
                <a:ea typeface="Times New Roman"/>
                <a:cs typeface="Times New Roman"/>
                <a:sym typeface="Times New Roman"/>
              </a:rPr>
              <a:t> </a:t>
            </a:r>
            <a:endParaRPr sz="4200">
              <a:latin typeface="Times New Roman"/>
              <a:ea typeface="Times New Roman"/>
              <a:cs typeface="Times New Roman"/>
              <a:sym typeface="Times New Roman"/>
            </a:endParaRPr>
          </a:p>
        </p:txBody>
      </p:sp>
      <p:sp>
        <p:nvSpPr>
          <p:cNvPr id="367" name="Google Shape;367;p35"/>
          <p:cNvSpPr txBox="1"/>
          <p:nvPr/>
        </p:nvSpPr>
        <p:spPr>
          <a:xfrm>
            <a:off x="437050" y="7011925"/>
            <a:ext cx="9125100" cy="2665500"/>
          </a:xfrm>
          <a:prstGeom prst="rect">
            <a:avLst/>
          </a:prstGeom>
          <a:noFill/>
          <a:ln>
            <a:noFill/>
          </a:ln>
        </p:spPr>
        <p:txBody>
          <a:bodyPr anchorCtr="0" anchor="t" bIns="91425" lIns="91425" spcFirstLastPara="1" rIns="91425" wrap="square" tIns="91425">
            <a:spAutoFit/>
          </a:bodyPr>
          <a:lstStyle/>
          <a:p>
            <a:pPr indent="0" lvl="0" marL="0" rtl="0" algn="l">
              <a:lnSpc>
                <a:spcPct val="140016"/>
              </a:lnSpc>
              <a:spcBef>
                <a:spcPts val="0"/>
              </a:spcBef>
              <a:spcAft>
                <a:spcPts val="0"/>
              </a:spcAft>
              <a:buNone/>
            </a:pPr>
            <a:r>
              <a:rPr lang="en-US" sz="3099">
                <a:solidFill>
                  <a:srgbClr val="3B365F"/>
                </a:solidFill>
                <a:latin typeface="Times New Roman"/>
                <a:ea typeface="Times New Roman"/>
                <a:cs typeface="Times New Roman"/>
                <a:sym typeface="Times New Roman"/>
              </a:rPr>
              <a:t>The survival curves estimated by the gamma-exponential additive frailty model are very close to the curves estimated by the nonparametric estimator, which indicates a good fit of the model.</a:t>
            </a:r>
            <a:endParaRPr sz="3099">
              <a:solidFill>
                <a:srgbClr val="3B365F"/>
              </a:solidFill>
              <a:latin typeface="Times New Roman"/>
              <a:ea typeface="Times New Roman"/>
              <a:cs typeface="Times New Roman"/>
              <a:sym typeface="Times New Roman"/>
            </a:endParaRPr>
          </a:p>
        </p:txBody>
      </p:sp>
      <p:pic>
        <p:nvPicPr>
          <p:cNvPr id="368" name="Google Shape;368;p35" title="Screenshot 2025-04-03 at 1.30.29 PM.png"/>
          <p:cNvPicPr preferRelativeResize="0"/>
          <p:nvPr/>
        </p:nvPicPr>
        <p:blipFill>
          <a:blip r:embed="rId6">
            <a:alphaModFix/>
          </a:blip>
          <a:stretch>
            <a:fillRect/>
          </a:stretch>
        </p:blipFill>
        <p:spPr>
          <a:xfrm>
            <a:off x="704000" y="765799"/>
            <a:ext cx="7811400" cy="4554877"/>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372" name="Shape 372"/>
        <p:cNvGrpSpPr/>
        <p:nvPr/>
      </p:nvGrpSpPr>
      <p:grpSpPr>
        <a:xfrm>
          <a:off x="0" y="0"/>
          <a:ext cx="0" cy="0"/>
          <a:chOff x="0" y="0"/>
          <a:chExt cx="0" cy="0"/>
        </a:xfrm>
      </p:grpSpPr>
      <p:sp>
        <p:nvSpPr>
          <p:cNvPr id="373" name="Google Shape;373;p36"/>
          <p:cNvSpPr txBox="1"/>
          <p:nvPr/>
        </p:nvSpPr>
        <p:spPr>
          <a:xfrm>
            <a:off x="6455550" y="562125"/>
            <a:ext cx="5376900" cy="815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Font typeface="Arial"/>
              <a:buNone/>
            </a:pPr>
            <a:r>
              <a:rPr lang="en-US" sz="5300">
                <a:solidFill>
                  <a:srgbClr val="3B365F"/>
                </a:solidFill>
                <a:latin typeface="Times New Roman"/>
                <a:ea typeface="Times New Roman"/>
                <a:cs typeface="Times New Roman"/>
                <a:sym typeface="Times New Roman"/>
              </a:rPr>
              <a:t>Individual Frailty</a:t>
            </a:r>
            <a:r>
              <a:rPr lang="en-US" sz="5200">
                <a:solidFill>
                  <a:srgbClr val="3B365F"/>
                </a:solidFill>
                <a:latin typeface="Times New Roman"/>
                <a:ea typeface="Times New Roman"/>
                <a:cs typeface="Times New Roman"/>
                <a:sym typeface="Times New Roman"/>
              </a:rPr>
              <a:t> </a:t>
            </a:r>
            <a:endParaRPr sz="400">
              <a:latin typeface="Times New Roman"/>
              <a:ea typeface="Times New Roman"/>
              <a:cs typeface="Times New Roman"/>
              <a:sym typeface="Times New Roman"/>
            </a:endParaRPr>
          </a:p>
        </p:txBody>
      </p:sp>
      <p:sp>
        <p:nvSpPr>
          <p:cNvPr id="374" name="Google Shape;374;p36"/>
          <p:cNvSpPr txBox="1"/>
          <p:nvPr/>
        </p:nvSpPr>
        <p:spPr>
          <a:xfrm>
            <a:off x="457200" y="1777875"/>
            <a:ext cx="8477400" cy="8008500"/>
          </a:xfrm>
          <a:prstGeom prst="rect">
            <a:avLst/>
          </a:prstGeom>
          <a:noFill/>
          <a:ln>
            <a:noFill/>
          </a:ln>
        </p:spPr>
        <p:txBody>
          <a:bodyPr anchorCtr="0" anchor="t" bIns="91425" lIns="91425" spcFirstLastPara="1" rIns="91425" wrap="square" tIns="91425">
            <a:spAutoFit/>
          </a:bodyPr>
          <a:lstStyle/>
          <a:p>
            <a:pPr indent="-380936" lvl="0" marL="457200" rtl="0" algn="l">
              <a:lnSpc>
                <a:spcPct val="140016"/>
              </a:lnSpc>
              <a:spcBef>
                <a:spcPts val="0"/>
              </a:spcBef>
              <a:spcAft>
                <a:spcPts val="0"/>
              </a:spcAft>
              <a:buClr>
                <a:srgbClr val="3B365F"/>
              </a:buClr>
              <a:buSzPts val="2399"/>
              <a:buFont typeface="Times New Roman"/>
              <a:buChar char="●"/>
            </a:pPr>
            <a:r>
              <a:rPr lang="en-US" sz="3099">
                <a:solidFill>
                  <a:srgbClr val="3B365F"/>
                </a:solidFill>
                <a:latin typeface="Times New Roman"/>
                <a:ea typeface="Times New Roman"/>
                <a:cs typeface="Times New Roman"/>
                <a:sym typeface="Times New Roman"/>
              </a:rPr>
              <a:t>For the readmission data, we notice that the greater the number of recurrences (rehospitalizations) the greater the patient’s frailty.</a:t>
            </a:r>
            <a:endParaRPr sz="3099">
              <a:solidFill>
                <a:srgbClr val="3B365F"/>
              </a:solidFill>
              <a:latin typeface="Times New Roman"/>
              <a:ea typeface="Times New Roman"/>
              <a:cs typeface="Times New Roman"/>
              <a:sym typeface="Times New Roman"/>
            </a:endParaRPr>
          </a:p>
          <a:p>
            <a:pPr indent="-380936" lvl="0" marL="457200" rtl="0" algn="l">
              <a:lnSpc>
                <a:spcPct val="140016"/>
              </a:lnSpc>
              <a:spcBef>
                <a:spcPts val="0"/>
              </a:spcBef>
              <a:spcAft>
                <a:spcPts val="0"/>
              </a:spcAft>
              <a:buClr>
                <a:srgbClr val="3B365F"/>
              </a:buClr>
              <a:buSzPts val="2399"/>
              <a:buFont typeface="Times New Roman"/>
              <a:buChar char="●"/>
            </a:pPr>
            <a:r>
              <a:rPr lang="en-US" sz="3099">
                <a:solidFill>
                  <a:srgbClr val="3B365F"/>
                </a:solidFill>
                <a:latin typeface="Times New Roman"/>
                <a:ea typeface="Times New Roman"/>
                <a:cs typeface="Times New Roman"/>
                <a:sym typeface="Times New Roman"/>
              </a:rPr>
              <a:t>Individuals not treated with with chemotherapy are generally more fragile than individuals in the group that received the treatment, which was also expected due to negative value of the estimate β.</a:t>
            </a:r>
            <a:endParaRPr sz="3099">
              <a:solidFill>
                <a:srgbClr val="3B365F"/>
              </a:solidFill>
              <a:latin typeface="Times New Roman"/>
              <a:ea typeface="Times New Roman"/>
              <a:cs typeface="Times New Roman"/>
              <a:sym typeface="Times New Roman"/>
            </a:endParaRPr>
          </a:p>
          <a:p>
            <a:pPr indent="-380936" lvl="0" marL="457200" rtl="0" algn="l">
              <a:lnSpc>
                <a:spcPct val="140016"/>
              </a:lnSpc>
              <a:spcBef>
                <a:spcPts val="0"/>
              </a:spcBef>
              <a:spcAft>
                <a:spcPts val="0"/>
              </a:spcAft>
              <a:buClr>
                <a:srgbClr val="3B365F"/>
              </a:buClr>
              <a:buSzPts val="2399"/>
              <a:buFont typeface="Times New Roman"/>
              <a:buChar char="●"/>
            </a:pPr>
            <a:r>
              <a:rPr lang="en-US" sz="3099">
                <a:solidFill>
                  <a:srgbClr val="3B365F"/>
                </a:solidFill>
                <a:latin typeface="Times New Roman"/>
                <a:ea typeface="Times New Roman"/>
                <a:cs typeface="Times New Roman"/>
                <a:sym typeface="Times New Roman"/>
              </a:rPr>
              <a:t>The patient with the most readmissions (patient 350) was the one with the greatest frailty among all the patients in the study. The least frail were the patients who did not have readmissions</a:t>
            </a:r>
            <a:endParaRPr sz="3099">
              <a:solidFill>
                <a:srgbClr val="3B365F"/>
              </a:solidFill>
              <a:latin typeface="Times New Roman"/>
              <a:ea typeface="Times New Roman"/>
              <a:cs typeface="Times New Roman"/>
              <a:sym typeface="Times New Roman"/>
            </a:endParaRPr>
          </a:p>
        </p:txBody>
      </p:sp>
      <p:pic>
        <p:nvPicPr>
          <p:cNvPr id="375" name="Google Shape;375;p36"/>
          <p:cNvPicPr preferRelativeResize="0"/>
          <p:nvPr/>
        </p:nvPicPr>
        <p:blipFill rotWithShape="1">
          <a:blip r:embed="rId3">
            <a:alphaModFix/>
          </a:blip>
          <a:srcRect b="0" l="2827" r="0" t="2969"/>
          <a:stretch/>
        </p:blipFill>
        <p:spPr>
          <a:xfrm>
            <a:off x="9763350" y="1870175"/>
            <a:ext cx="4724401" cy="3011550"/>
          </a:xfrm>
          <a:prstGeom prst="rect">
            <a:avLst/>
          </a:prstGeom>
          <a:noFill/>
          <a:ln cap="flat" cmpd="sng" w="28575">
            <a:solidFill>
              <a:schemeClr val="dk1"/>
            </a:solidFill>
            <a:prstDash val="solid"/>
            <a:round/>
            <a:headEnd len="sm" w="sm" type="none"/>
            <a:tailEnd len="sm" w="sm" type="none"/>
          </a:ln>
        </p:spPr>
      </p:pic>
      <p:pic>
        <p:nvPicPr>
          <p:cNvPr id="376" name="Google Shape;376;p36"/>
          <p:cNvPicPr preferRelativeResize="0"/>
          <p:nvPr/>
        </p:nvPicPr>
        <p:blipFill>
          <a:blip r:embed="rId4">
            <a:alphaModFix/>
          </a:blip>
          <a:stretch>
            <a:fillRect/>
          </a:stretch>
        </p:blipFill>
        <p:spPr>
          <a:xfrm>
            <a:off x="15106800" y="342900"/>
            <a:ext cx="2571750" cy="9601200"/>
          </a:xfrm>
          <a:prstGeom prst="rect">
            <a:avLst/>
          </a:prstGeom>
          <a:noFill/>
          <a:ln cap="flat" cmpd="sng" w="28575">
            <a:solidFill>
              <a:schemeClr val="dk1"/>
            </a:solidFill>
            <a:prstDash val="solid"/>
            <a:round/>
            <a:headEnd len="sm" w="sm" type="none"/>
            <a:tailEnd len="sm" w="sm" type="none"/>
          </a:ln>
        </p:spPr>
      </p:pic>
      <p:pic>
        <p:nvPicPr>
          <p:cNvPr id="377" name="Google Shape;377;p36"/>
          <p:cNvPicPr preferRelativeResize="0"/>
          <p:nvPr/>
        </p:nvPicPr>
        <p:blipFill rotWithShape="1">
          <a:blip r:embed="rId5">
            <a:alphaModFix/>
          </a:blip>
          <a:srcRect b="0" l="0" r="0" t="0"/>
          <a:stretch/>
        </p:blipFill>
        <p:spPr>
          <a:xfrm>
            <a:off x="9763350" y="5203338"/>
            <a:ext cx="2171700" cy="819150"/>
          </a:xfrm>
          <a:prstGeom prst="rect">
            <a:avLst/>
          </a:prstGeom>
          <a:noFill/>
          <a:ln cap="flat" cmpd="sng" w="28575">
            <a:solidFill>
              <a:schemeClr val="dk1"/>
            </a:solidFill>
            <a:prstDash val="solid"/>
            <a:round/>
            <a:headEnd len="sm" w="sm" type="none"/>
            <a:tailEnd len="sm" w="sm" type="none"/>
          </a:ln>
        </p:spPr>
      </p:pic>
      <p:pic>
        <p:nvPicPr>
          <p:cNvPr id="378" name="Google Shape;378;p36"/>
          <p:cNvPicPr preferRelativeResize="0"/>
          <p:nvPr/>
        </p:nvPicPr>
        <p:blipFill>
          <a:blip r:embed="rId6">
            <a:alphaModFix/>
          </a:blip>
          <a:stretch>
            <a:fillRect/>
          </a:stretch>
        </p:blipFill>
        <p:spPr>
          <a:xfrm>
            <a:off x="9763350" y="6259500"/>
            <a:ext cx="2171700" cy="2000250"/>
          </a:xfrm>
          <a:prstGeom prst="rect">
            <a:avLst/>
          </a:prstGeom>
          <a:noFill/>
          <a:ln cap="flat" cmpd="sng" w="28575">
            <a:solidFill>
              <a:schemeClr val="dk2"/>
            </a:solidFill>
            <a:prstDash val="solid"/>
            <a:round/>
            <a:headEnd len="sm" w="sm" type="none"/>
            <a:tailEnd len="sm" w="sm" type="none"/>
          </a:ln>
        </p:spPr>
      </p:pic>
      <p:pic>
        <p:nvPicPr>
          <p:cNvPr id="379" name="Google Shape;379;p36"/>
          <p:cNvPicPr preferRelativeResize="0"/>
          <p:nvPr/>
        </p:nvPicPr>
        <p:blipFill>
          <a:blip r:embed="rId7">
            <a:alphaModFix/>
          </a:blip>
          <a:stretch>
            <a:fillRect/>
          </a:stretch>
        </p:blipFill>
        <p:spPr>
          <a:xfrm>
            <a:off x="12201750" y="5203350"/>
            <a:ext cx="2286000" cy="2419350"/>
          </a:xfrm>
          <a:prstGeom prst="rect">
            <a:avLst/>
          </a:prstGeom>
          <a:noFill/>
          <a:ln cap="flat" cmpd="sng" w="28575">
            <a:solidFill>
              <a:schemeClr val="dk1"/>
            </a:solidFill>
            <a:prstDash val="solid"/>
            <a:round/>
            <a:headEnd len="sm" w="sm" type="none"/>
            <a:tailEnd len="sm" w="sm" type="none"/>
          </a:ln>
        </p:spPr>
      </p:pic>
      <p:pic>
        <p:nvPicPr>
          <p:cNvPr id="380" name="Google Shape;380;p36"/>
          <p:cNvPicPr preferRelativeResize="0"/>
          <p:nvPr/>
        </p:nvPicPr>
        <p:blipFill>
          <a:blip r:embed="rId8">
            <a:alphaModFix/>
          </a:blip>
          <a:stretch>
            <a:fillRect/>
          </a:stretch>
        </p:blipFill>
        <p:spPr>
          <a:xfrm>
            <a:off x="9763350" y="8496750"/>
            <a:ext cx="2171700" cy="1219200"/>
          </a:xfrm>
          <a:prstGeom prst="rect">
            <a:avLst/>
          </a:prstGeom>
          <a:noFill/>
          <a:ln cap="flat" cmpd="sng" w="28575">
            <a:solidFill>
              <a:schemeClr val="dk2"/>
            </a:solidFill>
            <a:prstDash val="solid"/>
            <a:round/>
            <a:headEnd len="sm" w="sm" type="none"/>
            <a:tailEnd len="sm" w="sm" type="none"/>
          </a:ln>
        </p:spPr>
      </p:pic>
      <p:pic>
        <p:nvPicPr>
          <p:cNvPr id="381" name="Google Shape;381;p36"/>
          <p:cNvPicPr preferRelativeResize="0"/>
          <p:nvPr/>
        </p:nvPicPr>
        <p:blipFill>
          <a:blip r:embed="rId9">
            <a:alphaModFix/>
          </a:blip>
          <a:stretch>
            <a:fillRect/>
          </a:stretch>
        </p:blipFill>
        <p:spPr>
          <a:xfrm>
            <a:off x="12201750" y="7818521"/>
            <a:ext cx="2286000" cy="2125579"/>
          </a:xfrm>
          <a:prstGeom prst="rect">
            <a:avLst/>
          </a:prstGeom>
          <a:noFill/>
          <a:ln cap="flat" cmpd="sng" w="28575">
            <a:solidFill>
              <a:schemeClr val="dk2"/>
            </a:solidFill>
            <a:prstDash val="solid"/>
            <a:round/>
            <a:headEnd len="sm" w="sm" type="none"/>
            <a:tailEnd len="sm" w="sm" type="none"/>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385" name="Shape 385"/>
        <p:cNvGrpSpPr/>
        <p:nvPr/>
      </p:nvGrpSpPr>
      <p:grpSpPr>
        <a:xfrm>
          <a:off x="0" y="0"/>
          <a:ext cx="0" cy="0"/>
          <a:chOff x="0" y="0"/>
          <a:chExt cx="0" cy="0"/>
        </a:xfrm>
      </p:grpSpPr>
      <p:sp>
        <p:nvSpPr>
          <p:cNvPr id="386" name="Google Shape;386;p37"/>
          <p:cNvSpPr/>
          <p:nvPr/>
        </p:nvSpPr>
        <p:spPr>
          <a:xfrm flipH="1" rot="-7489988">
            <a:off x="13604656" y="-607813"/>
            <a:ext cx="8626331" cy="4378584"/>
          </a:xfrm>
          <a:custGeom>
            <a:rect b="b" l="l" r="r" t="t"/>
            <a:pathLst>
              <a:path extrusionOk="0" h="9163657" w="14599291">
                <a:moveTo>
                  <a:pt x="14599290" y="0"/>
                </a:moveTo>
                <a:lnTo>
                  <a:pt x="0" y="0"/>
                </a:lnTo>
                <a:lnTo>
                  <a:pt x="0" y="9163658"/>
                </a:lnTo>
                <a:lnTo>
                  <a:pt x="14599290" y="9163658"/>
                </a:lnTo>
                <a:lnTo>
                  <a:pt x="14599290" y="0"/>
                </a:lnTo>
                <a:close/>
              </a:path>
            </a:pathLst>
          </a:custGeom>
          <a:blipFill rotWithShape="1">
            <a:blip r:embed="rId3">
              <a:alphaModFix/>
            </a:blip>
            <a:stretch>
              <a:fillRect b="0" l="0" r="0" t="0"/>
            </a:stretch>
          </a:blipFill>
          <a:ln>
            <a:noFill/>
          </a:ln>
        </p:spPr>
      </p:sp>
      <p:pic>
        <p:nvPicPr>
          <p:cNvPr id="387" name="Google Shape;387;p37" title=" - visual selection-6.png"/>
          <p:cNvPicPr preferRelativeResize="0"/>
          <p:nvPr/>
        </p:nvPicPr>
        <p:blipFill rotWithShape="1">
          <a:blip r:embed="rId4">
            <a:alphaModFix/>
          </a:blip>
          <a:srcRect b="31838" l="0" r="0" t="0"/>
          <a:stretch/>
        </p:blipFill>
        <p:spPr>
          <a:xfrm>
            <a:off x="2940875" y="843913"/>
            <a:ext cx="12406250" cy="8599173"/>
          </a:xfrm>
          <a:prstGeom prst="rect">
            <a:avLst/>
          </a:prstGeom>
          <a:noFill/>
          <a:ln>
            <a:noFill/>
          </a:ln>
        </p:spPr>
      </p:pic>
      <p:sp>
        <p:nvSpPr>
          <p:cNvPr id="388" name="Google Shape;388;p37"/>
          <p:cNvSpPr/>
          <p:nvPr/>
        </p:nvSpPr>
        <p:spPr>
          <a:xfrm rot="9799934">
            <a:off x="-756824" y="-1715189"/>
            <a:ext cx="8492939" cy="8448501"/>
          </a:xfrm>
          <a:custGeom>
            <a:rect b="b" l="l" r="r" t="t"/>
            <a:pathLst>
              <a:path extrusionOk="0" h="10202966" w="9743832">
                <a:moveTo>
                  <a:pt x="0" y="0"/>
                </a:moveTo>
                <a:lnTo>
                  <a:pt x="9743832" y="0"/>
                </a:lnTo>
                <a:lnTo>
                  <a:pt x="9743832" y="10202966"/>
                </a:lnTo>
                <a:lnTo>
                  <a:pt x="0" y="10202966"/>
                </a:lnTo>
                <a:lnTo>
                  <a:pt x="0" y="0"/>
                </a:lnTo>
                <a:close/>
              </a:path>
            </a:pathLst>
          </a:custGeom>
          <a:blipFill rotWithShape="1">
            <a:blip r:embed="rId5">
              <a:alphaModFix/>
            </a:blip>
            <a:stretch>
              <a:fillRect b="0" l="0" r="0" t="0"/>
            </a:stretch>
          </a:blipFill>
          <a:ln>
            <a:noFill/>
          </a:ln>
        </p:spPr>
      </p:sp>
      <p:sp>
        <p:nvSpPr>
          <p:cNvPr id="389" name="Google Shape;389;p37"/>
          <p:cNvSpPr/>
          <p:nvPr/>
        </p:nvSpPr>
        <p:spPr>
          <a:xfrm flipH="1" rot="1835324">
            <a:off x="-3250081" y="7378934"/>
            <a:ext cx="8606852" cy="4384812"/>
          </a:xfrm>
          <a:custGeom>
            <a:rect b="b" l="l" r="r" t="t"/>
            <a:pathLst>
              <a:path extrusionOk="0" h="9163657" w="14599291">
                <a:moveTo>
                  <a:pt x="14599290" y="0"/>
                </a:moveTo>
                <a:lnTo>
                  <a:pt x="0" y="0"/>
                </a:lnTo>
                <a:lnTo>
                  <a:pt x="0" y="9163658"/>
                </a:lnTo>
                <a:lnTo>
                  <a:pt x="14599290" y="9163658"/>
                </a:lnTo>
                <a:lnTo>
                  <a:pt x="14599290" y="0"/>
                </a:lnTo>
                <a:close/>
              </a:path>
            </a:pathLst>
          </a:custGeom>
          <a:blipFill rotWithShape="1">
            <a:blip r:embed="rId3">
              <a:alphaModFix/>
            </a:blip>
            <a:stretch>
              <a:fillRect b="0" l="0" r="0" t="0"/>
            </a:stretch>
          </a:blipFill>
          <a:ln>
            <a:noFill/>
          </a:ln>
        </p:spPr>
      </p:sp>
      <p:sp>
        <p:nvSpPr>
          <p:cNvPr id="390" name="Google Shape;390;p37"/>
          <p:cNvSpPr/>
          <p:nvPr/>
        </p:nvSpPr>
        <p:spPr>
          <a:xfrm rot="19757">
            <a:off x="11509390" y="3441226"/>
            <a:ext cx="8477274" cy="8442954"/>
          </a:xfrm>
          <a:custGeom>
            <a:rect b="b" l="l" r="r" t="t"/>
            <a:pathLst>
              <a:path extrusionOk="0" h="10202966" w="9743832">
                <a:moveTo>
                  <a:pt x="0" y="0"/>
                </a:moveTo>
                <a:lnTo>
                  <a:pt x="9743832" y="0"/>
                </a:lnTo>
                <a:lnTo>
                  <a:pt x="9743832" y="10202966"/>
                </a:lnTo>
                <a:lnTo>
                  <a:pt x="0" y="1020296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6FF"/>
        </a:solidFill>
      </p:bgPr>
    </p:bg>
    <p:spTree>
      <p:nvGrpSpPr>
        <p:cNvPr id="394" name="Shape 394"/>
        <p:cNvGrpSpPr/>
        <p:nvPr/>
      </p:nvGrpSpPr>
      <p:grpSpPr>
        <a:xfrm>
          <a:off x="0" y="0"/>
          <a:ext cx="0" cy="0"/>
          <a:chOff x="0" y="0"/>
          <a:chExt cx="0" cy="0"/>
        </a:xfrm>
      </p:grpSpPr>
      <p:sp>
        <p:nvSpPr>
          <p:cNvPr id="395" name="Google Shape;395;p38"/>
          <p:cNvSpPr/>
          <p:nvPr/>
        </p:nvSpPr>
        <p:spPr>
          <a:xfrm rot="-591004">
            <a:off x="9581993" y="1000174"/>
            <a:ext cx="9743832" cy="10202966"/>
          </a:xfrm>
          <a:custGeom>
            <a:rect b="b" l="l" r="r" t="t"/>
            <a:pathLst>
              <a:path extrusionOk="0" h="10202966" w="9743832">
                <a:moveTo>
                  <a:pt x="0" y="0"/>
                </a:moveTo>
                <a:lnTo>
                  <a:pt x="9743832" y="0"/>
                </a:lnTo>
                <a:lnTo>
                  <a:pt x="9743832" y="10202966"/>
                </a:lnTo>
                <a:lnTo>
                  <a:pt x="0" y="10202966"/>
                </a:lnTo>
                <a:lnTo>
                  <a:pt x="0" y="0"/>
                </a:lnTo>
                <a:close/>
              </a:path>
            </a:pathLst>
          </a:custGeom>
          <a:blipFill rotWithShape="1">
            <a:blip r:embed="rId3">
              <a:alphaModFix/>
            </a:blip>
            <a:stretch>
              <a:fillRect b="0" l="0" r="0" t="0"/>
            </a:stretch>
          </a:blipFill>
          <a:ln>
            <a:noFill/>
          </a:ln>
        </p:spPr>
      </p:sp>
      <p:sp>
        <p:nvSpPr>
          <p:cNvPr id="396" name="Google Shape;396;p38"/>
          <p:cNvSpPr/>
          <p:nvPr/>
        </p:nvSpPr>
        <p:spPr>
          <a:xfrm rot="5755965">
            <a:off x="-1305642" y="731692"/>
            <a:ext cx="9743832" cy="10202966"/>
          </a:xfrm>
          <a:custGeom>
            <a:rect b="b" l="l" r="r" t="t"/>
            <a:pathLst>
              <a:path extrusionOk="0" h="10202966" w="9743832">
                <a:moveTo>
                  <a:pt x="0" y="0"/>
                </a:moveTo>
                <a:lnTo>
                  <a:pt x="9743832" y="0"/>
                </a:lnTo>
                <a:lnTo>
                  <a:pt x="9743832" y="10202966"/>
                </a:lnTo>
                <a:lnTo>
                  <a:pt x="0" y="10202966"/>
                </a:lnTo>
                <a:lnTo>
                  <a:pt x="0" y="0"/>
                </a:lnTo>
                <a:close/>
              </a:path>
            </a:pathLst>
          </a:custGeom>
          <a:blipFill rotWithShape="1">
            <a:blip r:embed="rId3">
              <a:alphaModFix/>
            </a:blip>
            <a:stretch>
              <a:fillRect b="0" l="0" r="0" t="0"/>
            </a:stretch>
          </a:blipFill>
          <a:ln>
            <a:noFill/>
          </a:ln>
        </p:spPr>
      </p:sp>
      <p:sp>
        <p:nvSpPr>
          <p:cNvPr id="397" name="Google Shape;397;p38"/>
          <p:cNvSpPr/>
          <p:nvPr/>
        </p:nvSpPr>
        <p:spPr>
          <a:xfrm flipH="1">
            <a:off x="1844355" y="5705171"/>
            <a:ext cx="14599291" cy="9163657"/>
          </a:xfrm>
          <a:custGeom>
            <a:rect b="b" l="l" r="r" t="t"/>
            <a:pathLst>
              <a:path extrusionOk="0" h="9163657" w="14599291">
                <a:moveTo>
                  <a:pt x="14599290" y="0"/>
                </a:moveTo>
                <a:lnTo>
                  <a:pt x="0" y="0"/>
                </a:lnTo>
                <a:lnTo>
                  <a:pt x="0" y="9163658"/>
                </a:lnTo>
                <a:lnTo>
                  <a:pt x="14599290" y="9163658"/>
                </a:lnTo>
                <a:lnTo>
                  <a:pt x="14599290" y="0"/>
                </a:lnTo>
                <a:close/>
              </a:path>
            </a:pathLst>
          </a:custGeom>
          <a:blipFill rotWithShape="1">
            <a:blip r:embed="rId4">
              <a:alphaModFix/>
            </a:blip>
            <a:stretch>
              <a:fillRect b="0" l="0" r="0" t="0"/>
            </a:stretch>
          </a:blipFill>
          <a:ln>
            <a:noFill/>
          </a:ln>
        </p:spPr>
      </p:sp>
      <p:sp>
        <p:nvSpPr>
          <p:cNvPr id="398" name="Google Shape;398;p38"/>
          <p:cNvSpPr/>
          <p:nvPr/>
        </p:nvSpPr>
        <p:spPr>
          <a:xfrm>
            <a:off x="5216366" y="5042801"/>
            <a:ext cx="4127261" cy="5717869"/>
          </a:xfrm>
          <a:custGeom>
            <a:rect b="b" l="l" r="r" t="t"/>
            <a:pathLst>
              <a:path extrusionOk="0" h="5717869" w="4127261">
                <a:moveTo>
                  <a:pt x="0" y="0"/>
                </a:moveTo>
                <a:lnTo>
                  <a:pt x="4127262" y="0"/>
                </a:lnTo>
                <a:lnTo>
                  <a:pt x="4127262" y="5717869"/>
                </a:lnTo>
                <a:lnTo>
                  <a:pt x="0" y="5717869"/>
                </a:lnTo>
                <a:lnTo>
                  <a:pt x="0" y="0"/>
                </a:lnTo>
                <a:close/>
              </a:path>
            </a:pathLst>
          </a:custGeom>
          <a:blipFill rotWithShape="1">
            <a:blip r:embed="rId5">
              <a:alphaModFix/>
            </a:blip>
            <a:stretch>
              <a:fillRect b="0" l="0" r="0" t="0"/>
            </a:stretch>
          </a:blipFill>
          <a:ln>
            <a:noFill/>
          </a:ln>
        </p:spPr>
      </p:sp>
      <p:sp>
        <p:nvSpPr>
          <p:cNvPr id="399" name="Google Shape;399;p38"/>
          <p:cNvSpPr/>
          <p:nvPr/>
        </p:nvSpPr>
        <p:spPr>
          <a:xfrm>
            <a:off x="9144000" y="4573289"/>
            <a:ext cx="4364916" cy="6187381"/>
          </a:xfrm>
          <a:custGeom>
            <a:rect b="b" l="l" r="r" t="t"/>
            <a:pathLst>
              <a:path extrusionOk="0" h="6187381" w="4364916">
                <a:moveTo>
                  <a:pt x="0" y="0"/>
                </a:moveTo>
                <a:lnTo>
                  <a:pt x="4364916" y="0"/>
                </a:lnTo>
                <a:lnTo>
                  <a:pt x="4364916" y="6187381"/>
                </a:lnTo>
                <a:lnTo>
                  <a:pt x="0" y="6187381"/>
                </a:lnTo>
                <a:lnTo>
                  <a:pt x="0" y="0"/>
                </a:lnTo>
                <a:close/>
              </a:path>
            </a:pathLst>
          </a:custGeom>
          <a:blipFill rotWithShape="1">
            <a:blip r:embed="rId6">
              <a:alphaModFix/>
            </a:blip>
            <a:stretch>
              <a:fillRect b="0" l="0" r="0" t="0"/>
            </a:stretch>
          </a:blipFill>
          <a:ln>
            <a:noFill/>
          </a:ln>
        </p:spPr>
      </p:sp>
      <p:sp>
        <p:nvSpPr>
          <p:cNvPr id="400" name="Google Shape;400;p38"/>
          <p:cNvSpPr/>
          <p:nvPr/>
        </p:nvSpPr>
        <p:spPr>
          <a:xfrm>
            <a:off x="1487407" y="6174334"/>
            <a:ext cx="3531385" cy="3815463"/>
          </a:xfrm>
          <a:custGeom>
            <a:rect b="b" l="l" r="r" t="t"/>
            <a:pathLst>
              <a:path extrusionOk="0" h="3815463" w="3531385">
                <a:moveTo>
                  <a:pt x="0" y="0"/>
                </a:moveTo>
                <a:lnTo>
                  <a:pt x="3531386" y="0"/>
                </a:lnTo>
                <a:lnTo>
                  <a:pt x="3531386" y="3815463"/>
                </a:lnTo>
                <a:lnTo>
                  <a:pt x="0" y="3815463"/>
                </a:lnTo>
                <a:lnTo>
                  <a:pt x="0" y="0"/>
                </a:lnTo>
                <a:close/>
              </a:path>
            </a:pathLst>
          </a:custGeom>
          <a:blipFill rotWithShape="1">
            <a:blip r:embed="rId7">
              <a:alphaModFix/>
            </a:blip>
            <a:stretch>
              <a:fillRect b="0" l="0" r="0" t="0"/>
            </a:stretch>
          </a:blipFill>
          <a:ln>
            <a:noFill/>
          </a:ln>
        </p:spPr>
      </p:sp>
      <p:sp>
        <p:nvSpPr>
          <p:cNvPr id="401" name="Google Shape;401;p38"/>
          <p:cNvSpPr/>
          <p:nvPr/>
        </p:nvSpPr>
        <p:spPr>
          <a:xfrm flipH="1">
            <a:off x="12543402" y="6083768"/>
            <a:ext cx="3531385" cy="3815463"/>
          </a:xfrm>
          <a:custGeom>
            <a:rect b="b" l="l" r="r" t="t"/>
            <a:pathLst>
              <a:path extrusionOk="0" h="3815463" w="3531385">
                <a:moveTo>
                  <a:pt x="3531386" y="0"/>
                </a:moveTo>
                <a:lnTo>
                  <a:pt x="0" y="0"/>
                </a:lnTo>
                <a:lnTo>
                  <a:pt x="0" y="3815463"/>
                </a:lnTo>
                <a:lnTo>
                  <a:pt x="3531386" y="3815463"/>
                </a:lnTo>
                <a:lnTo>
                  <a:pt x="3531386" y="0"/>
                </a:lnTo>
                <a:close/>
              </a:path>
            </a:pathLst>
          </a:custGeom>
          <a:blipFill rotWithShape="1">
            <a:blip r:embed="rId7">
              <a:alphaModFix/>
            </a:blip>
            <a:stretch>
              <a:fillRect b="0" l="0" r="0" t="0"/>
            </a:stretch>
          </a:blipFill>
          <a:ln>
            <a:noFill/>
          </a:ln>
        </p:spPr>
      </p:sp>
      <p:sp>
        <p:nvSpPr>
          <p:cNvPr id="402" name="Google Shape;402;p38"/>
          <p:cNvSpPr/>
          <p:nvPr/>
        </p:nvSpPr>
        <p:spPr>
          <a:xfrm>
            <a:off x="112451" y="2194787"/>
            <a:ext cx="3533148" cy="3321889"/>
          </a:xfrm>
          <a:custGeom>
            <a:rect b="b" l="l" r="r" t="t"/>
            <a:pathLst>
              <a:path extrusionOk="0" h="3807323" w="3778768">
                <a:moveTo>
                  <a:pt x="0" y="0"/>
                </a:moveTo>
                <a:lnTo>
                  <a:pt x="3778768" y="0"/>
                </a:lnTo>
                <a:lnTo>
                  <a:pt x="3778768" y="3807323"/>
                </a:lnTo>
                <a:lnTo>
                  <a:pt x="0" y="3807323"/>
                </a:lnTo>
                <a:lnTo>
                  <a:pt x="0" y="0"/>
                </a:lnTo>
                <a:close/>
              </a:path>
            </a:pathLst>
          </a:custGeom>
          <a:blipFill rotWithShape="1">
            <a:blip r:embed="rId8">
              <a:alphaModFix/>
            </a:blip>
            <a:stretch>
              <a:fillRect b="0" l="0" r="0" t="0"/>
            </a:stretch>
          </a:blipFill>
          <a:ln>
            <a:noFill/>
          </a:ln>
        </p:spPr>
      </p:sp>
      <p:sp>
        <p:nvSpPr>
          <p:cNvPr id="403" name="Google Shape;403;p38"/>
          <p:cNvSpPr/>
          <p:nvPr/>
        </p:nvSpPr>
        <p:spPr>
          <a:xfrm>
            <a:off x="538390" y="606533"/>
            <a:ext cx="1828678" cy="1399770"/>
          </a:xfrm>
          <a:custGeom>
            <a:rect b="b" l="l" r="r" t="t"/>
            <a:pathLst>
              <a:path extrusionOk="0" h="1399770" w="1828678">
                <a:moveTo>
                  <a:pt x="0" y="0"/>
                </a:moveTo>
                <a:lnTo>
                  <a:pt x="1828678" y="0"/>
                </a:lnTo>
                <a:lnTo>
                  <a:pt x="1828678" y="1399770"/>
                </a:lnTo>
                <a:lnTo>
                  <a:pt x="0" y="1399770"/>
                </a:lnTo>
                <a:lnTo>
                  <a:pt x="0" y="0"/>
                </a:lnTo>
                <a:close/>
              </a:path>
            </a:pathLst>
          </a:custGeom>
          <a:blipFill rotWithShape="1">
            <a:blip r:embed="rId9">
              <a:alphaModFix/>
            </a:blip>
            <a:stretch>
              <a:fillRect b="0" l="0" r="0" t="0"/>
            </a:stretch>
          </a:blipFill>
          <a:ln>
            <a:noFill/>
          </a:ln>
        </p:spPr>
      </p:sp>
      <p:sp>
        <p:nvSpPr>
          <p:cNvPr id="404" name="Google Shape;404;p38"/>
          <p:cNvSpPr/>
          <p:nvPr/>
        </p:nvSpPr>
        <p:spPr>
          <a:xfrm>
            <a:off x="15412853" y="-367037"/>
            <a:ext cx="3692894" cy="2316452"/>
          </a:xfrm>
          <a:custGeom>
            <a:rect b="b" l="l" r="r" t="t"/>
            <a:pathLst>
              <a:path extrusionOk="0" h="2316452" w="3692894">
                <a:moveTo>
                  <a:pt x="0" y="0"/>
                </a:moveTo>
                <a:lnTo>
                  <a:pt x="3692894" y="0"/>
                </a:lnTo>
                <a:lnTo>
                  <a:pt x="3692894" y="2316451"/>
                </a:lnTo>
                <a:lnTo>
                  <a:pt x="0" y="2316451"/>
                </a:lnTo>
                <a:lnTo>
                  <a:pt x="0" y="0"/>
                </a:lnTo>
                <a:close/>
              </a:path>
            </a:pathLst>
          </a:custGeom>
          <a:blipFill rotWithShape="1">
            <a:blip r:embed="rId10">
              <a:alphaModFix/>
            </a:blip>
            <a:stretch>
              <a:fillRect b="0" l="0" r="0" t="0"/>
            </a:stretch>
          </a:blipFill>
          <a:ln>
            <a:noFill/>
          </a:ln>
        </p:spPr>
      </p:sp>
      <p:sp>
        <p:nvSpPr>
          <p:cNvPr id="405" name="Google Shape;405;p38"/>
          <p:cNvSpPr/>
          <p:nvPr/>
        </p:nvSpPr>
        <p:spPr>
          <a:xfrm flipH="1" rot="-1008282">
            <a:off x="15390590" y="2224730"/>
            <a:ext cx="2659752" cy="3491322"/>
          </a:xfrm>
          <a:custGeom>
            <a:rect b="b" l="l" r="r" t="t"/>
            <a:pathLst>
              <a:path extrusionOk="0" h="3491322" w="2659752">
                <a:moveTo>
                  <a:pt x="2659753" y="0"/>
                </a:moveTo>
                <a:lnTo>
                  <a:pt x="0" y="0"/>
                </a:lnTo>
                <a:lnTo>
                  <a:pt x="0" y="3491322"/>
                </a:lnTo>
                <a:lnTo>
                  <a:pt x="2659753" y="3491322"/>
                </a:lnTo>
                <a:lnTo>
                  <a:pt x="2659753" y="0"/>
                </a:lnTo>
                <a:close/>
              </a:path>
            </a:pathLst>
          </a:custGeom>
          <a:blipFill rotWithShape="1">
            <a:blip r:embed="rId11">
              <a:alphaModFix/>
            </a:blip>
            <a:stretch>
              <a:fillRect b="0" l="0" r="0" t="0"/>
            </a:stretch>
          </a:blipFill>
          <a:ln>
            <a:noFill/>
          </a:ln>
        </p:spPr>
      </p:sp>
      <p:sp>
        <p:nvSpPr>
          <p:cNvPr id="406" name="Google Shape;406;p38"/>
          <p:cNvSpPr txBox="1"/>
          <p:nvPr/>
        </p:nvSpPr>
        <p:spPr>
          <a:xfrm>
            <a:off x="6493413" y="1508188"/>
            <a:ext cx="5298000" cy="1185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7700" u="none" cap="none" strike="noStrike">
                <a:solidFill>
                  <a:srgbClr val="3B365F"/>
                </a:solidFill>
                <a:latin typeface="Arial"/>
                <a:ea typeface="Arial"/>
                <a:cs typeface="Arial"/>
                <a:sym typeface="Arial"/>
              </a:rPr>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